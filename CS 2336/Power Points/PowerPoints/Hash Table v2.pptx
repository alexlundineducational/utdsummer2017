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notesSlides/notesSlide12.xml" ContentType="application/vnd.openxmlformats-officedocument.presentationml.notesSlide+xml"/>
  <Override PartName="/ppt/tags/tag22.xml" ContentType="application/vnd.openxmlformats-officedocument.presentationml.tags+xml"/>
  <Override PartName="/ppt/notesSlides/notesSlide13.xml" ContentType="application/vnd.openxmlformats-officedocument.presentationml.notesSlide+xml"/>
  <Override PartName="/ppt/tags/tag2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6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27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8.xml" ContentType="application/vnd.openxmlformats-officedocument.presentationml.tags+xml"/>
  <Override PartName="/ppt/notesSlides/notesSlide26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8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29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0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33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34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35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36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37.xml" ContentType="application/vnd.openxmlformats-officedocument.presentationml.notesSlide+xml"/>
  <Override PartName="/ppt/tags/tag154.xml" ContentType="application/vnd.openxmlformats-officedocument.presentationml.tags+xml"/>
  <Override PartName="/ppt/notesSlides/notesSlide38.xml" ContentType="application/vnd.openxmlformats-officedocument.presentationml.notesSlide+xml"/>
  <Override PartName="/ppt/tags/tag155.xml" ContentType="application/vnd.openxmlformats-officedocument.presentationml.tags+xml"/>
  <Override PartName="/ppt/notesSlides/notesSlide39.xml" ContentType="application/vnd.openxmlformats-officedocument.presentationml.notesSlide+xml"/>
  <Override PartName="/ppt/tags/tag156.xml" ContentType="application/vnd.openxmlformats-officedocument.presentationml.tags+xml"/>
  <Override PartName="/ppt/notesSlides/notesSlide40.xml" ContentType="application/vnd.openxmlformats-officedocument.presentationml.notesSlide+xml"/>
  <Override PartName="/ppt/tags/tag157.xml" ContentType="application/vnd.openxmlformats-officedocument.presentationml.tags+xml"/>
  <Override PartName="/ppt/notesSlides/notesSlide41.xml" ContentType="application/vnd.openxmlformats-officedocument.presentationml.notesSlide+xml"/>
  <Override PartName="/ppt/tags/tag158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notesSlides/notesSlide45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8.xml" ContentType="application/vnd.openxmlformats-officedocument.presentationml.notesSlide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49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notesSlides/notesSlide50.xml" ContentType="application/vnd.openxmlformats-officedocument.presentationml.notesSlid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51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52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notesSlides/notesSlide53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54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notesSlides/notesSlide55.xml" ContentType="application/vnd.openxmlformats-officedocument.presentationml.notesSlid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56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57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58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59.xml" ContentType="application/vnd.openxmlformats-officedocument.presentationml.notesSlide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60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01"/>
  </p:notesMasterIdLst>
  <p:handoutMasterIdLst>
    <p:handoutMasterId r:id="rId102"/>
  </p:handoutMasterIdLst>
  <p:sldIdLst>
    <p:sldId id="395" r:id="rId2"/>
    <p:sldId id="396" r:id="rId3"/>
    <p:sldId id="397" r:id="rId4"/>
    <p:sldId id="398" r:id="rId5"/>
    <p:sldId id="399" r:id="rId6"/>
    <p:sldId id="400" r:id="rId7"/>
    <p:sldId id="401" r:id="rId8"/>
    <p:sldId id="402" r:id="rId9"/>
    <p:sldId id="403" r:id="rId10"/>
    <p:sldId id="404" r:id="rId11"/>
    <p:sldId id="405" r:id="rId12"/>
    <p:sldId id="406" r:id="rId13"/>
    <p:sldId id="407" r:id="rId14"/>
    <p:sldId id="408" r:id="rId15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16" r:id="rId23"/>
    <p:sldId id="417" r:id="rId24"/>
    <p:sldId id="418" r:id="rId25"/>
    <p:sldId id="419" r:id="rId26"/>
    <p:sldId id="420" r:id="rId27"/>
    <p:sldId id="335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79" r:id="rId38"/>
    <p:sldId id="380" r:id="rId39"/>
    <p:sldId id="345" r:id="rId40"/>
    <p:sldId id="346" r:id="rId41"/>
    <p:sldId id="347" r:id="rId42"/>
    <p:sldId id="348" r:id="rId43"/>
    <p:sldId id="349" r:id="rId44"/>
    <p:sldId id="350" r:id="rId45"/>
    <p:sldId id="351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360" r:id="rId54"/>
    <p:sldId id="361" r:id="rId55"/>
    <p:sldId id="362" r:id="rId56"/>
    <p:sldId id="363" r:id="rId57"/>
    <p:sldId id="364" r:id="rId58"/>
    <p:sldId id="365" r:id="rId59"/>
    <p:sldId id="366" r:id="rId60"/>
    <p:sldId id="367" r:id="rId61"/>
    <p:sldId id="368" r:id="rId62"/>
    <p:sldId id="369" r:id="rId63"/>
    <p:sldId id="370" r:id="rId64"/>
    <p:sldId id="371" r:id="rId65"/>
    <p:sldId id="372" r:id="rId66"/>
    <p:sldId id="373" r:id="rId67"/>
    <p:sldId id="374" r:id="rId68"/>
    <p:sldId id="375" r:id="rId69"/>
    <p:sldId id="376" r:id="rId70"/>
    <p:sldId id="378" r:id="rId71"/>
    <p:sldId id="421" r:id="rId72"/>
    <p:sldId id="422" r:id="rId73"/>
    <p:sldId id="424" r:id="rId74"/>
    <p:sldId id="425" r:id="rId75"/>
    <p:sldId id="432" r:id="rId76"/>
    <p:sldId id="433" r:id="rId77"/>
    <p:sldId id="434" r:id="rId78"/>
    <p:sldId id="435" r:id="rId79"/>
    <p:sldId id="436" r:id="rId80"/>
    <p:sldId id="437" r:id="rId81"/>
    <p:sldId id="426" r:id="rId82"/>
    <p:sldId id="427" r:id="rId83"/>
    <p:sldId id="428" r:id="rId84"/>
    <p:sldId id="429" r:id="rId85"/>
    <p:sldId id="430" r:id="rId86"/>
    <p:sldId id="431" r:id="rId87"/>
    <p:sldId id="438" r:id="rId88"/>
    <p:sldId id="439" r:id="rId89"/>
    <p:sldId id="440" r:id="rId90"/>
    <p:sldId id="441" r:id="rId91"/>
    <p:sldId id="442" r:id="rId92"/>
    <p:sldId id="443" r:id="rId93"/>
    <p:sldId id="444" r:id="rId94"/>
    <p:sldId id="445" r:id="rId95"/>
    <p:sldId id="446" r:id="rId96"/>
    <p:sldId id="447" r:id="rId97"/>
    <p:sldId id="448" r:id="rId98"/>
    <p:sldId id="449" r:id="rId99"/>
    <p:sldId id="450" r:id="rId100"/>
  </p:sldIdLst>
  <p:sldSz cx="9144000" cy="6858000" type="screen4x3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B93D"/>
    <a:srgbClr val="950097"/>
    <a:srgbClr val="119F33"/>
    <a:srgbClr val="FFFF99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5" autoAdjust="0"/>
    <p:restoredTop sz="94660"/>
  </p:normalViewPr>
  <p:slideViewPr>
    <p:cSldViewPr>
      <p:cViewPr varScale="1">
        <p:scale>
          <a:sx n="120" d="100"/>
          <a:sy n="120" d="100"/>
        </p:scale>
        <p:origin x="129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11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wb:Documents:CSE373:14wi:lectures:lecture13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wb:Documents:CSE373:14wi:lectures:lecture13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wb:Documents:CSE373:14wi:lectures:lecture13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wb:Documents:CSE373:14wi:lectures:lecture13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wb:Documents:CSE373:14wi:lectures:lecture13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wb:Documents:CSE373:14wi:lectures:lecture1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/>
              <a:t>Linear Probing</a:t>
            </a:r>
          </a:p>
        </c:rich>
      </c:tx>
      <c:layout>
        <c:manualLayout>
          <c:xMode val="edge"/>
          <c:yMode val="edge"/>
          <c:x val="0.32518744531933502"/>
          <c:y val="2.3148148148148098E-2"/>
        </c:manualLayout>
      </c:layout>
      <c:overlay val="0"/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'open addressing hash tables'!$D$2</c:f>
              <c:strCache>
                <c:ptCount val="1"/>
                <c:pt idx="0">
                  <c:v>linear probing found</c:v>
                </c:pt>
              </c:strCache>
            </c:strRef>
          </c:tx>
          <c:spPr>
            <a:ln>
              <a:solidFill>
                <a:srgbClr val="76B93D"/>
              </a:solidFill>
            </a:ln>
          </c:spPr>
          <c:marker>
            <c:symbol val="none"/>
          </c:marker>
          <c:cat>
            <c:numRef>
              <c:f>'open addressing hash tables'!$A$3:$A$101</c:f>
              <c:numCache>
                <c:formatCode>0.00</c:formatCode>
                <c:ptCount val="99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0.90000000000000102</c:v>
                </c:pt>
                <c:pt idx="90">
                  <c:v>0.91000000000000103</c:v>
                </c:pt>
                <c:pt idx="91">
                  <c:v>0.92000000000000104</c:v>
                </c:pt>
                <c:pt idx="92">
                  <c:v>0.93000000000000105</c:v>
                </c:pt>
                <c:pt idx="93">
                  <c:v>0.94000000000000095</c:v>
                </c:pt>
                <c:pt idx="94">
                  <c:v>0.95000000000000095</c:v>
                </c:pt>
                <c:pt idx="95">
                  <c:v>0.96000000000000096</c:v>
                </c:pt>
                <c:pt idx="96">
                  <c:v>0.97000000000000097</c:v>
                </c:pt>
                <c:pt idx="97">
                  <c:v>0.98000000000000098</c:v>
                </c:pt>
                <c:pt idx="98">
                  <c:v>0.99000000000000099</c:v>
                </c:pt>
              </c:numCache>
            </c:numRef>
          </c:cat>
          <c:val>
            <c:numRef>
              <c:f>'open addressing hash tables'!$D$3:$D$101</c:f>
              <c:numCache>
                <c:formatCode>0.00</c:formatCode>
                <c:ptCount val="99"/>
                <c:pt idx="0">
                  <c:v>1.005050505050505</c:v>
                </c:pt>
                <c:pt idx="1">
                  <c:v>1.010204081632653</c:v>
                </c:pt>
                <c:pt idx="2">
                  <c:v>1.0154639175257729</c:v>
                </c:pt>
                <c:pt idx="3">
                  <c:v>1.020833333333333</c:v>
                </c:pt>
                <c:pt idx="4">
                  <c:v>1.0263157894736841</c:v>
                </c:pt>
                <c:pt idx="5">
                  <c:v>1.031914893617021</c:v>
                </c:pt>
                <c:pt idx="6">
                  <c:v>1.0376344086021501</c:v>
                </c:pt>
                <c:pt idx="7">
                  <c:v>1.043478260869565</c:v>
                </c:pt>
                <c:pt idx="8">
                  <c:v>1.0494505494505499</c:v>
                </c:pt>
                <c:pt idx="9">
                  <c:v>1.055555555555556</c:v>
                </c:pt>
                <c:pt idx="10">
                  <c:v>1.061797752808989</c:v>
                </c:pt>
                <c:pt idx="11">
                  <c:v>1.0681818181818179</c:v>
                </c:pt>
                <c:pt idx="12">
                  <c:v>1.0747126436781611</c:v>
                </c:pt>
                <c:pt idx="13">
                  <c:v>1.081395348837209</c:v>
                </c:pt>
                <c:pt idx="14">
                  <c:v>1.088235294117647</c:v>
                </c:pt>
                <c:pt idx="15">
                  <c:v>1.0952380952380949</c:v>
                </c:pt>
                <c:pt idx="16">
                  <c:v>1.102409638554217</c:v>
                </c:pt>
                <c:pt idx="17">
                  <c:v>1.1097560975609759</c:v>
                </c:pt>
                <c:pt idx="18">
                  <c:v>1.117283950617284</c:v>
                </c:pt>
                <c:pt idx="19">
                  <c:v>1.125</c:v>
                </c:pt>
                <c:pt idx="20">
                  <c:v>1.1329113924050629</c:v>
                </c:pt>
                <c:pt idx="21">
                  <c:v>1.141025641025641</c:v>
                </c:pt>
                <c:pt idx="22">
                  <c:v>1.1493506493506489</c:v>
                </c:pt>
                <c:pt idx="23">
                  <c:v>1.1578947368421051</c:v>
                </c:pt>
                <c:pt idx="24">
                  <c:v>1.1666666666666661</c:v>
                </c:pt>
                <c:pt idx="25">
                  <c:v>1.1756756756756761</c:v>
                </c:pt>
                <c:pt idx="26">
                  <c:v>1.1849315068493149</c:v>
                </c:pt>
                <c:pt idx="27">
                  <c:v>1.194444444444444</c:v>
                </c:pt>
                <c:pt idx="28">
                  <c:v>1.204225352112676</c:v>
                </c:pt>
                <c:pt idx="29">
                  <c:v>1.214285714285714</c:v>
                </c:pt>
                <c:pt idx="30">
                  <c:v>1.22463768115942</c:v>
                </c:pt>
                <c:pt idx="31">
                  <c:v>1.2352941176470591</c:v>
                </c:pt>
                <c:pt idx="32">
                  <c:v>1.2462686567164181</c:v>
                </c:pt>
                <c:pt idx="33">
                  <c:v>1.257575757575758</c:v>
                </c:pt>
                <c:pt idx="34">
                  <c:v>1.2692307692307689</c:v>
                </c:pt>
                <c:pt idx="35">
                  <c:v>1.28125</c:v>
                </c:pt>
                <c:pt idx="36">
                  <c:v>1.2936507936507939</c:v>
                </c:pt>
                <c:pt idx="37">
                  <c:v>1.306451612903226</c:v>
                </c:pt>
                <c:pt idx="38">
                  <c:v>1.319672131147541</c:v>
                </c:pt>
                <c:pt idx="39">
                  <c:v>1.333333333333333</c:v>
                </c:pt>
                <c:pt idx="40">
                  <c:v>1.347457627118644</c:v>
                </c:pt>
                <c:pt idx="41">
                  <c:v>1.3620689655172411</c:v>
                </c:pt>
                <c:pt idx="42">
                  <c:v>1.3771929824561411</c:v>
                </c:pt>
                <c:pt idx="43">
                  <c:v>1.392857142857143</c:v>
                </c:pt>
                <c:pt idx="44">
                  <c:v>1.4090909090909089</c:v>
                </c:pt>
                <c:pt idx="45">
                  <c:v>1.425925925925926</c:v>
                </c:pt>
                <c:pt idx="46">
                  <c:v>1.443396226415095</c:v>
                </c:pt>
                <c:pt idx="47">
                  <c:v>1.4615384615384619</c:v>
                </c:pt>
                <c:pt idx="48">
                  <c:v>1.4803921568627461</c:v>
                </c:pt>
                <c:pt idx="49">
                  <c:v>1.5</c:v>
                </c:pt>
                <c:pt idx="50">
                  <c:v>1.520408163265307</c:v>
                </c:pt>
                <c:pt idx="51">
                  <c:v>1.541666666666667</c:v>
                </c:pt>
                <c:pt idx="52">
                  <c:v>1.563829787234043</c:v>
                </c:pt>
                <c:pt idx="53">
                  <c:v>1.586956521739131</c:v>
                </c:pt>
                <c:pt idx="54">
                  <c:v>1.611111111111112</c:v>
                </c:pt>
                <c:pt idx="55">
                  <c:v>1.6363636363636369</c:v>
                </c:pt>
                <c:pt idx="56">
                  <c:v>1.6627906976744189</c:v>
                </c:pt>
                <c:pt idx="57">
                  <c:v>1.6904761904761909</c:v>
                </c:pt>
                <c:pt idx="58">
                  <c:v>1.7195121951219521</c:v>
                </c:pt>
                <c:pt idx="59">
                  <c:v>1.7500000000000011</c:v>
                </c:pt>
                <c:pt idx="60">
                  <c:v>1.782051282051283</c:v>
                </c:pt>
                <c:pt idx="61">
                  <c:v>1.815789473684212</c:v>
                </c:pt>
                <c:pt idx="62">
                  <c:v>1.8513513513513531</c:v>
                </c:pt>
                <c:pt idx="63">
                  <c:v>1.8888888888888899</c:v>
                </c:pt>
                <c:pt idx="64">
                  <c:v>1.9285714285714299</c:v>
                </c:pt>
                <c:pt idx="65">
                  <c:v>1.9705882352941191</c:v>
                </c:pt>
                <c:pt idx="66">
                  <c:v>2.0151515151515169</c:v>
                </c:pt>
                <c:pt idx="67">
                  <c:v>2.0625000000000022</c:v>
                </c:pt>
                <c:pt idx="68">
                  <c:v>2.1129032258064542</c:v>
                </c:pt>
                <c:pt idx="69">
                  <c:v>2.1666666666666692</c:v>
                </c:pt>
                <c:pt idx="70">
                  <c:v>2.2241379310344849</c:v>
                </c:pt>
                <c:pt idx="71">
                  <c:v>2.2857142857142878</c:v>
                </c:pt>
                <c:pt idx="72">
                  <c:v>2.3518518518518552</c:v>
                </c:pt>
                <c:pt idx="73">
                  <c:v>2.423076923076926</c:v>
                </c:pt>
                <c:pt idx="74">
                  <c:v>2.500000000000004</c:v>
                </c:pt>
                <c:pt idx="75">
                  <c:v>2.583333333333337</c:v>
                </c:pt>
                <c:pt idx="76">
                  <c:v>2.6739130434782652</c:v>
                </c:pt>
                <c:pt idx="77">
                  <c:v>2.7727272727272769</c:v>
                </c:pt>
                <c:pt idx="78">
                  <c:v>2.8809523809523858</c:v>
                </c:pt>
                <c:pt idx="79">
                  <c:v>3.0000000000000062</c:v>
                </c:pt>
                <c:pt idx="80">
                  <c:v>3.1315789473684279</c:v>
                </c:pt>
                <c:pt idx="81">
                  <c:v>3.2777777777777848</c:v>
                </c:pt>
                <c:pt idx="82">
                  <c:v>3.4411764705882439</c:v>
                </c:pt>
                <c:pt idx="83">
                  <c:v>3.6250000000000102</c:v>
                </c:pt>
                <c:pt idx="84">
                  <c:v>3.833333333333345</c:v>
                </c:pt>
                <c:pt idx="85">
                  <c:v>4.0714285714285854</c:v>
                </c:pt>
                <c:pt idx="86">
                  <c:v>4.3461538461538627</c:v>
                </c:pt>
                <c:pt idx="87">
                  <c:v>4.6666666666666856</c:v>
                </c:pt>
                <c:pt idx="88">
                  <c:v>5.045454545454569</c:v>
                </c:pt>
                <c:pt idx="89">
                  <c:v>5.5000000000000302</c:v>
                </c:pt>
                <c:pt idx="90">
                  <c:v>6.0555555555555918</c:v>
                </c:pt>
                <c:pt idx="91">
                  <c:v>6.7500000000000462</c:v>
                </c:pt>
                <c:pt idx="92">
                  <c:v>7.6428571428572036</c:v>
                </c:pt>
                <c:pt idx="93">
                  <c:v>8.8333333333334192</c:v>
                </c:pt>
                <c:pt idx="94">
                  <c:v>10.500000000000121</c:v>
                </c:pt>
                <c:pt idx="95">
                  <c:v>13.000000000000201</c:v>
                </c:pt>
                <c:pt idx="96">
                  <c:v>17.16666666666702</c:v>
                </c:pt>
                <c:pt idx="97">
                  <c:v>25.50000000000081</c:v>
                </c:pt>
                <c:pt idx="98">
                  <c:v>50.50000000000329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6E-4EA5-B19B-D161F7E2D638}"/>
            </c:ext>
          </c:extLst>
        </c:ser>
        <c:ser>
          <c:idx val="1"/>
          <c:order val="1"/>
          <c:tx>
            <c:strRef>
              <c:f>'open addressing hash tables'!$E$2</c:f>
              <c:strCache>
                <c:ptCount val="1"/>
                <c:pt idx="0">
                  <c:v>linear probing not found</c:v>
                </c:pt>
              </c:strCache>
            </c:strRef>
          </c:tx>
          <c:spPr>
            <a:ln>
              <a:solidFill>
                <a:srgbClr val="950097"/>
              </a:solidFill>
            </a:ln>
          </c:spPr>
          <c:marker>
            <c:symbol val="none"/>
          </c:marker>
          <c:val>
            <c:numRef>
              <c:f>'open addressing hash tables'!$E$3:$E$98</c:f>
              <c:numCache>
                <c:formatCode>0.00</c:formatCode>
                <c:ptCount val="96"/>
                <c:pt idx="0">
                  <c:v>1.0101520253035401</c:v>
                </c:pt>
                <c:pt idx="1">
                  <c:v>1.0206164098292381</c:v>
                </c:pt>
                <c:pt idx="2">
                  <c:v>1.0314061005420341</c:v>
                </c:pt>
                <c:pt idx="3">
                  <c:v>1.0425347222222221</c:v>
                </c:pt>
                <c:pt idx="4">
                  <c:v>1.054016620498615</c:v>
                </c:pt>
                <c:pt idx="5">
                  <c:v>1.0658669081032139</c:v>
                </c:pt>
                <c:pt idx="6">
                  <c:v>1.078101514625968</c:v>
                </c:pt>
                <c:pt idx="7">
                  <c:v>1.0907372400756139</c:v>
                </c:pt>
                <c:pt idx="8">
                  <c:v>1.1037918125830211</c:v>
                </c:pt>
                <c:pt idx="9">
                  <c:v>1.117283950617284</c:v>
                </c:pt>
                <c:pt idx="10">
                  <c:v>1.1312334301224589</c:v>
                </c:pt>
                <c:pt idx="11">
                  <c:v>1.145661157024793</c:v>
                </c:pt>
                <c:pt idx="12">
                  <c:v>1.1605892456070821</c:v>
                </c:pt>
                <c:pt idx="13">
                  <c:v>1.176041103299081</c:v>
                </c:pt>
                <c:pt idx="14">
                  <c:v>1.1920415224913501</c:v>
                </c:pt>
                <c:pt idx="15">
                  <c:v>1.208616780045352</c:v>
                </c:pt>
                <c:pt idx="16">
                  <c:v>1.225794745246044</c:v>
                </c:pt>
                <c:pt idx="17">
                  <c:v>1.24360499702558</c:v>
                </c:pt>
                <c:pt idx="18">
                  <c:v>1.2620789513793631</c:v>
                </c:pt>
                <c:pt idx="19">
                  <c:v>1.28125</c:v>
                </c:pt>
                <c:pt idx="20">
                  <c:v>1.3011536612722321</c:v>
                </c:pt>
                <c:pt idx="21">
                  <c:v>1.321827744904668</c:v>
                </c:pt>
                <c:pt idx="22">
                  <c:v>1.34331253162422</c:v>
                </c:pt>
                <c:pt idx="23">
                  <c:v>1.3656509695290859</c:v>
                </c:pt>
                <c:pt idx="24">
                  <c:v>1.3888888888888891</c:v>
                </c:pt>
                <c:pt idx="25">
                  <c:v>1.4130752373995621</c:v>
                </c:pt>
                <c:pt idx="26">
                  <c:v>1.438262338149747</c:v>
                </c:pt>
                <c:pt idx="27">
                  <c:v>1.4645061728395059</c:v>
                </c:pt>
                <c:pt idx="28">
                  <c:v>1.491866693116445</c:v>
                </c:pt>
                <c:pt idx="29">
                  <c:v>1.5204081632653059</c:v>
                </c:pt>
                <c:pt idx="30">
                  <c:v>1.550199537912204</c:v>
                </c:pt>
                <c:pt idx="31">
                  <c:v>1.581314878892734</c:v>
                </c:pt>
                <c:pt idx="32">
                  <c:v>1.6138338159946539</c:v>
                </c:pt>
                <c:pt idx="33">
                  <c:v>1.6478420569329659</c:v>
                </c:pt>
                <c:pt idx="34">
                  <c:v>1.6834319526627219</c:v>
                </c:pt>
                <c:pt idx="35">
                  <c:v>1.720703125</c:v>
                </c:pt>
                <c:pt idx="36">
                  <c:v>1.75976316452507</c:v>
                </c:pt>
                <c:pt idx="37">
                  <c:v>1.8007284079084289</c:v>
                </c:pt>
                <c:pt idx="38">
                  <c:v>1.843724805159904</c:v>
                </c:pt>
                <c:pt idx="39">
                  <c:v>1.8888888888888891</c:v>
                </c:pt>
                <c:pt idx="40">
                  <c:v>1.9363688595231261</c:v>
                </c:pt>
                <c:pt idx="41">
                  <c:v>1.9863258026159341</c:v>
                </c:pt>
                <c:pt idx="42">
                  <c:v>2.038935056940598</c:v>
                </c:pt>
                <c:pt idx="43">
                  <c:v>2.0943877551020411</c:v>
                </c:pt>
                <c:pt idx="44">
                  <c:v>2.1528925619834718</c:v>
                </c:pt>
                <c:pt idx="45">
                  <c:v>2.214677640603568</c:v>
                </c:pt>
                <c:pt idx="46">
                  <c:v>2.2799928800284812</c:v>
                </c:pt>
                <c:pt idx="47">
                  <c:v>2.3491124260355041</c:v>
                </c:pt>
                <c:pt idx="48">
                  <c:v>2.4223375624759722</c:v>
                </c:pt>
                <c:pt idx="49">
                  <c:v>2.5000000000000022</c:v>
                </c:pt>
                <c:pt idx="50">
                  <c:v>2.5824656393169532</c:v>
                </c:pt>
                <c:pt idx="51">
                  <c:v>2.6701388888888911</c:v>
                </c:pt>
                <c:pt idx="52">
                  <c:v>2.7634676324128589</c:v>
                </c:pt>
                <c:pt idx="53">
                  <c:v>2.86294896030246</c:v>
                </c:pt>
                <c:pt idx="54">
                  <c:v>2.9691358024691392</c:v>
                </c:pt>
                <c:pt idx="55">
                  <c:v>3.0826446280991768</c:v>
                </c:pt>
                <c:pt idx="56">
                  <c:v>3.2041644131963261</c:v>
                </c:pt>
                <c:pt idx="57">
                  <c:v>3.3344671201814098</c:v>
                </c:pt>
                <c:pt idx="58">
                  <c:v>3.474419988102325</c:v>
                </c:pt>
                <c:pt idx="59">
                  <c:v>3.6250000000000049</c:v>
                </c:pt>
                <c:pt idx="60">
                  <c:v>3.787310979618677</c:v>
                </c:pt>
                <c:pt idx="61">
                  <c:v>3.9626038781163491</c:v>
                </c:pt>
                <c:pt idx="62">
                  <c:v>4.1523009495982537</c:v>
                </c:pt>
                <c:pt idx="63">
                  <c:v>4.3580246913580316</c:v>
                </c:pt>
                <c:pt idx="64">
                  <c:v>4.5816326530612317</c:v>
                </c:pt>
                <c:pt idx="65">
                  <c:v>4.8252595155709432</c:v>
                </c:pt>
                <c:pt idx="66">
                  <c:v>5.0913682277318744</c:v>
                </c:pt>
                <c:pt idx="67">
                  <c:v>5.3828125000000107</c:v>
                </c:pt>
                <c:pt idx="68">
                  <c:v>5.7029136316337281</c:v>
                </c:pt>
                <c:pt idx="69">
                  <c:v>6.0555555555555696</c:v>
                </c:pt>
                <c:pt idx="70">
                  <c:v>6.4453032104637504</c:v>
                </c:pt>
                <c:pt idx="71">
                  <c:v>6.8775510204081822</c:v>
                </c:pt>
                <c:pt idx="72">
                  <c:v>7.3587105624142879</c:v>
                </c:pt>
                <c:pt idx="73">
                  <c:v>7.8964497041420358</c:v>
                </c:pt>
                <c:pt idx="74">
                  <c:v>8.5000000000000284</c:v>
                </c:pt>
                <c:pt idx="75">
                  <c:v>9.1805555555555873</c:v>
                </c:pt>
                <c:pt idx="76">
                  <c:v>9.9517958412098686</c:v>
                </c:pt>
                <c:pt idx="77">
                  <c:v>10.830578512396739</c:v>
                </c:pt>
                <c:pt idx="78">
                  <c:v>11.837868480725669</c:v>
                </c:pt>
                <c:pt idx="79">
                  <c:v>13.00000000000006</c:v>
                </c:pt>
                <c:pt idx="80">
                  <c:v>14.35041551246545</c:v>
                </c:pt>
                <c:pt idx="81">
                  <c:v>15.93209876543219</c:v>
                </c:pt>
                <c:pt idx="82">
                  <c:v>17.80103806228384</c:v>
                </c:pt>
                <c:pt idx="83">
                  <c:v>20.031250000000131</c:v>
                </c:pt>
                <c:pt idx="84">
                  <c:v>22.722222222222381</c:v>
                </c:pt>
                <c:pt idx="85">
                  <c:v>26.01020408163285</c:v>
                </c:pt>
                <c:pt idx="86">
                  <c:v>30.0857988165683</c:v>
                </c:pt>
                <c:pt idx="87">
                  <c:v>35.222222222222541</c:v>
                </c:pt>
                <c:pt idx="88">
                  <c:v>41.822314049587199</c:v>
                </c:pt>
                <c:pt idx="89">
                  <c:v>50.500000000000583</c:v>
                </c:pt>
                <c:pt idx="90">
                  <c:v>62.228395061729202</c:v>
                </c:pt>
                <c:pt idx="91">
                  <c:v>78.625000000001165</c:v>
                </c:pt>
                <c:pt idx="92">
                  <c:v>102.54081632653239</c:v>
                </c:pt>
                <c:pt idx="93">
                  <c:v>139.3888888888917</c:v>
                </c:pt>
                <c:pt idx="94">
                  <c:v>200.50000000000489</c:v>
                </c:pt>
                <c:pt idx="95">
                  <c:v>313.00000000000978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6E-4EA5-B19B-D161F7E2D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227392"/>
        <c:axId val="109797376"/>
      </c:lineChart>
      <c:catAx>
        <c:axId val="312273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Load Factor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crossAx val="109797376"/>
        <c:crosses val="autoZero"/>
        <c:auto val="1"/>
        <c:lblAlgn val="ctr"/>
        <c:lblOffset val="100"/>
        <c:noMultiLvlLbl val="0"/>
      </c:catAx>
      <c:valAx>
        <c:axId val="1097973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400"/>
                  <a:t>Average # of Probes</a:t>
                </a:r>
              </a:p>
            </c:rich>
          </c:tx>
          <c:layout>
            <c:manualLayout>
              <c:xMode val="edge"/>
              <c:yMode val="edge"/>
              <c:x val="3.05555555555556E-2"/>
              <c:y val="0.16671697287838999"/>
            </c:manualLayout>
          </c:layout>
          <c:overlay val="0"/>
        </c:title>
        <c:numFmt formatCode="0.00" sourceLinked="1"/>
        <c:majorTickMark val="none"/>
        <c:minorTickMark val="none"/>
        <c:tickLblPos val="nextTo"/>
        <c:crossAx val="312273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6880555555555599"/>
          <c:y val="0.42073673082531299"/>
          <c:w val="0.25897222222222199"/>
          <c:h val="0.27931321084864402"/>
        </c:manualLayout>
      </c:layout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/>
              <a:t>Linear Probing</a:t>
            </a:r>
          </a:p>
        </c:rich>
      </c:tx>
      <c:layout>
        <c:manualLayout>
          <c:xMode val="edge"/>
          <c:yMode val="edge"/>
          <c:x val="0.32518744531933502"/>
          <c:y val="2.3148148148148098E-2"/>
        </c:manualLayout>
      </c:layout>
      <c:overlay val="0"/>
    </c:title>
    <c:autoTitleDeleted val="0"/>
    <c:plotArea>
      <c:layout/>
      <c:lineChart>
        <c:grouping val="stacked"/>
        <c:varyColors val="0"/>
        <c:ser>
          <c:idx val="2"/>
          <c:order val="0"/>
          <c:tx>
            <c:strRef>
              <c:f>'open addressing hash tables'!$D$2</c:f>
              <c:strCache>
                <c:ptCount val="1"/>
                <c:pt idx="0">
                  <c:v>linear probing found</c:v>
                </c:pt>
              </c:strCache>
            </c:strRef>
          </c:tx>
          <c:spPr>
            <a:ln>
              <a:solidFill>
                <a:srgbClr val="3366FF"/>
              </a:solidFill>
            </a:ln>
          </c:spPr>
          <c:marker>
            <c:symbol val="none"/>
          </c:marker>
          <c:cat>
            <c:numRef>
              <c:f>'open addressing hash tables'!$A$3:$A$101</c:f>
              <c:numCache>
                <c:formatCode>0.00</c:formatCode>
                <c:ptCount val="99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0.90000000000000102</c:v>
                </c:pt>
                <c:pt idx="90">
                  <c:v>0.91000000000000103</c:v>
                </c:pt>
                <c:pt idx="91">
                  <c:v>0.92000000000000104</c:v>
                </c:pt>
                <c:pt idx="92">
                  <c:v>0.93000000000000105</c:v>
                </c:pt>
                <c:pt idx="93">
                  <c:v>0.94000000000000095</c:v>
                </c:pt>
                <c:pt idx="94">
                  <c:v>0.95000000000000095</c:v>
                </c:pt>
                <c:pt idx="95">
                  <c:v>0.96000000000000096</c:v>
                </c:pt>
                <c:pt idx="96">
                  <c:v>0.97000000000000097</c:v>
                </c:pt>
                <c:pt idx="97">
                  <c:v>0.98000000000000098</c:v>
                </c:pt>
                <c:pt idx="98">
                  <c:v>0.99000000000000099</c:v>
                </c:pt>
              </c:numCache>
            </c:numRef>
          </c:cat>
          <c:val>
            <c:numRef>
              <c:f>'open addressing hash tables'!$D$3:$D$85</c:f>
              <c:numCache>
                <c:formatCode>0.00</c:formatCode>
                <c:ptCount val="83"/>
                <c:pt idx="0">
                  <c:v>1.005050505050505</c:v>
                </c:pt>
                <c:pt idx="1">
                  <c:v>1.010204081632653</c:v>
                </c:pt>
                <c:pt idx="2">
                  <c:v>1.0154639175257729</c:v>
                </c:pt>
                <c:pt idx="3">
                  <c:v>1.020833333333333</c:v>
                </c:pt>
                <c:pt idx="4">
                  <c:v>1.0263157894736841</c:v>
                </c:pt>
                <c:pt idx="5">
                  <c:v>1.031914893617021</c:v>
                </c:pt>
                <c:pt idx="6">
                  <c:v>1.0376344086021501</c:v>
                </c:pt>
                <c:pt idx="7">
                  <c:v>1.043478260869565</c:v>
                </c:pt>
                <c:pt idx="8">
                  <c:v>1.0494505494505499</c:v>
                </c:pt>
                <c:pt idx="9">
                  <c:v>1.055555555555556</c:v>
                </c:pt>
                <c:pt idx="10">
                  <c:v>1.061797752808989</c:v>
                </c:pt>
                <c:pt idx="11">
                  <c:v>1.0681818181818179</c:v>
                </c:pt>
                <c:pt idx="12">
                  <c:v>1.0747126436781611</c:v>
                </c:pt>
                <c:pt idx="13">
                  <c:v>1.081395348837209</c:v>
                </c:pt>
                <c:pt idx="14">
                  <c:v>1.088235294117647</c:v>
                </c:pt>
                <c:pt idx="15">
                  <c:v>1.0952380952380949</c:v>
                </c:pt>
                <c:pt idx="16">
                  <c:v>1.102409638554217</c:v>
                </c:pt>
                <c:pt idx="17">
                  <c:v>1.1097560975609759</c:v>
                </c:pt>
                <c:pt idx="18">
                  <c:v>1.117283950617284</c:v>
                </c:pt>
                <c:pt idx="19">
                  <c:v>1.125</c:v>
                </c:pt>
                <c:pt idx="20">
                  <c:v>1.1329113924050629</c:v>
                </c:pt>
                <c:pt idx="21">
                  <c:v>1.141025641025641</c:v>
                </c:pt>
                <c:pt idx="22">
                  <c:v>1.1493506493506489</c:v>
                </c:pt>
                <c:pt idx="23">
                  <c:v>1.1578947368421051</c:v>
                </c:pt>
                <c:pt idx="24">
                  <c:v>1.1666666666666661</c:v>
                </c:pt>
                <c:pt idx="25">
                  <c:v>1.1756756756756761</c:v>
                </c:pt>
                <c:pt idx="26">
                  <c:v>1.1849315068493149</c:v>
                </c:pt>
                <c:pt idx="27">
                  <c:v>1.194444444444444</c:v>
                </c:pt>
                <c:pt idx="28">
                  <c:v>1.204225352112676</c:v>
                </c:pt>
                <c:pt idx="29">
                  <c:v>1.214285714285714</c:v>
                </c:pt>
                <c:pt idx="30">
                  <c:v>1.22463768115942</c:v>
                </c:pt>
                <c:pt idx="31">
                  <c:v>1.2352941176470591</c:v>
                </c:pt>
                <c:pt idx="32">
                  <c:v>1.2462686567164181</c:v>
                </c:pt>
                <c:pt idx="33">
                  <c:v>1.257575757575758</c:v>
                </c:pt>
                <c:pt idx="34">
                  <c:v>1.2692307692307689</c:v>
                </c:pt>
                <c:pt idx="35">
                  <c:v>1.28125</c:v>
                </c:pt>
                <c:pt idx="36">
                  <c:v>1.2936507936507939</c:v>
                </c:pt>
                <c:pt idx="37">
                  <c:v>1.306451612903226</c:v>
                </c:pt>
                <c:pt idx="38">
                  <c:v>1.319672131147541</c:v>
                </c:pt>
                <c:pt idx="39">
                  <c:v>1.333333333333333</c:v>
                </c:pt>
                <c:pt idx="40">
                  <c:v>1.347457627118644</c:v>
                </c:pt>
                <c:pt idx="41">
                  <c:v>1.3620689655172411</c:v>
                </c:pt>
                <c:pt idx="42">
                  <c:v>1.3771929824561411</c:v>
                </c:pt>
                <c:pt idx="43">
                  <c:v>1.392857142857143</c:v>
                </c:pt>
                <c:pt idx="44">
                  <c:v>1.4090909090909089</c:v>
                </c:pt>
                <c:pt idx="45">
                  <c:v>1.425925925925926</c:v>
                </c:pt>
                <c:pt idx="46">
                  <c:v>1.443396226415095</c:v>
                </c:pt>
                <c:pt idx="47">
                  <c:v>1.4615384615384619</c:v>
                </c:pt>
                <c:pt idx="48">
                  <c:v>1.4803921568627461</c:v>
                </c:pt>
                <c:pt idx="49">
                  <c:v>1.5</c:v>
                </c:pt>
                <c:pt idx="50">
                  <c:v>1.520408163265307</c:v>
                </c:pt>
                <c:pt idx="51">
                  <c:v>1.541666666666667</c:v>
                </c:pt>
                <c:pt idx="52">
                  <c:v>1.563829787234043</c:v>
                </c:pt>
                <c:pt idx="53">
                  <c:v>1.586956521739131</c:v>
                </c:pt>
                <c:pt idx="54">
                  <c:v>1.611111111111112</c:v>
                </c:pt>
                <c:pt idx="55">
                  <c:v>1.6363636363636369</c:v>
                </c:pt>
                <c:pt idx="56">
                  <c:v>1.6627906976744189</c:v>
                </c:pt>
                <c:pt idx="57">
                  <c:v>1.6904761904761909</c:v>
                </c:pt>
                <c:pt idx="58">
                  <c:v>1.7195121951219521</c:v>
                </c:pt>
                <c:pt idx="59">
                  <c:v>1.7500000000000011</c:v>
                </c:pt>
                <c:pt idx="60">
                  <c:v>1.782051282051283</c:v>
                </c:pt>
                <c:pt idx="61">
                  <c:v>1.815789473684212</c:v>
                </c:pt>
                <c:pt idx="62">
                  <c:v>1.8513513513513531</c:v>
                </c:pt>
                <c:pt idx="63">
                  <c:v>1.8888888888888899</c:v>
                </c:pt>
                <c:pt idx="64">
                  <c:v>1.9285714285714299</c:v>
                </c:pt>
                <c:pt idx="65">
                  <c:v>1.9705882352941191</c:v>
                </c:pt>
                <c:pt idx="66">
                  <c:v>2.0151515151515169</c:v>
                </c:pt>
                <c:pt idx="67">
                  <c:v>2.0625000000000022</c:v>
                </c:pt>
                <c:pt idx="68">
                  <c:v>2.1129032258064542</c:v>
                </c:pt>
                <c:pt idx="69">
                  <c:v>2.1666666666666692</c:v>
                </c:pt>
                <c:pt idx="70">
                  <c:v>2.2241379310344849</c:v>
                </c:pt>
                <c:pt idx="71">
                  <c:v>2.2857142857142878</c:v>
                </c:pt>
                <c:pt idx="72">
                  <c:v>2.3518518518518552</c:v>
                </c:pt>
                <c:pt idx="73">
                  <c:v>2.423076923076926</c:v>
                </c:pt>
                <c:pt idx="74">
                  <c:v>2.500000000000004</c:v>
                </c:pt>
                <c:pt idx="75">
                  <c:v>2.583333333333337</c:v>
                </c:pt>
                <c:pt idx="76">
                  <c:v>2.6739130434782652</c:v>
                </c:pt>
                <c:pt idx="77">
                  <c:v>2.7727272727272769</c:v>
                </c:pt>
                <c:pt idx="78">
                  <c:v>2.8809523809523858</c:v>
                </c:pt>
                <c:pt idx="79">
                  <c:v>3.0000000000000062</c:v>
                </c:pt>
                <c:pt idx="80">
                  <c:v>3.1315789473684279</c:v>
                </c:pt>
                <c:pt idx="81">
                  <c:v>3.2777777777777848</c:v>
                </c:pt>
                <c:pt idx="82">
                  <c:v>3.4411764705882439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E1-4A14-AC4F-7A18DE42A545}"/>
            </c:ext>
          </c:extLst>
        </c:ser>
        <c:ser>
          <c:idx val="3"/>
          <c:order val="1"/>
          <c:tx>
            <c:strRef>
              <c:f>'open addressing hash tables'!$E$2</c:f>
              <c:strCache>
                <c:ptCount val="1"/>
                <c:pt idx="0">
                  <c:v>linear probing not found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val>
            <c:numRef>
              <c:f>'open addressing hash tables'!$E$3:$E$80</c:f>
              <c:numCache>
                <c:formatCode>0.00</c:formatCode>
                <c:ptCount val="78"/>
                <c:pt idx="0">
                  <c:v>1.0101520253035401</c:v>
                </c:pt>
                <c:pt idx="1">
                  <c:v>1.0206164098292381</c:v>
                </c:pt>
                <c:pt idx="2">
                  <c:v>1.0314061005420341</c:v>
                </c:pt>
                <c:pt idx="3">
                  <c:v>1.0425347222222221</c:v>
                </c:pt>
                <c:pt idx="4">
                  <c:v>1.054016620498615</c:v>
                </c:pt>
                <c:pt idx="5">
                  <c:v>1.0658669081032139</c:v>
                </c:pt>
                <c:pt idx="6">
                  <c:v>1.078101514625968</c:v>
                </c:pt>
                <c:pt idx="7">
                  <c:v>1.0907372400756139</c:v>
                </c:pt>
                <c:pt idx="8">
                  <c:v>1.1037918125830211</c:v>
                </c:pt>
                <c:pt idx="9">
                  <c:v>1.117283950617284</c:v>
                </c:pt>
                <c:pt idx="10">
                  <c:v>1.1312334301224589</c:v>
                </c:pt>
                <c:pt idx="11">
                  <c:v>1.145661157024793</c:v>
                </c:pt>
                <c:pt idx="12">
                  <c:v>1.1605892456070821</c:v>
                </c:pt>
                <c:pt idx="13">
                  <c:v>1.176041103299081</c:v>
                </c:pt>
                <c:pt idx="14">
                  <c:v>1.1920415224913501</c:v>
                </c:pt>
                <c:pt idx="15">
                  <c:v>1.208616780045352</c:v>
                </c:pt>
                <c:pt idx="16">
                  <c:v>1.225794745246044</c:v>
                </c:pt>
                <c:pt idx="17">
                  <c:v>1.24360499702558</c:v>
                </c:pt>
                <c:pt idx="18">
                  <c:v>1.2620789513793631</c:v>
                </c:pt>
                <c:pt idx="19">
                  <c:v>1.28125</c:v>
                </c:pt>
                <c:pt idx="20">
                  <c:v>1.3011536612722321</c:v>
                </c:pt>
                <c:pt idx="21">
                  <c:v>1.321827744904668</c:v>
                </c:pt>
                <c:pt idx="22">
                  <c:v>1.34331253162422</c:v>
                </c:pt>
                <c:pt idx="23">
                  <c:v>1.3656509695290859</c:v>
                </c:pt>
                <c:pt idx="24">
                  <c:v>1.3888888888888891</c:v>
                </c:pt>
                <c:pt idx="25">
                  <c:v>1.4130752373995621</c:v>
                </c:pt>
                <c:pt idx="26">
                  <c:v>1.438262338149747</c:v>
                </c:pt>
                <c:pt idx="27">
                  <c:v>1.4645061728395059</c:v>
                </c:pt>
                <c:pt idx="28">
                  <c:v>1.491866693116445</c:v>
                </c:pt>
                <c:pt idx="29">
                  <c:v>1.5204081632653059</c:v>
                </c:pt>
                <c:pt idx="30">
                  <c:v>1.550199537912204</c:v>
                </c:pt>
                <c:pt idx="31">
                  <c:v>1.581314878892734</c:v>
                </c:pt>
                <c:pt idx="32">
                  <c:v>1.6138338159946539</c:v>
                </c:pt>
                <c:pt idx="33">
                  <c:v>1.6478420569329659</c:v>
                </c:pt>
                <c:pt idx="34">
                  <c:v>1.6834319526627219</c:v>
                </c:pt>
                <c:pt idx="35">
                  <c:v>1.720703125</c:v>
                </c:pt>
                <c:pt idx="36">
                  <c:v>1.75976316452507</c:v>
                </c:pt>
                <c:pt idx="37">
                  <c:v>1.8007284079084289</c:v>
                </c:pt>
                <c:pt idx="38">
                  <c:v>1.843724805159904</c:v>
                </c:pt>
                <c:pt idx="39">
                  <c:v>1.8888888888888891</c:v>
                </c:pt>
                <c:pt idx="40">
                  <c:v>1.9363688595231261</c:v>
                </c:pt>
                <c:pt idx="41">
                  <c:v>1.9863258026159341</c:v>
                </c:pt>
                <c:pt idx="42">
                  <c:v>2.038935056940598</c:v>
                </c:pt>
                <c:pt idx="43">
                  <c:v>2.0943877551020411</c:v>
                </c:pt>
                <c:pt idx="44">
                  <c:v>2.1528925619834718</c:v>
                </c:pt>
                <c:pt idx="45">
                  <c:v>2.214677640603568</c:v>
                </c:pt>
                <c:pt idx="46">
                  <c:v>2.2799928800284812</c:v>
                </c:pt>
                <c:pt idx="47">
                  <c:v>2.3491124260355041</c:v>
                </c:pt>
                <c:pt idx="48">
                  <c:v>2.4223375624759722</c:v>
                </c:pt>
                <c:pt idx="49">
                  <c:v>2.5000000000000022</c:v>
                </c:pt>
                <c:pt idx="50">
                  <c:v>2.5824656393169532</c:v>
                </c:pt>
                <c:pt idx="51">
                  <c:v>2.6701388888888911</c:v>
                </c:pt>
                <c:pt idx="52">
                  <c:v>2.7634676324128589</c:v>
                </c:pt>
                <c:pt idx="53">
                  <c:v>2.86294896030246</c:v>
                </c:pt>
                <c:pt idx="54">
                  <c:v>2.9691358024691392</c:v>
                </c:pt>
                <c:pt idx="55">
                  <c:v>3.0826446280991768</c:v>
                </c:pt>
                <c:pt idx="56">
                  <c:v>3.2041644131963261</c:v>
                </c:pt>
                <c:pt idx="57">
                  <c:v>3.3344671201814098</c:v>
                </c:pt>
                <c:pt idx="58">
                  <c:v>3.474419988102325</c:v>
                </c:pt>
                <c:pt idx="59">
                  <c:v>3.6250000000000049</c:v>
                </c:pt>
                <c:pt idx="60">
                  <c:v>3.787310979618677</c:v>
                </c:pt>
                <c:pt idx="61">
                  <c:v>3.9626038781163491</c:v>
                </c:pt>
                <c:pt idx="62">
                  <c:v>4.1523009495982537</c:v>
                </c:pt>
                <c:pt idx="63">
                  <c:v>4.3580246913580316</c:v>
                </c:pt>
                <c:pt idx="64">
                  <c:v>4.5816326530612317</c:v>
                </c:pt>
                <c:pt idx="65">
                  <c:v>4.8252595155709432</c:v>
                </c:pt>
                <c:pt idx="66">
                  <c:v>5.0913682277318744</c:v>
                </c:pt>
                <c:pt idx="67">
                  <c:v>5.3828125000000107</c:v>
                </c:pt>
                <c:pt idx="68">
                  <c:v>5.7029136316337281</c:v>
                </c:pt>
                <c:pt idx="69">
                  <c:v>6.0555555555555696</c:v>
                </c:pt>
                <c:pt idx="70">
                  <c:v>6.4453032104637504</c:v>
                </c:pt>
                <c:pt idx="71">
                  <c:v>6.8775510204081822</c:v>
                </c:pt>
                <c:pt idx="72">
                  <c:v>7.3587105624142879</c:v>
                </c:pt>
                <c:pt idx="73">
                  <c:v>7.8964497041420358</c:v>
                </c:pt>
                <c:pt idx="74">
                  <c:v>8.5000000000000284</c:v>
                </c:pt>
                <c:pt idx="75">
                  <c:v>9.1805555555555873</c:v>
                </c:pt>
                <c:pt idx="76">
                  <c:v>9.9517958412098686</c:v>
                </c:pt>
                <c:pt idx="77">
                  <c:v>10.830578512396739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E1-4A14-AC4F-7A18DE42A5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965184"/>
        <c:axId val="109798528"/>
      </c:lineChart>
      <c:catAx>
        <c:axId val="319651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Load Factor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crossAx val="109798528"/>
        <c:crosses val="autoZero"/>
        <c:auto val="1"/>
        <c:lblAlgn val="ctr"/>
        <c:lblOffset val="100"/>
        <c:noMultiLvlLbl val="0"/>
      </c:catAx>
      <c:valAx>
        <c:axId val="10979852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400"/>
                  <a:t>Average # of Probes</a:t>
                </a:r>
              </a:p>
            </c:rich>
          </c:tx>
          <c:layout>
            <c:manualLayout>
              <c:xMode val="edge"/>
              <c:yMode val="edge"/>
              <c:x val="3.05555555555556E-2"/>
              <c:y val="0.16671697287838999"/>
            </c:manualLayout>
          </c:layout>
          <c:overlay val="0"/>
        </c:title>
        <c:numFmt formatCode="0.00" sourceLinked="1"/>
        <c:majorTickMark val="none"/>
        <c:minorTickMark val="none"/>
        <c:tickLblPos val="nextTo"/>
        <c:crossAx val="319651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6880555555555599"/>
          <c:y val="0.42073673082531299"/>
          <c:w val="0.23952777777777801"/>
          <c:h val="0.27931321084864402"/>
        </c:manualLayout>
      </c:layout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/>
              <a:t>Linear Probing</a:t>
            </a:r>
          </a:p>
        </c:rich>
      </c:tx>
      <c:layout>
        <c:manualLayout>
          <c:xMode val="edge"/>
          <c:yMode val="edge"/>
          <c:x val="0.32518744531933502"/>
          <c:y val="2.3148148148148098E-2"/>
        </c:manualLayout>
      </c:layout>
      <c:overlay val="0"/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'open addressing hash tables'!$D$2</c:f>
              <c:strCache>
                <c:ptCount val="1"/>
                <c:pt idx="0">
                  <c:v>linear probing found</c:v>
                </c:pt>
              </c:strCache>
            </c:strRef>
          </c:tx>
          <c:spPr>
            <a:ln>
              <a:solidFill>
                <a:srgbClr val="76B93D"/>
              </a:solidFill>
            </a:ln>
          </c:spPr>
          <c:marker>
            <c:symbol val="none"/>
          </c:marker>
          <c:cat>
            <c:numRef>
              <c:f>'open addressing hash tables'!$A$3:$A$101</c:f>
              <c:numCache>
                <c:formatCode>0.00</c:formatCode>
                <c:ptCount val="99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0.90000000000000102</c:v>
                </c:pt>
                <c:pt idx="90">
                  <c:v>0.91000000000000103</c:v>
                </c:pt>
                <c:pt idx="91">
                  <c:v>0.92000000000000104</c:v>
                </c:pt>
                <c:pt idx="92">
                  <c:v>0.93000000000000105</c:v>
                </c:pt>
                <c:pt idx="93">
                  <c:v>0.94000000000000095</c:v>
                </c:pt>
                <c:pt idx="94">
                  <c:v>0.95000000000000095</c:v>
                </c:pt>
                <c:pt idx="95">
                  <c:v>0.96000000000000096</c:v>
                </c:pt>
                <c:pt idx="96">
                  <c:v>0.97000000000000097</c:v>
                </c:pt>
                <c:pt idx="97">
                  <c:v>0.98000000000000098</c:v>
                </c:pt>
                <c:pt idx="98">
                  <c:v>0.99000000000000099</c:v>
                </c:pt>
              </c:numCache>
            </c:numRef>
          </c:cat>
          <c:val>
            <c:numRef>
              <c:f>'open addressing hash tables'!$D$3:$D$101</c:f>
              <c:numCache>
                <c:formatCode>0.00</c:formatCode>
                <c:ptCount val="99"/>
                <c:pt idx="0">
                  <c:v>1.005050505050505</c:v>
                </c:pt>
                <c:pt idx="1">
                  <c:v>1.010204081632653</c:v>
                </c:pt>
                <c:pt idx="2">
                  <c:v>1.0154639175257729</c:v>
                </c:pt>
                <c:pt idx="3">
                  <c:v>1.020833333333333</c:v>
                </c:pt>
                <c:pt idx="4">
                  <c:v>1.0263157894736841</c:v>
                </c:pt>
                <c:pt idx="5">
                  <c:v>1.031914893617021</c:v>
                </c:pt>
                <c:pt idx="6">
                  <c:v>1.0376344086021501</c:v>
                </c:pt>
                <c:pt idx="7">
                  <c:v>1.043478260869565</c:v>
                </c:pt>
                <c:pt idx="8">
                  <c:v>1.0494505494505499</c:v>
                </c:pt>
                <c:pt idx="9">
                  <c:v>1.055555555555556</c:v>
                </c:pt>
                <c:pt idx="10">
                  <c:v>1.061797752808989</c:v>
                </c:pt>
                <c:pt idx="11">
                  <c:v>1.0681818181818179</c:v>
                </c:pt>
                <c:pt idx="12">
                  <c:v>1.0747126436781611</c:v>
                </c:pt>
                <c:pt idx="13">
                  <c:v>1.081395348837209</c:v>
                </c:pt>
                <c:pt idx="14">
                  <c:v>1.088235294117647</c:v>
                </c:pt>
                <c:pt idx="15">
                  <c:v>1.0952380952380949</c:v>
                </c:pt>
                <c:pt idx="16">
                  <c:v>1.102409638554217</c:v>
                </c:pt>
                <c:pt idx="17">
                  <c:v>1.1097560975609759</c:v>
                </c:pt>
                <c:pt idx="18">
                  <c:v>1.117283950617284</c:v>
                </c:pt>
                <c:pt idx="19">
                  <c:v>1.125</c:v>
                </c:pt>
                <c:pt idx="20">
                  <c:v>1.1329113924050629</c:v>
                </c:pt>
                <c:pt idx="21">
                  <c:v>1.141025641025641</c:v>
                </c:pt>
                <c:pt idx="22">
                  <c:v>1.1493506493506489</c:v>
                </c:pt>
                <c:pt idx="23">
                  <c:v>1.1578947368421051</c:v>
                </c:pt>
                <c:pt idx="24">
                  <c:v>1.1666666666666661</c:v>
                </c:pt>
                <c:pt idx="25">
                  <c:v>1.1756756756756761</c:v>
                </c:pt>
                <c:pt idx="26">
                  <c:v>1.1849315068493149</c:v>
                </c:pt>
                <c:pt idx="27">
                  <c:v>1.194444444444444</c:v>
                </c:pt>
                <c:pt idx="28">
                  <c:v>1.204225352112676</c:v>
                </c:pt>
                <c:pt idx="29">
                  <c:v>1.214285714285714</c:v>
                </c:pt>
                <c:pt idx="30">
                  <c:v>1.22463768115942</c:v>
                </c:pt>
                <c:pt idx="31">
                  <c:v>1.2352941176470591</c:v>
                </c:pt>
                <c:pt idx="32">
                  <c:v>1.2462686567164181</c:v>
                </c:pt>
                <c:pt idx="33">
                  <c:v>1.257575757575758</c:v>
                </c:pt>
                <c:pt idx="34">
                  <c:v>1.2692307692307689</c:v>
                </c:pt>
                <c:pt idx="35">
                  <c:v>1.28125</c:v>
                </c:pt>
                <c:pt idx="36">
                  <c:v>1.2936507936507939</c:v>
                </c:pt>
                <c:pt idx="37">
                  <c:v>1.306451612903226</c:v>
                </c:pt>
                <c:pt idx="38">
                  <c:v>1.319672131147541</c:v>
                </c:pt>
                <c:pt idx="39">
                  <c:v>1.333333333333333</c:v>
                </c:pt>
                <c:pt idx="40">
                  <c:v>1.347457627118644</c:v>
                </c:pt>
                <c:pt idx="41">
                  <c:v>1.3620689655172411</c:v>
                </c:pt>
                <c:pt idx="42">
                  <c:v>1.3771929824561411</c:v>
                </c:pt>
                <c:pt idx="43">
                  <c:v>1.392857142857143</c:v>
                </c:pt>
                <c:pt idx="44">
                  <c:v>1.4090909090909089</c:v>
                </c:pt>
                <c:pt idx="45">
                  <c:v>1.425925925925926</c:v>
                </c:pt>
                <c:pt idx="46">
                  <c:v>1.443396226415095</c:v>
                </c:pt>
                <c:pt idx="47">
                  <c:v>1.4615384615384619</c:v>
                </c:pt>
                <c:pt idx="48">
                  <c:v>1.4803921568627461</c:v>
                </c:pt>
                <c:pt idx="49">
                  <c:v>1.5</c:v>
                </c:pt>
                <c:pt idx="50">
                  <c:v>1.520408163265307</c:v>
                </c:pt>
                <c:pt idx="51">
                  <c:v>1.541666666666667</c:v>
                </c:pt>
                <c:pt idx="52">
                  <c:v>1.563829787234043</c:v>
                </c:pt>
                <c:pt idx="53">
                  <c:v>1.586956521739131</c:v>
                </c:pt>
                <c:pt idx="54">
                  <c:v>1.611111111111112</c:v>
                </c:pt>
                <c:pt idx="55">
                  <c:v>1.6363636363636369</c:v>
                </c:pt>
                <c:pt idx="56">
                  <c:v>1.6627906976744189</c:v>
                </c:pt>
                <c:pt idx="57">
                  <c:v>1.6904761904761909</c:v>
                </c:pt>
                <c:pt idx="58">
                  <c:v>1.7195121951219521</c:v>
                </c:pt>
                <c:pt idx="59">
                  <c:v>1.7500000000000011</c:v>
                </c:pt>
                <c:pt idx="60">
                  <c:v>1.782051282051283</c:v>
                </c:pt>
                <c:pt idx="61">
                  <c:v>1.815789473684212</c:v>
                </c:pt>
                <c:pt idx="62">
                  <c:v>1.8513513513513531</c:v>
                </c:pt>
                <c:pt idx="63">
                  <c:v>1.8888888888888899</c:v>
                </c:pt>
                <c:pt idx="64">
                  <c:v>1.9285714285714299</c:v>
                </c:pt>
                <c:pt idx="65">
                  <c:v>1.9705882352941191</c:v>
                </c:pt>
                <c:pt idx="66">
                  <c:v>2.0151515151515169</c:v>
                </c:pt>
                <c:pt idx="67">
                  <c:v>2.0625000000000022</c:v>
                </c:pt>
                <c:pt idx="68">
                  <c:v>2.1129032258064542</c:v>
                </c:pt>
                <c:pt idx="69">
                  <c:v>2.1666666666666692</c:v>
                </c:pt>
                <c:pt idx="70">
                  <c:v>2.2241379310344849</c:v>
                </c:pt>
                <c:pt idx="71">
                  <c:v>2.2857142857142878</c:v>
                </c:pt>
                <c:pt idx="72">
                  <c:v>2.3518518518518552</c:v>
                </c:pt>
                <c:pt idx="73">
                  <c:v>2.423076923076926</c:v>
                </c:pt>
                <c:pt idx="74">
                  <c:v>2.500000000000004</c:v>
                </c:pt>
                <c:pt idx="75">
                  <c:v>2.583333333333337</c:v>
                </c:pt>
                <c:pt idx="76">
                  <c:v>2.6739130434782652</c:v>
                </c:pt>
                <c:pt idx="77">
                  <c:v>2.7727272727272769</c:v>
                </c:pt>
                <c:pt idx="78">
                  <c:v>2.8809523809523858</c:v>
                </c:pt>
                <c:pt idx="79">
                  <c:v>3.0000000000000062</c:v>
                </c:pt>
                <c:pt idx="80">
                  <c:v>3.1315789473684279</c:v>
                </c:pt>
                <c:pt idx="81">
                  <c:v>3.2777777777777848</c:v>
                </c:pt>
                <c:pt idx="82">
                  <c:v>3.4411764705882439</c:v>
                </c:pt>
                <c:pt idx="83">
                  <c:v>3.6250000000000102</c:v>
                </c:pt>
                <c:pt idx="84">
                  <c:v>3.833333333333345</c:v>
                </c:pt>
                <c:pt idx="85">
                  <c:v>4.0714285714285854</c:v>
                </c:pt>
                <c:pt idx="86">
                  <c:v>4.3461538461538627</c:v>
                </c:pt>
                <c:pt idx="87">
                  <c:v>4.6666666666666856</c:v>
                </c:pt>
                <c:pt idx="88">
                  <c:v>5.045454545454569</c:v>
                </c:pt>
                <c:pt idx="89">
                  <c:v>5.5000000000000302</c:v>
                </c:pt>
                <c:pt idx="90">
                  <c:v>6.0555555555555918</c:v>
                </c:pt>
                <c:pt idx="91">
                  <c:v>6.7500000000000462</c:v>
                </c:pt>
                <c:pt idx="92">
                  <c:v>7.6428571428572036</c:v>
                </c:pt>
                <c:pt idx="93">
                  <c:v>8.8333333333334192</c:v>
                </c:pt>
                <c:pt idx="94">
                  <c:v>10.500000000000121</c:v>
                </c:pt>
                <c:pt idx="95">
                  <c:v>13.000000000000201</c:v>
                </c:pt>
                <c:pt idx="96">
                  <c:v>17.16666666666702</c:v>
                </c:pt>
                <c:pt idx="97">
                  <c:v>25.50000000000081</c:v>
                </c:pt>
                <c:pt idx="98">
                  <c:v>50.50000000000329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D9-42DC-8F30-5F40E8F4BCA9}"/>
            </c:ext>
          </c:extLst>
        </c:ser>
        <c:ser>
          <c:idx val="1"/>
          <c:order val="1"/>
          <c:tx>
            <c:strRef>
              <c:f>'open addressing hash tables'!$E$2</c:f>
              <c:strCache>
                <c:ptCount val="1"/>
                <c:pt idx="0">
                  <c:v>linear probing not found</c:v>
                </c:pt>
              </c:strCache>
            </c:strRef>
          </c:tx>
          <c:spPr>
            <a:ln>
              <a:solidFill>
                <a:srgbClr val="950097"/>
              </a:solidFill>
            </a:ln>
          </c:spPr>
          <c:marker>
            <c:symbol val="none"/>
          </c:marker>
          <c:val>
            <c:numRef>
              <c:f>'open addressing hash tables'!$E$3:$E$98</c:f>
              <c:numCache>
                <c:formatCode>0.00</c:formatCode>
                <c:ptCount val="96"/>
                <c:pt idx="0">
                  <c:v>1.0101520253035401</c:v>
                </c:pt>
                <c:pt idx="1">
                  <c:v>1.0206164098292381</c:v>
                </c:pt>
                <c:pt idx="2">
                  <c:v>1.0314061005420341</c:v>
                </c:pt>
                <c:pt idx="3">
                  <c:v>1.0425347222222221</c:v>
                </c:pt>
                <c:pt idx="4">
                  <c:v>1.054016620498615</c:v>
                </c:pt>
                <c:pt idx="5">
                  <c:v>1.0658669081032139</c:v>
                </c:pt>
                <c:pt idx="6">
                  <c:v>1.078101514625968</c:v>
                </c:pt>
                <c:pt idx="7">
                  <c:v>1.0907372400756139</c:v>
                </c:pt>
                <c:pt idx="8">
                  <c:v>1.1037918125830211</c:v>
                </c:pt>
                <c:pt idx="9">
                  <c:v>1.117283950617284</c:v>
                </c:pt>
                <c:pt idx="10">
                  <c:v>1.1312334301224589</c:v>
                </c:pt>
                <c:pt idx="11">
                  <c:v>1.145661157024793</c:v>
                </c:pt>
                <c:pt idx="12">
                  <c:v>1.1605892456070821</c:v>
                </c:pt>
                <c:pt idx="13">
                  <c:v>1.176041103299081</c:v>
                </c:pt>
                <c:pt idx="14">
                  <c:v>1.1920415224913501</c:v>
                </c:pt>
                <c:pt idx="15">
                  <c:v>1.208616780045352</c:v>
                </c:pt>
                <c:pt idx="16">
                  <c:v>1.225794745246044</c:v>
                </c:pt>
                <c:pt idx="17">
                  <c:v>1.24360499702558</c:v>
                </c:pt>
                <c:pt idx="18">
                  <c:v>1.2620789513793631</c:v>
                </c:pt>
                <c:pt idx="19">
                  <c:v>1.28125</c:v>
                </c:pt>
                <c:pt idx="20">
                  <c:v>1.3011536612722321</c:v>
                </c:pt>
                <c:pt idx="21">
                  <c:v>1.321827744904668</c:v>
                </c:pt>
                <c:pt idx="22">
                  <c:v>1.34331253162422</c:v>
                </c:pt>
                <c:pt idx="23">
                  <c:v>1.3656509695290859</c:v>
                </c:pt>
                <c:pt idx="24">
                  <c:v>1.3888888888888891</c:v>
                </c:pt>
                <c:pt idx="25">
                  <c:v>1.4130752373995621</c:v>
                </c:pt>
                <c:pt idx="26">
                  <c:v>1.438262338149747</c:v>
                </c:pt>
                <c:pt idx="27">
                  <c:v>1.4645061728395059</c:v>
                </c:pt>
                <c:pt idx="28">
                  <c:v>1.491866693116445</c:v>
                </c:pt>
                <c:pt idx="29">
                  <c:v>1.5204081632653059</c:v>
                </c:pt>
                <c:pt idx="30">
                  <c:v>1.550199537912204</c:v>
                </c:pt>
                <c:pt idx="31">
                  <c:v>1.581314878892734</c:v>
                </c:pt>
                <c:pt idx="32">
                  <c:v>1.6138338159946539</c:v>
                </c:pt>
                <c:pt idx="33">
                  <c:v>1.6478420569329659</c:v>
                </c:pt>
                <c:pt idx="34">
                  <c:v>1.6834319526627219</c:v>
                </c:pt>
                <c:pt idx="35">
                  <c:v>1.720703125</c:v>
                </c:pt>
                <c:pt idx="36">
                  <c:v>1.75976316452507</c:v>
                </c:pt>
                <c:pt idx="37">
                  <c:v>1.8007284079084289</c:v>
                </c:pt>
                <c:pt idx="38">
                  <c:v>1.843724805159904</c:v>
                </c:pt>
                <c:pt idx="39">
                  <c:v>1.8888888888888891</c:v>
                </c:pt>
                <c:pt idx="40">
                  <c:v>1.9363688595231261</c:v>
                </c:pt>
                <c:pt idx="41">
                  <c:v>1.9863258026159341</c:v>
                </c:pt>
                <c:pt idx="42">
                  <c:v>2.038935056940598</c:v>
                </c:pt>
                <c:pt idx="43">
                  <c:v>2.0943877551020411</c:v>
                </c:pt>
                <c:pt idx="44">
                  <c:v>2.1528925619834718</c:v>
                </c:pt>
                <c:pt idx="45">
                  <c:v>2.214677640603568</c:v>
                </c:pt>
                <c:pt idx="46">
                  <c:v>2.2799928800284812</c:v>
                </c:pt>
                <c:pt idx="47">
                  <c:v>2.3491124260355041</c:v>
                </c:pt>
                <c:pt idx="48">
                  <c:v>2.4223375624759722</c:v>
                </c:pt>
                <c:pt idx="49">
                  <c:v>2.5000000000000022</c:v>
                </c:pt>
                <c:pt idx="50">
                  <c:v>2.5824656393169532</c:v>
                </c:pt>
                <c:pt idx="51">
                  <c:v>2.6701388888888911</c:v>
                </c:pt>
                <c:pt idx="52">
                  <c:v>2.7634676324128589</c:v>
                </c:pt>
                <c:pt idx="53">
                  <c:v>2.86294896030246</c:v>
                </c:pt>
                <c:pt idx="54">
                  <c:v>2.9691358024691392</c:v>
                </c:pt>
                <c:pt idx="55">
                  <c:v>3.0826446280991768</c:v>
                </c:pt>
                <c:pt idx="56">
                  <c:v>3.2041644131963261</c:v>
                </c:pt>
                <c:pt idx="57">
                  <c:v>3.3344671201814098</c:v>
                </c:pt>
                <c:pt idx="58">
                  <c:v>3.474419988102325</c:v>
                </c:pt>
                <c:pt idx="59">
                  <c:v>3.6250000000000049</c:v>
                </c:pt>
                <c:pt idx="60">
                  <c:v>3.787310979618677</c:v>
                </c:pt>
                <c:pt idx="61">
                  <c:v>3.9626038781163491</c:v>
                </c:pt>
                <c:pt idx="62">
                  <c:v>4.1523009495982537</c:v>
                </c:pt>
                <c:pt idx="63">
                  <c:v>4.3580246913580316</c:v>
                </c:pt>
                <c:pt idx="64">
                  <c:v>4.5816326530612317</c:v>
                </c:pt>
                <c:pt idx="65">
                  <c:v>4.8252595155709432</c:v>
                </c:pt>
                <c:pt idx="66">
                  <c:v>5.0913682277318744</c:v>
                </c:pt>
                <c:pt idx="67">
                  <c:v>5.3828125000000107</c:v>
                </c:pt>
                <c:pt idx="68">
                  <c:v>5.7029136316337281</c:v>
                </c:pt>
                <c:pt idx="69">
                  <c:v>6.0555555555555696</c:v>
                </c:pt>
                <c:pt idx="70">
                  <c:v>6.4453032104637504</c:v>
                </c:pt>
                <c:pt idx="71">
                  <c:v>6.8775510204081822</c:v>
                </c:pt>
                <c:pt idx="72">
                  <c:v>7.3587105624142879</c:v>
                </c:pt>
                <c:pt idx="73">
                  <c:v>7.8964497041420358</c:v>
                </c:pt>
                <c:pt idx="74">
                  <c:v>8.5000000000000284</c:v>
                </c:pt>
                <c:pt idx="75">
                  <c:v>9.1805555555555873</c:v>
                </c:pt>
                <c:pt idx="76">
                  <c:v>9.9517958412098686</c:v>
                </c:pt>
                <c:pt idx="77">
                  <c:v>10.830578512396739</c:v>
                </c:pt>
                <c:pt idx="78">
                  <c:v>11.837868480725669</c:v>
                </c:pt>
                <c:pt idx="79">
                  <c:v>13.00000000000006</c:v>
                </c:pt>
                <c:pt idx="80">
                  <c:v>14.35041551246545</c:v>
                </c:pt>
                <c:pt idx="81">
                  <c:v>15.93209876543219</c:v>
                </c:pt>
                <c:pt idx="82">
                  <c:v>17.80103806228384</c:v>
                </c:pt>
                <c:pt idx="83">
                  <c:v>20.031250000000131</c:v>
                </c:pt>
                <c:pt idx="84">
                  <c:v>22.722222222222381</c:v>
                </c:pt>
                <c:pt idx="85">
                  <c:v>26.01020408163285</c:v>
                </c:pt>
                <c:pt idx="86">
                  <c:v>30.0857988165683</c:v>
                </c:pt>
                <c:pt idx="87">
                  <c:v>35.222222222222541</c:v>
                </c:pt>
                <c:pt idx="88">
                  <c:v>41.822314049587199</c:v>
                </c:pt>
                <c:pt idx="89">
                  <c:v>50.500000000000583</c:v>
                </c:pt>
                <c:pt idx="90">
                  <c:v>62.228395061729202</c:v>
                </c:pt>
                <c:pt idx="91">
                  <c:v>78.625000000001165</c:v>
                </c:pt>
                <c:pt idx="92">
                  <c:v>102.54081632653239</c:v>
                </c:pt>
                <c:pt idx="93">
                  <c:v>139.3888888888917</c:v>
                </c:pt>
                <c:pt idx="94">
                  <c:v>200.50000000000489</c:v>
                </c:pt>
                <c:pt idx="95">
                  <c:v>313.00000000000978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D9-42DC-8F30-5F40E8F4BC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406784"/>
        <c:axId val="109803712"/>
      </c:lineChart>
      <c:catAx>
        <c:axId val="100406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Load Factor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crossAx val="109803712"/>
        <c:crosses val="autoZero"/>
        <c:auto val="1"/>
        <c:lblAlgn val="ctr"/>
        <c:lblOffset val="100"/>
        <c:noMultiLvlLbl val="0"/>
      </c:catAx>
      <c:valAx>
        <c:axId val="1098037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400"/>
                  <a:t>Average # of Probes</a:t>
                </a:r>
              </a:p>
            </c:rich>
          </c:tx>
          <c:layout>
            <c:manualLayout>
              <c:xMode val="edge"/>
              <c:yMode val="edge"/>
              <c:x val="3.05555555555556E-2"/>
              <c:y val="0.16671697287838999"/>
            </c:manualLayout>
          </c:layout>
          <c:overlay val="0"/>
        </c:title>
        <c:numFmt formatCode="0.00" sourceLinked="1"/>
        <c:majorTickMark val="none"/>
        <c:minorTickMark val="none"/>
        <c:tickLblPos val="nextTo"/>
        <c:crossAx val="1004067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6880555555555599"/>
          <c:y val="0.42073673082531299"/>
          <c:w val="0.25897222222222199"/>
          <c:h val="0.27931321084864402"/>
        </c:manualLayout>
      </c:layout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/>
              <a:t>Linear Probing</a:t>
            </a:r>
          </a:p>
        </c:rich>
      </c:tx>
      <c:layout>
        <c:manualLayout>
          <c:xMode val="edge"/>
          <c:yMode val="edge"/>
          <c:x val="0.32518744531933502"/>
          <c:y val="2.3148148148148098E-2"/>
        </c:manualLayout>
      </c:layout>
      <c:overlay val="0"/>
    </c:title>
    <c:autoTitleDeleted val="0"/>
    <c:plotArea>
      <c:layout/>
      <c:lineChart>
        <c:grouping val="stacked"/>
        <c:varyColors val="0"/>
        <c:ser>
          <c:idx val="2"/>
          <c:order val="0"/>
          <c:tx>
            <c:strRef>
              <c:f>'open addressing hash tables'!$D$2</c:f>
              <c:strCache>
                <c:ptCount val="1"/>
                <c:pt idx="0">
                  <c:v>linear probing found</c:v>
                </c:pt>
              </c:strCache>
            </c:strRef>
          </c:tx>
          <c:spPr>
            <a:ln>
              <a:solidFill>
                <a:srgbClr val="76B93D"/>
              </a:solidFill>
            </a:ln>
          </c:spPr>
          <c:marker>
            <c:symbol val="none"/>
          </c:marker>
          <c:cat>
            <c:numRef>
              <c:f>'open addressing hash tables'!$A$3:$A$101</c:f>
              <c:numCache>
                <c:formatCode>0.00</c:formatCode>
                <c:ptCount val="99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0.90000000000000102</c:v>
                </c:pt>
                <c:pt idx="90">
                  <c:v>0.91000000000000103</c:v>
                </c:pt>
                <c:pt idx="91">
                  <c:v>0.92000000000000104</c:v>
                </c:pt>
                <c:pt idx="92">
                  <c:v>0.93000000000000105</c:v>
                </c:pt>
                <c:pt idx="93">
                  <c:v>0.94000000000000095</c:v>
                </c:pt>
                <c:pt idx="94">
                  <c:v>0.95000000000000095</c:v>
                </c:pt>
                <c:pt idx="95">
                  <c:v>0.96000000000000096</c:v>
                </c:pt>
                <c:pt idx="96">
                  <c:v>0.97000000000000097</c:v>
                </c:pt>
                <c:pt idx="97">
                  <c:v>0.98000000000000098</c:v>
                </c:pt>
                <c:pt idx="98">
                  <c:v>0.99000000000000099</c:v>
                </c:pt>
              </c:numCache>
            </c:numRef>
          </c:cat>
          <c:val>
            <c:numRef>
              <c:f>'open addressing hash tables'!$D$3:$D$85</c:f>
              <c:numCache>
                <c:formatCode>0.00</c:formatCode>
                <c:ptCount val="83"/>
                <c:pt idx="0">
                  <c:v>1.005050505050505</c:v>
                </c:pt>
                <c:pt idx="1">
                  <c:v>1.010204081632653</c:v>
                </c:pt>
                <c:pt idx="2">
                  <c:v>1.0154639175257729</c:v>
                </c:pt>
                <c:pt idx="3">
                  <c:v>1.020833333333333</c:v>
                </c:pt>
                <c:pt idx="4">
                  <c:v>1.0263157894736841</c:v>
                </c:pt>
                <c:pt idx="5">
                  <c:v>1.031914893617021</c:v>
                </c:pt>
                <c:pt idx="6">
                  <c:v>1.0376344086021501</c:v>
                </c:pt>
                <c:pt idx="7">
                  <c:v>1.043478260869565</c:v>
                </c:pt>
                <c:pt idx="8">
                  <c:v>1.0494505494505499</c:v>
                </c:pt>
                <c:pt idx="9">
                  <c:v>1.055555555555556</c:v>
                </c:pt>
                <c:pt idx="10">
                  <c:v>1.061797752808989</c:v>
                </c:pt>
                <c:pt idx="11">
                  <c:v>1.0681818181818179</c:v>
                </c:pt>
                <c:pt idx="12">
                  <c:v>1.0747126436781611</c:v>
                </c:pt>
                <c:pt idx="13">
                  <c:v>1.081395348837209</c:v>
                </c:pt>
                <c:pt idx="14">
                  <c:v>1.088235294117647</c:v>
                </c:pt>
                <c:pt idx="15">
                  <c:v>1.0952380952380949</c:v>
                </c:pt>
                <c:pt idx="16">
                  <c:v>1.102409638554217</c:v>
                </c:pt>
                <c:pt idx="17">
                  <c:v>1.1097560975609759</c:v>
                </c:pt>
                <c:pt idx="18">
                  <c:v>1.117283950617284</c:v>
                </c:pt>
                <c:pt idx="19">
                  <c:v>1.125</c:v>
                </c:pt>
                <c:pt idx="20">
                  <c:v>1.1329113924050629</c:v>
                </c:pt>
                <c:pt idx="21">
                  <c:v>1.141025641025641</c:v>
                </c:pt>
                <c:pt idx="22">
                  <c:v>1.1493506493506489</c:v>
                </c:pt>
                <c:pt idx="23">
                  <c:v>1.1578947368421051</c:v>
                </c:pt>
                <c:pt idx="24">
                  <c:v>1.1666666666666661</c:v>
                </c:pt>
                <c:pt idx="25">
                  <c:v>1.1756756756756761</c:v>
                </c:pt>
                <c:pt idx="26">
                  <c:v>1.1849315068493149</c:v>
                </c:pt>
                <c:pt idx="27">
                  <c:v>1.194444444444444</c:v>
                </c:pt>
                <c:pt idx="28">
                  <c:v>1.204225352112676</c:v>
                </c:pt>
                <c:pt idx="29">
                  <c:v>1.214285714285714</c:v>
                </c:pt>
                <c:pt idx="30">
                  <c:v>1.22463768115942</c:v>
                </c:pt>
                <c:pt idx="31">
                  <c:v>1.2352941176470591</c:v>
                </c:pt>
                <c:pt idx="32">
                  <c:v>1.2462686567164181</c:v>
                </c:pt>
                <c:pt idx="33">
                  <c:v>1.257575757575758</c:v>
                </c:pt>
                <c:pt idx="34">
                  <c:v>1.2692307692307689</c:v>
                </c:pt>
                <c:pt idx="35">
                  <c:v>1.28125</c:v>
                </c:pt>
                <c:pt idx="36">
                  <c:v>1.2936507936507939</c:v>
                </c:pt>
                <c:pt idx="37">
                  <c:v>1.306451612903226</c:v>
                </c:pt>
                <c:pt idx="38">
                  <c:v>1.319672131147541</c:v>
                </c:pt>
                <c:pt idx="39">
                  <c:v>1.333333333333333</c:v>
                </c:pt>
                <c:pt idx="40">
                  <c:v>1.347457627118644</c:v>
                </c:pt>
                <c:pt idx="41">
                  <c:v>1.3620689655172411</c:v>
                </c:pt>
                <c:pt idx="42">
                  <c:v>1.3771929824561411</c:v>
                </c:pt>
                <c:pt idx="43">
                  <c:v>1.392857142857143</c:v>
                </c:pt>
                <c:pt idx="44">
                  <c:v>1.4090909090909089</c:v>
                </c:pt>
                <c:pt idx="45">
                  <c:v>1.425925925925926</c:v>
                </c:pt>
                <c:pt idx="46">
                  <c:v>1.443396226415095</c:v>
                </c:pt>
                <c:pt idx="47">
                  <c:v>1.4615384615384619</c:v>
                </c:pt>
                <c:pt idx="48">
                  <c:v>1.4803921568627461</c:v>
                </c:pt>
                <c:pt idx="49">
                  <c:v>1.5</c:v>
                </c:pt>
                <c:pt idx="50">
                  <c:v>1.520408163265307</c:v>
                </c:pt>
                <c:pt idx="51">
                  <c:v>1.541666666666667</c:v>
                </c:pt>
                <c:pt idx="52">
                  <c:v>1.563829787234043</c:v>
                </c:pt>
                <c:pt idx="53">
                  <c:v>1.586956521739131</c:v>
                </c:pt>
                <c:pt idx="54">
                  <c:v>1.611111111111112</c:v>
                </c:pt>
                <c:pt idx="55">
                  <c:v>1.6363636363636369</c:v>
                </c:pt>
                <c:pt idx="56">
                  <c:v>1.6627906976744189</c:v>
                </c:pt>
                <c:pt idx="57">
                  <c:v>1.6904761904761909</c:v>
                </c:pt>
                <c:pt idx="58">
                  <c:v>1.7195121951219521</c:v>
                </c:pt>
                <c:pt idx="59">
                  <c:v>1.7500000000000011</c:v>
                </c:pt>
                <c:pt idx="60">
                  <c:v>1.782051282051283</c:v>
                </c:pt>
                <c:pt idx="61">
                  <c:v>1.815789473684212</c:v>
                </c:pt>
                <c:pt idx="62">
                  <c:v>1.8513513513513531</c:v>
                </c:pt>
                <c:pt idx="63">
                  <c:v>1.8888888888888899</c:v>
                </c:pt>
                <c:pt idx="64">
                  <c:v>1.9285714285714299</c:v>
                </c:pt>
                <c:pt idx="65">
                  <c:v>1.9705882352941191</c:v>
                </c:pt>
                <c:pt idx="66">
                  <c:v>2.0151515151515169</c:v>
                </c:pt>
                <c:pt idx="67">
                  <c:v>2.0625000000000022</c:v>
                </c:pt>
                <c:pt idx="68">
                  <c:v>2.1129032258064542</c:v>
                </c:pt>
                <c:pt idx="69">
                  <c:v>2.1666666666666692</c:v>
                </c:pt>
                <c:pt idx="70">
                  <c:v>2.2241379310344849</c:v>
                </c:pt>
                <c:pt idx="71">
                  <c:v>2.2857142857142878</c:v>
                </c:pt>
                <c:pt idx="72">
                  <c:v>2.3518518518518552</c:v>
                </c:pt>
                <c:pt idx="73">
                  <c:v>2.423076923076926</c:v>
                </c:pt>
                <c:pt idx="74">
                  <c:v>2.500000000000004</c:v>
                </c:pt>
                <c:pt idx="75">
                  <c:v>2.583333333333337</c:v>
                </c:pt>
                <c:pt idx="76">
                  <c:v>2.6739130434782652</c:v>
                </c:pt>
                <c:pt idx="77">
                  <c:v>2.7727272727272769</c:v>
                </c:pt>
                <c:pt idx="78">
                  <c:v>2.8809523809523858</c:v>
                </c:pt>
                <c:pt idx="79">
                  <c:v>3.0000000000000062</c:v>
                </c:pt>
                <c:pt idx="80">
                  <c:v>3.1315789473684279</c:v>
                </c:pt>
                <c:pt idx="81">
                  <c:v>3.2777777777777848</c:v>
                </c:pt>
                <c:pt idx="82">
                  <c:v>3.4411764705882439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07-4679-B351-E385DD33BF49}"/>
            </c:ext>
          </c:extLst>
        </c:ser>
        <c:ser>
          <c:idx val="3"/>
          <c:order val="1"/>
          <c:tx>
            <c:strRef>
              <c:f>'open addressing hash tables'!$E$2</c:f>
              <c:strCache>
                <c:ptCount val="1"/>
                <c:pt idx="0">
                  <c:v>linear probing not found</c:v>
                </c:pt>
              </c:strCache>
            </c:strRef>
          </c:tx>
          <c:spPr>
            <a:ln>
              <a:solidFill>
                <a:srgbClr val="950097"/>
              </a:solidFill>
            </a:ln>
          </c:spPr>
          <c:marker>
            <c:symbol val="none"/>
          </c:marker>
          <c:val>
            <c:numRef>
              <c:f>'open addressing hash tables'!$E$3:$E$80</c:f>
              <c:numCache>
                <c:formatCode>0.00</c:formatCode>
                <c:ptCount val="78"/>
                <c:pt idx="0">
                  <c:v>1.0101520253035401</c:v>
                </c:pt>
                <c:pt idx="1">
                  <c:v>1.0206164098292381</c:v>
                </c:pt>
                <c:pt idx="2">
                  <c:v>1.0314061005420341</c:v>
                </c:pt>
                <c:pt idx="3">
                  <c:v>1.0425347222222221</c:v>
                </c:pt>
                <c:pt idx="4">
                  <c:v>1.054016620498615</c:v>
                </c:pt>
                <c:pt idx="5">
                  <c:v>1.0658669081032139</c:v>
                </c:pt>
                <c:pt idx="6">
                  <c:v>1.078101514625968</c:v>
                </c:pt>
                <c:pt idx="7">
                  <c:v>1.0907372400756139</c:v>
                </c:pt>
                <c:pt idx="8">
                  <c:v>1.1037918125830211</c:v>
                </c:pt>
                <c:pt idx="9">
                  <c:v>1.117283950617284</c:v>
                </c:pt>
                <c:pt idx="10">
                  <c:v>1.1312334301224589</c:v>
                </c:pt>
                <c:pt idx="11">
                  <c:v>1.145661157024793</c:v>
                </c:pt>
                <c:pt idx="12">
                  <c:v>1.1605892456070821</c:v>
                </c:pt>
                <c:pt idx="13">
                  <c:v>1.176041103299081</c:v>
                </c:pt>
                <c:pt idx="14">
                  <c:v>1.1920415224913501</c:v>
                </c:pt>
                <c:pt idx="15">
                  <c:v>1.208616780045352</c:v>
                </c:pt>
                <c:pt idx="16">
                  <c:v>1.225794745246044</c:v>
                </c:pt>
                <c:pt idx="17">
                  <c:v>1.24360499702558</c:v>
                </c:pt>
                <c:pt idx="18">
                  <c:v>1.2620789513793631</c:v>
                </c:pt>
                <c:pt idx="19">
                  <c:v>1.28125</c:v>
                </c:pt>
                <c:pt idx="20">
                  <c:v>1.3011536612722321</c:v>
                </c:pt>
                <c:pt idx="21">
                  <c:v>1.321827744904668</c:v>
                </c:pt>
                <c:pt idx="22">
                  <c:v>1.34331253162422</c:v>
                </c:pt>
                <c:pt idx="23">
                  <c:v>1.3656509695290859</c:v>
                </c:pt>
                <c:pt idx="24">
                  <c:v>1.3888888888888891</c:v>
                </c:pt>
                <c:pt idx="25">
                  <c:v>1.4130752373995621</c:v>
                </c:pt>
                <c:pt idx="26">
                  <c:v>1.438262338149747</c:v>
                </c:pt>
                <c:pt idx="27">
                  <c:v>1.4645061728395059</c:v>
                </c:pt>
                <c:pt idx="28">
                  <c:v>1.491866693116445</c:v>
                </c:pt>
                <c:pt idx="29">
                  <c:v>1.5204081632653059</c:v>
                </c:pt>
                <c:pt idx="30">
                  <c:v>1.550199537912204</c:v>
                </c:pt>
                <c:pt idx="31">
                  <c:v>1.581314878892734</c:v>
                </c:pt>
                <c:pt idx="32">
                  <c:v>1.6138338159946539</c:v>
                </c:pt>
                <c:pt idx="33">
                  <c:v>1.6478420569329659</c:v>
                </c:pt>
                <c:pt idx="34">
                  <c:v>1.6834319526627219</c:v>
                </c:pt>
                <c:pt idx="35">
                  <c:v>1.720703125</c:v>
                </c:pt>
                <c:pt idx="36">
                  <c:v>1.75976316452507</c:v>
                </c:pt>
                <c:pt idx="37">
                  <c:v>1.8007284079084289</c:v>
                </c:pt>
                <c:pt idx="38">
                  <c:v>1.843724805159904</c:v>
                </c:pt>
                <c:pt idx="39">
                  <c:v>1.8888888888888891</c:v>
                </c:pt>
                <c:pt idx="40">
                  <c:v>1.9363688595231261</c:v>
                </c:pt>
                <c:pt idx="41">
                  <c:v>1.9863258026159341</c:v>
                </c:pt>
                <c:pt idx="42">
                  <c:v>2.038935056940598</c:v>
                </c:pt>
                <c:pt idx="43">
                  <c:v>2.0943877551020411</c:v>
                </c:pt>
                <c:pt idx="44">
                  <c:v>2.1528925619834718</c:v>
                </c:pt>
                <c:pt idx="45">
                  <c:v>2.214677640603568</c:v>
                </c:pt>
                <c:pt idx="46">
                  <c:v>2.2799928800284812</c:v>
                </c:pt>
                <c:pt idx="47">
                  <c:v>2.3491124260355041</c:v>
                </c:pt>
                <c:pt idx="48">
                  <c:v>2.4223375624759722</c:v>
                </c:pt>
                <c:pt idx="49">
                  <c:v>2.5000000000000022</c:v>
                </c:pt>
                <c:pt idx="50">
                  <c:v>2.5824656393169532</c:v>
                </c:pt>
                <c:pt idx="51">
                  <c:v>2.6701388888888911</c:v>
                </c:pt>
                <c:pt idx="52">
                  <c:v>2.7634676324128589</c:v>
                </c:pt>
                <c:pt idx="53">
                  <c:v>2.86294896030246</c:v>
                </c:pt>
                <c:pt idx="54">
                  <c:v>2.9691358024691392</c:v>
                </c:pt>
                <c:pt idx="55">
                  <c:v>3.0826446280991768</c:v>
                </c:pt>
                <c:pt idx="56">
                  <c:v>3.2041644131963261</c:v>
                </c:pt>
                <c:pt idx="57">
                  <c:v>3.3344671201814098</c:v>
                </c:pt>
                <c:pt idx="58">
                  <c:v>3.474419988102325</c:v>
                </c:pt>
                <c:pt idx="59">
                  <c:v>3.6250000000000049</c:v>
                </c:pt>
                <c:pt idx="60">
                  <c:v>3.787310979618677</c:v>
                </c:pt>
                <c:pt idx="61">
                  <c:v>3.9626038781163491</c:v>
                </c:pt>
                <c:pt idx="62">
                  <c:v>4.1523009495982537</c:v>
                </c:pt>
                <c:pt idx="63">
                  <c:v>4.3580246913580316</c:v>
                </c:pt>
                <c:pt idx="64">
                  <c:v>4.5816326530612317</c:v>
                </c:pt>
                <c:pt idx="65">
                  <c:v>4.8252595155709432</c:v>
                </c:pt>
                <c:pt idx="66">
                  <c:v>5.0913682277318744</c:v>
                </c:pt>
                <c:pt idx="67">
                  <c:v>5.3828125000000107</c:v>
                </c:pt>
                <c:pt idx="68">
                  <c:v>5.7029136316337281</c:v>
                </c:pt>
                <c:pt idx="69">
                  <c:v>6.0555555555555696</c:v>
                </c:pt>
                <c:pt idx="70">
                  <c:v>6.4453032104637504</c:v>
                </c:pt>
                <c:pt idx="71">
                  <c:v>6.8775510204081822</c:v>
                </c:pt>
                <c:pt idx="72">
                  <c:v>7.3587105624142879</c:v>
                </c:pt>
                <c:pt idx="73">
                  <c:v>7.8964497041420358</c:v>
                </c:pt>
                <c:pt idx="74">
                  <c:v>8.5000000000000284</c:v>
                </c:pt>
                <c:pt idx="75">
                  <c:v>9.1805555555555873</c:v>
                </c:pt>
                <c:pt idx="76">
                  <c:v>9.9517958412098686</c:v>
                </c:pt>
                <c:pt idx="77">
                  <c:v>10.830578512396739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07-4679-B351-E385DD33BF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407296"/>
        <c:axId val="155533312"/>
      </c:lineChart>
      <c:catAx>
        <c:axId val="1004072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Load Factor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crossAx val="155533312"/>
        <c:crosses val="autoZero"/>
        <c:auto val="1"/>
        <c:lblAlgn val="ctr"/>
        <c:lblOffset val="100"/>
        <c:noMultiLvlLbl val="0"/>
      </c:catAx>
      <c:valAx>
        <c:axId val="1555333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400"/>
                  <a:t>Average # of Probes</a:t>
                </a:r>
              </a:p>
            </c:rich>
          </c:tx>
          <c:layout>
            <c:manualLayout>
              <c:xMode val="edge"/>
              <c:yMode val="edge"/>
              <c:x val="3.05555555555556E-2"/>
              <c:y val="0.16671697287838999"/>
            </c:manualLayout>
          </c:layout>
          <c:overlay val="0"/>
        </c:title>
        <c:numFmt formatCode="0.00" sourceLinked="1"/>
        <c:majorTickMark val="none"/>
        <c:minorTickMark val="none"/>
        <c:tickLblPos val="nextTo"/>
        <c:crossAx val="10040729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6880555555555599"/>
          <c:y val="0.42073673082531299"/>
          <c:w val="0.23952777777777801"/>
          <c:h val="0.27931321084864402"/>
        </c:manualLayout>
      </c:layout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/>
              <a:t>Uniform Hashing</a:t>
            </a:r>
          </a:p>
        </c:rich>
      </c:tx>
      <c:layout>
        <c:manualLayout>
          <c:xMode val="edge"/>
          <c:yMode val="edge"/>
          <c:x val="0.32518744531933502"/>
          <c:y val="2.3148148148148098E-2"/>
        </c:manualLayout>
      </c:layout>
      <c:overlay val="0"/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'open addressing hash tables'!$F$2</c:f>
              <c:strCache>
                <c:ptCount val="1"/>
                <c:pt idx="0">
                  <c:v>uniform hashing found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'open addressing hash tables'!$A$3:$A$101</c:f>
              <c:numCache>
                <c:formatCode>0.00</c:formatCode>
                <c:ptCount val="99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0.90000000000000102</c:v>
                </c:pt>
                <c:pt idx="90">
                  <c:v>0.91000000000000103</c:v>
                </c:pt>
                <c:pt idx="91">
                  <c:v>0.92000000000000104</c:v>
                </c:pt>
                <c:pt idx="92">
                  <c:v>0.93000000000000105</c:v>
                </c:pt>
                <c:pt idx="93">
                  <c:v>0.94000000000000095</c:v>
                </c:pt>
                <c:pt idx="94">
                  <c:v>0.95000000000000095</c:v>
                </c:pt>
                <c:pt idx="95">
                  <c:v>0.96000000000000096</c:v>
                </c:pt>
                <c:pt idx="96">
                  <c:v>0.97000000000000097</c:v>
                </c:pt>
                <c:pt idx="97">
                  <c:v>0.98000000000000098</c:v>
                </c:pt>
                <c:pt idx="98">
                  <c:v>0.99000000000000099</c:v>
                </c:pt>
              </c:numCache>
            </c:numRef>
          </c:cat>
          <c:val>
            <c:numRef>
              <c:f>'open addressing hash tables'!$F$3:$F$101</c:f>
              <c:numCache>
                <c:formatCode>0.00</c:formatCode>
                <c:ptCount val="99"/>
                <c:pt idx="0">
                  <c:v>1.0050335853501511</c:v>
                </c:pt>
                <c:pt idx="1">
                  <c:v>1.010135365875974</c:v>
                </c:pt>
                <c:pt idx="2">
                  <c:v>1.015306916156955</c:v>
                </c:pt>
                <c:pt idx="3">
                  <c:v>1.0205498630063801</c:v>
                </c:pt>
                <c:pt idx="4">
                  <c:v>1.0258658877510101</c:v>
                </c:pt>
                <c:pt idx="5">
                  <c:v>1.0312567286347909</c:v>
                </c:pt>
                <c:pt idx="6">
                  <c:v>1.036724183354794</c:v>
                </c:pt>
                <c:pt idx="7">
                  <c:v>1.042270111738137</c:v>
                </c:pt>
                <c:pt idx="8">
                  <c:v>1.047896438569347</c:v>
                </c:pt>
                <c:pt idx="9">
                  <c:v>1.053605156578264</c:v>
                </c:pt>
                <c:pt idx="10">
                  <c:v>1.0593983295995599</c:v>
                </c:pt>
                <c:pt idx="11">
                  <c:v>1.065278095915708</c:v>
                </c:pt>
                <c:pt idx="12">
                  <c:v>1.0712466717962119</c:v>
                </c:pt>
                <c:pt idx="13">
                  <c:v>1.0773063552470259</c:v>
                </c:pt>
                <c:pt idx="14">
                  <c:v>1.0834595299851659</c:v>
                </c:pt>
                <c:pt idx="15">
                  <c:v>1.089708669654861</c:v>
                </c:pt>
                <c:pt idx="16">
                  <c:v>1.0960563423029031</c:v>
                </c:pt>
                <c:pt idx="17">
                  <c:v>1.1025052151324339</c:v>
                </c:pt>
                <c:pt idx="18">
                  <c:v>1.1090580595560671</c:v>
                </c:pt>
                <c:pt idx="19">
                  <c:v>1.115717756571049</c:v>
                </c:pt>
                <c:pt idx="20">
                  <c:v>1.1224873024812849</c:v>
                </c:pt>
                <c:pt idx="21">
                  <c:v>1.1293698149931799</c:v>
                </c:pt>
                <c:pt idx="22">
                  <c:v>1.136368539714816</c:v>
                </c:pt>
                <c:pt idx="23">
                  <c:v>1.143486857090668</c:v>
                </c:pt>
                <c:pt idx="24">
                  <c:v>1.1507282898071229</c:v>
                </c:pt>
                <c:pt idx="25">
                  <c:v>1.1580965107073911</c:v>
                </c:pt>
                <c:pt idx="26">
                  <c:v>1.1655953512581481</c:v>
                </c:pt>
                <c:pt idx="27">
                  <c:v>1.173228810614414</c:v>
                </c:pt>
                <c:pt idx="28">
                  <c:v>1.18100106533371</c:v>
                </c:pt>
                <c:pt idx="29">
                  <c:v>1.1889164797957741</c:v>
                </c:pt>
                <c:pt idx="30">
                  <c:v>1.1969796173897811</c:v>
                </c:pt>
                <c:pt idx="31">
                  <c:v>1.2051952525374521</c:v>
                </c:pt>
                <c:pt idx="32">
                  <c:v>1.2135683836276521</c:v>
                </c:pt>
                <c:pt idx="33">
                  <c:v>1.2221042469460759</c:v>
                </c:pt>
                <c:pt idx="34">
                  <c:v>1.230808331692727</c:v>
                </c:pt>
                <c:pt idx="35">
                  <c:v>1.2396863961900539</c:v>
                </c:pt>
                <c:pt idx="36">
                  <c:v>1.2487444853961041</c:v>
                </c:pt>
                <c:pt idx="37">
                  <c:v>1.257988949849999</c:v>
                </c:pt>
                <c:pt idx="38">
                  <c:v>1.267426466191744</c:v>
                </c:pt>
                <c:pt idx="39">
                  <c:v>1.277064059414976</c:v>
                </c:pt>
                <c:pt idx="40">
                  <c:v>1.2869091270301749</c:v>
                </c:pt>
                <c:pt idx="41">
                  <c:v>1.2969694653373141</c:v>
                </c:pt>
                <c:pt idx="42">
                  <c:v>1.307253298031491</c:v>
                </c:pt>
                <c:pt idx="43">
                  <c:v>1.3177693073930501</c:v>
                </c:pt>
                <c:pt idx="44">
                  <c:v>1.328526668345823</c:v>
                </c:pt>
                <c:pt idx="45">
                  <c:v>1.3395350857039501</c:v>
                </c:pt>
                <c:pt idx="46">
                  <c:v>1.350804834970148</c:v>
                </c:pt>
                <c:pt idx="47">
                  <c:v>1.3623468070972169</c:v>
                </c:pt>
                <c:pt idx="48">
                  <c:v>1.3741725576811541</c:v>
                </c:pt>
                <c:pt idx="49">
                  <c:v>1.386294361119891</c:v>
                </c:pt>
                <c:pt idx="50">
                  <c:v>1.39872527034797</c:v>
                </c:pt>
                <c:pt idx="51">
                  <c:v>1.4114791828465401</c:v>
                </c:pt>
                <c:pt idx="52">
                  <c:v>1.4245709137321381</c:v>
                </c:pt>
                <c:pt idx="53">
                  <c:v>1.438016276849994</c:v>
                </c:pt>
                <c:pt idx="54">
                  <c:v>1.4518321749414029</c:v>
                </c:pt>
                <c:pt idx="55">
                  <c:v>1.466036700124697</c:v>
                </c:pt>
                <c:pt idx="56">
                  <c:v>1.480649246130753</c:v>
                </c:pt>
                <c:pt idx="57">
                  <c:v>1.4956906339736611</c:v>
                </c:pt>
                <c:pt idx="58">
                  <c:v>1.511183253023362</c:v>
                </c:pt>
                <c:pt idx="59">
                  <c:v>1.527151219790259</c:v>
                </c:pt>
                <c:pt idx="60">
                  <c:v>1.5436205571449919</c:v>
                </c:pt>
                <c:pt idx="61">
                  <c:v>1.5606193971963001</c:v>
                </c:pt>
                <c:pt idx="62">
                  <c:v>1.5781782116569321</c:v>
                </c:pt>
                <c:pt idx="63">
                  <c:v>1.596330074268721</c:v>
                </c:pt>
                <c:pt idx="64">
                  <c:v>1.615110960767197</c:v>
                </c:pt>
                <c:pt idx="65">
                  <c:v>1.6345600929877731</c:v>
                </c:pt>
                <c:pt idx="66">
                  <c:v>1.6547203351068831</c:v>
                </c:pt>
                <c:pt idx="67">
                  <c:v>1.6756386517475961</c:v>
                </c:pt>
                <c:pt idx="68">
                  <c:v>1.6973666398593421</c:v>
                </c:pt>
                <c:pt idx="69">
                  <c:v>1.7199611490370521</c:v>
                </c:pt>
                <c:pt idx="70">
                  <c:v>1.7434850084529829</c:v>
                </c:pt>
                <c:pt idx="71">
                  <c:v>1.768007883073456</c:v>
                </c:pt>
                <c:pt idx="72">
                  <c:v>1.7936072876489899</c:v>
                </c:pt>
                <c:pt idx="73">
                  <c:v>1.820369794549473</c:v>
                </c:pt>
                <c:pt idx="74">
                  <c:v>1.8483924814931889</c:v>
                </c:pt>
                <c:pt idx="75">
                  <c:v>1.8777846784738781</c:v>
                </c:pt>
                <c:pt idx="76">
                  <c:v>1.90867009098564</c:v>
                </c:pt>
                <c:pt idx="77">
                  <c:v>1.941189400807406</c:v>
                </c:pt>
                <c:pt idx="78">
                  <c:v>1.9755034788160371</c:v>
                </c:pt>
                <c:pt idx="79">
                  <c:v>2.0117973905426281</c:v>
                </c:pt>
                <c:pt idx="80">
                  <c:v>2.0502854405205588</c:v>
                </c:pt>
                <c:pt idx="81">
                  <c:v>2.0912175952340588</c:v>
                </c:pt>
                <c:pt idx="82">
                  <c:v>2.1348877613637081</c:v>
                </c:pt>
                <c:pt idx="83">
                  <c:v>2.1816445997003719</c:v>
                </c:pt>
                <c:pt idx="84">
                  <c:v>2.2319058645716279</c:v>
                </c:pt>
                <c:pt idx="85">
                  <c:v>2.2861777399684131</c:v>
                </c:pt>
                <c:pt idx="86">
                  <c:v>2.3450814120994909</c:v>
                </c:pt>
                <c:pt idx="87">
                  <c:v>2.409390382045562</c:v>
                </c:pt>
                <c:pt idx="88">
                  <c:v>2.480084172123286</c:v>
                </c:pt>
                <c:pt idx="89">
                  <c:v>2.5584278811045</c:v>
                </c:pt>
                <c:pt idx="90">
                  <c:v>2.6460940754416229</c:v>
                </c:pt>
                <c:pt idx="91">
                  <c:v>2.7453572220741962</c:v>
                </c:pt>
                <c:pt idx="92">
                  <c:v>2.8594193945513822</c:v>
                </c:pt>
                <c:pt idx="93">
                  <c:v>2.9929901242128141</c:v>
                </c:pt>
                <c:pt idx="94">
                  <c:v>3.1534023932147379</c:v>
                </c:pt>
                <c:pt idx="95">
                  <c:v>3.3529956509043899</c:v>
                </c:pt>
                <c:pt idx="96">
                  <c:v>3.615008141567011</c:v>
                </c:pt>
                <c:pt idx="97">
                  <c:v>3.9918602096205871</c:v>
                </c:pt>
                <c:pt idx="98">
                  <c:v>4.6516870565536914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BE-400A-B609-B6732ED15F5B}"/>
            </c:ext>
          </c:extLst>
        </c:ser>
        <c:ser>
          <c:idx val="1"/>
          <c:order val="1"/>
          <c:tx>
            <c:strRef>
              <c:f>'open addressing hash tables'!$G$2</c:f>
              <c:strCache>
                <c:ptCount val="1"/>
                <c:pt idx="0">
                  <c:v>uniform hashing not found</c:v>
                </c:pt>
              </c:strCache>
            </c:strRef>
          </c:tx>
          <c:marker>
            <c:symbol val="none"/>
          </c:marker>
          <c:val>
            <c:numRef>
              <c:f>'open addressing hash tables'!$G$3:$G$101</c:f>
              <c:numCache>
                <c:formatCode>0.00</c:formatCode>
                <c:ptCount val="99"/>
                <c:pt idx="0">
                  <c:v>1.0101010101010099</c:v>
                </c:pt>
                <c:pt idx="1">
                  <c:v>1.0204081632653059</c:v>
                </c:pt>
                <c:pt idx="2">
                  <c:v>1.0309278350515461</c:v>
                </c:pt>
                <c:pt idx="3">
                  <c:v>1.041666666666667</c:v>
                </c:pt>
                <c:pt idx="4">
                  <c:v>1.0526315789473679</c:v>
                </c:pt>
                <c:pt idx="5">
                  <c:v>1.063829787234043</c:v>
                </c:pt>
                <c:pt idx="6">
                  <c:v>1.075268817204301</c:v>
                </c:pt>
                <c:pt idx="7">
                  <c:v>1.0869565217391299</c:v>
                </c:pt>
                <c:pt idx="8">
                  <c:v>1.098901098901099</c:v>
                </c:pt>
                <c:pt idx="9">
                  <c:v>1.1111111111111109</c:v>
                </c:pt>
                <c:pt idx="10">
                  <c:v>1.1235955056179781</c:v>
                </c:pt>
                <c:pt idx="11">
                  <c:v>1.136363636363636</c:v>
                </c:pt>
                <c:pt idx="12">
                  <c:v>1.149425287356322</c:v>
                </c:pt>
                <c:pt idx="13">
                  <c:v>1.1627906976744189</c:v>
                </c:pt>
                <c:pt idx="14">
                  <c:v>1.1764705882352939</c:v>
                </c:pt>
                <c:pt idx="15">
                  <c:v>1.19047619047619</c:v>
                </c:pt>
                <c:pt idx="16">
                  <c:v>1.2048192771084341</c:v>
                </c:pt>
                <c:pt idx="17">
                  <c:v>1.219512195121951</c:v>
                </c:pt>
                <c:pt idx="18">
                  <c:v>1.2345679012345681</c:v>
                </c:pt>
                <c:pt idx="19">
                  <c:v>1.25</c:v>
                </c:pt>
                <c:pt idx="20">
                  <c:v>1.2658227848101271</c:v>
                </c:pt>
                <c:pt idx="21">
                  <c:v>1.2820512820512819</c:v>
                </c:pt>
                <c:pt idx="22">
                  <c:v>1.2987012987012989</c:v>
                </c:pt>
                <c:pt idx="23">
                  <c:v>1.3157894736842111</c:v>
                </c:pt>
                <c:pt idx="24">
                  <c:v>1.333333333333333</c:v>
                </c:pt>
                <c:pt idx="25">
                  <c:v>1.3513513513513511</c:v>
                </c:pt>
                <c:pt idx="26">
                  <c:v>1.3698630136986301</c:v>
                </c:pt>
                <c:pt idx="27">
                  <c:v>1.3888888888888891</c:v>
                </c:pt>
                <c:pt idx="28">
                  <c:v>1.408450704225352</c:v>
                </c:pt>
                <c:pt idx="29">
                  <c:v>1.428571428571429</c:v>
                </c:pt>
                <c:pt idx="30">
                  <c:v>1.449275362318841</c:v>
                </c:pt>
                <c:pt idx="31">
                  <c:v>1.470588235294118</c:v>
                </c:pt>
                <c:pt idx="32">
                  <c:v>1.4925373134328359</c:v>
                </c:pt>
                <c:pt idx="33">
                  <c:v>1.5151515151515149</c:v>
                </c:pt>
                <c:pt idx="34">
                  <c:v>1.538461538461539</c:v>
                </c:pt>
                <c:pt idx="35">
                  <c:v>1.5625</c:v>
                </c:pt>
                <c:pt idx="36">
                  <c:v>1.5873015873015881</c:v>
                </c:pt>
                <c:pt idx="37">
                  <c:v>1.612903225806452</c:v>
                </c:pt>
                <c:pt idx="38">
                  <c:v>1.639344262295082</c:v>
                </c:pt>
                <c:pt idx="39">
                  <c:v>1.666666666666667</c:v>
                </c:pt>
                <c:pt idx="40">
                  <c:v>1.6949152542372881</c:v>
                </c:pt>
                <c:pt idx="41">
                  <c:v>1.7241379310344831</c:v>
                </c:pt>
                <c:pt idx="42">
                  <c:v>1.754385964912281</c:v>
                </c:pt>
                <c:pt idx="43">
                  <c:v>1.785714285714286</c:v>
                </c:pt>
                <c:pt idx="44">
                  <c:v>1.818181818181819</c:v>
                </c:pt>
                <c:pt idx="45">
                  <c:v>1.8518518518518521</c:v>
                </c:pt>
                <c:pt idx="46">
                  <c:v>1.8867924528301889</c:v>
                </c:pt>
                <c:pt idx="47">
                  <c:v>1.923076923076924</c:v>
                </c:pt>
                <c:pt idx="48">
                  <c:v>1.960784313725491</c:v>
                </c:pt>
                <c:pt idx="49">
                  <c:v>2.0000000000000009</c:v>
                </c:pt>
                <c:pt idx="50">
                  <c:v>2.0408163265306132</c:v>
                </c:pt>
                <c:pt idx="51">
                  <c:v>2.0833333333333339</c:v>
                </c:pt>
                <c:pt idx="52">
                  <c:v>2.127659574468086</c:v>
                </c:pt>
                <c:pt idx="53">
                  <c:v>2.1739130434782621</c:v>
                </c:pt>
                <c:pt idx="54">
                  <c:v>2.2222222222222241</c:v>
                </c:pt>
                <c:pt idx="55">
                  <c:v>2.2727272727272738</c:v>
                </c:pt>
                <c:pt idx="56">
                  <c:v>2.3255813953488391</c:v>
                </c:pt>
                <c:pt idx="57">
                  <c:v>2.3809523809523832</c:v>
                </c:pt>
                <c:pt idx="58">
                  <c:v>2.4390243902439042</c:v>
                </c:pt>
                <c:pt idx="59">
                  <c:v>2.5000000000000022</c:v>
                </c:pt>
                <c:pt idx="60">
                  <c:v>2.5641025641025661</c:v>
                </c:pt>
                <c:pt idx="61">
                  <c:v>2.631578947368423</c:v>
                </c:pt>
                <c:pt idx="62">
                  <c:v>2.7027027027027049</c:v>
                </c:pt>
                <c:pt idx="63">
                  <c:v>2.7777777777777799</c:v>
                </c:pt>
                <c:pt idx="64">
                  <c:v>2.8571428571428599</c:v>
                </c:pt>
                <c:pt idx="65">
                  <c:v>2.9411764705882391</c:v>
                </c:pt>
                <c:pt idx="66">
                  <c:v>3.0303030303030338</c:v>
                </c:pt>
                <c:pt idx="67">
                  <c:v>3.125000000000004</c:v>
                </c:pt>
                <c:pt idx="68">
                  <c:v>3.225806451612907</c:v>
                </c:pt>
                <c:pt idx="69">
                  <c:v>3.3333333333333379</c:v>
                </c:pt>
                <c:pt idx="70">
                  <c:v>3.4482758620689702</c:v>
                </c:pt>
                <c:pt idx="71">
                  <c:v>3.5714285714285769</c:v>
                </c:pt>
                <c:pt idx="72">
                  <c:v>3.703703703703709</c:v>
                </c:pt>
                <c:pt idx="73">
                  <c:v>3.846153846153852</c:v>
                </c:pt>
                <c:pt idx="74">
                  <c:v>4.0000000000000071</c:v>
                </c:pt>
                <c:pt idx="75">
                  <c:v>4.166666666666675</c:v>
                </c:pt>
                <c:pt idx="76">
                  <c:v>4.3478260869565304</c:v>
                </c:pt>
                <c:pt idx="77">
                  <c:v>4.5454545454545547</c:v>
                </c:pt>
                <c:pt idx="78">
                  <c:v>4.7619047619047716</c:v>
                </c:pt>
                <c:pt idx="79">
                  <c:v>5.0000000000000124</c:v>
                </c:pt>
                <c:pt idx="80">
                  <c:v>5.2631578947368558</c:v>
                </c:pt>
                <c:pt idx="81">
                  <c:v>5.5555555555555713</c:v>
                </c:pt>
                <c:pt idx="82">
                  <c:v>5.8823529411764888</c:v>
                </c:pt>
                <c:pt idx="83">
                  <c:v>6.2500000000000204</c:v>
                </c:pt>
                <c:pt idx="84">
                  <c:v>6.6666666666666901</c:v>
                </c:pt>
                <c:pt idx="85">
                  <c:v>7.1428571428571708</c:v>
                </c:pt>
                <c:pt idx="86">
                  <c:v>7.6923076923077236</c:v>
                </c:pt>
                <c:pt idx="87">
                  <c:v>8.333333333333373</c:v>
                </c:pt>
                <c:pt idx="88">
                  <c:v>9.0909090909091361</c:v>
                </c:pt>
                <c:pt idx="89">
                  <c:v>10.00000000000006</c:v>
                </c:pt>
                <c:pt idx="90">
                  <c:v>11.11111111111118</c:v>
                </c:pt>
                <c:pt idx="91">
                  <c:v>12.500000000000091</c:v>
                </c:pt>
                <c:pt idx="92">
                  <c:v>14.285714285714411</c:v>
                </c:pt>
                <c:pt idx="93">
                  <c:v>16.666666666666838</c:v>
                </c:pt>
                <c:pt idx="94">
                  <c:v>20.000000000000249</c:v>
                </c:pt>
                <c:pt idx="95">
                  <c:v>25.000000000000391</c:v>
                </c:pt>
                <c:pt idx="96">
                  <c:v>33.333333333334039</c:v>
                </c:pt>
                <c:pt idx="97">
                  <c:v>50.00000000000162</c:v>
                </c:pt>
                <c:pt idx="98">
                  <c:v>100.00000000000659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BE-400A-B609-B6732ED15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407808"/>
        <c:axId val="155535040"/>
      </c:lineChart>
      <c:catAx>
        <c:axId val="1004078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Load Factor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crossAx val="155535040"/>
        <c:crosses val="autoZero"/>
        <c:auto val="1"/>
        <c:lblAlgn val="ctr"/>
        <c:lblOffset val="100"/>
        <c:noMultiLvlLbl val="0"/>
      </c:catAx>
      <c:valAx>
        <c:axId val="1555350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400"/>
                  <a:t>Average # of Probes</a:t>
                </a:r>
              </a:p>
            </c:rich>
          </c:tx>
          <c:layout>
            <c:manualLayout>
              <c:xMode val="edge"/>
              <c:yMode val="edge"/>
              <c:x val="3.05555555555556E-2"/>
              <c:y val="0.16671697287838999"/>
            </c:manualLayout>
          </c:layout>
          <c:overlay val="0"/>
        </c:title>
        <c:numFmt formatCode="0.00" sourceLinked="1"/>
        <c:majorTickMark val="none"/>
        <c:minorTickMark val="none"/>
        <c:tickLblPos val="nextTo"/>
        <c:crossAx val="10040780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6351456067991499"/>
          <c:y val="0.42073673082531299"/>
          <c:w val="0.25897222222222199"/>
          <c:h val="0.27931321084864402"/>
        </c:manualLayout>
      </c:layout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/>
              <a:t>Uniform Hashing</a:t>
            </a:r>
          </a:p>
        </c:rich>
      </c:tx>
      <c:layout>
        <c:manualLayout>
          <c:xMode val="edge"/>
          <c:yMode val="edge"/>
          <c:x val="0.32518744531933502"/>
          <c:y val="2.3148148148148098E-2"/>
        </c:manualLayout>
      </c:layout>
      <c:overlay val="0"/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'open addressing hash tables'!$F$2</c:f>
              <c:strCache>
                <c:ptCount val="1"/>
                <c:pt idx="0">
                  <c:v>uniform hashing found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'open addressing hash tables'!$A$3:$A$101</c:f>
              <c:numCache>
                <c:formatCode>0.00</c:formatCode>
                <c:ptCount val="99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0.90000000000000102</c:v>
                </c:pt>
                <c:pt idx="90">
                  <c:v>0.91000000000000103</c:v>
                </c:pt>
                <c:pt idx="91">
                  <c:v>0.92000000000000104</c:v>
                </c:pt>
                <c:pt idx="92">
                  <c:v>0.93000000000000105</c:v>
                </c:pt>
                <c:pt idx="93">
                  <c:v>0.94000000000000095</c:v>
                </c:pt>
                <c:pt idx="94">
                  <c:v>0.95000000000000095</c:v>
                </c:pt>
                <c:pt idx="95">
                  <c:v>0.96000000000000096</c:v>
                </c:pt>
                <c:pt idx="96">
                  <c:v>0.97000000000000097</c:v>
                </c:pt>
                <c:pt idx="97">
                  <c:v>0.98000000000000098</c:v>
                </c:pt>
                <c:pt idx="98">
                  <c:v>0.99000000000000099</c:v>
                </c:pt>
              </c:numCache>
            </c:numRef>
          </c:cat>
          <c:val>
            <c:numRef>
              <c:f>'open addressing hash tables'!$F$3:$F$80</c:f>
              <c:numCache>
                <c:formatCode>0.00</c:formatCode>
                <c:ptCount val="78"/>
                <c:pt idx="0">
                  <c:v>1.0050335853501511</c:v>
                </c:pt>
                <c:pt idx="1">
                  <c:v>1.010135365875974</c:v>
                </c:pt>
                <c:pt idx="2">
                  <c:v>1.015306916156955</c:v>
                </c:pt>
                <c:pt idx="3">
                  <c:v>1.0205498630063801</c:v>
                </c:pt>
                <c:pt idx="4">
                  <c:v>1.0258658877510101</c:v>
                </c:pt>
                <c:pt idx="5">
                  <c:v>1.0312567286347909</c:v>
                </c:pt>
                <c:pt idx="6">
                  <c:v>1.036724183354794</c:v>
                </c:pt>
                <c:pt idx="7">
                  <c:v>1.042270111738137</c:v>
                </c:pt>
                <c:pt idx="8">
                  <c:v>1.047896438569347</c:v>
                </c:pt>
                <c:pt idx="9">
                  <c:v>1.053605156578264</c:v>
                </c:pt>
                <c:pt idx="10">
                  <c:v>1.0593983295995599</c:v>
                </c:pt>
                <c:pt idx="11">
                  <c:v>1.065278095915708</c:v>
                </c:pt>
                <c:pt idx="12">
                  <c:v>1.0712466717962119</c:v>
                </c:pt>
                <c:pt idx="13">
                  <c:v>1.0773063552470259</c:v>
                </c:pt>
                <c:pt idx="14">
                  <c:v>1.0834595299851659</c:v>
                </c:pt>
                <c:pt idx="15">
                  <c:v>1.089708669654861</c:v>
                </c:pt>
                <c:pt idx="16">
                  <c:v>1.0960563423029031</c:v>
                </c:pt>
                <c:pt idx="17">
                  <c:v>1.1025052151324339</c:v>
                </c:pt>
                <c:pt idx="18">
                  <c:v>1.1090580595560671</c:v>
                </c:pt>
                <c:pt idx="19">
                  <c:v>1.115717756571049</c:v>
                </c:pt>
                <c:pt idx="20">
                  <c:v>1.1224873024812849</c:v>
                </c:pt>
                <c:pt idx="21">
                  <c:v>1.1293698149931799</c:v>
                </c:pt>
                <c:pt idx="22">
                  <c:v>1.136368539714816</c:v>
                </c:pt>
                <c:pt idx="23">
                  <c:v>1.143486857090668</c:v>
                </c:pt>
                <c:pt idx="24">
                  <c:v>1.1507282898071229</c:v>
                </c:pt>
                <c:pt idx="25">
                  <c:v>1.1580965107073911</c:v>
                </c:pt>
                <c:pt idx="26">
                  <c:v>1.1655953512581481</c:v>
                </c:pt>
                <c:pt idx="27">
                  <c:v>1.173228810614414</c:v>
                </c:pt>
                <c:pt idx="28">
                  <c:v>1.18100106533371</c:v>
                </c:pt>
                <c:pt idx="29">
                  <c:v>1.1889164797957741</c:v>
                </c:pt>
                <c:pt idx="30">
                  <c:v>1.1969796173897811</c:v>
                </c:pt>
                <c:pt idx="31">
                  <c:v>1.2051952525374521</c:v>
                </c:pt>
                <c:pt idx="32">
                  <c:v>1.2135683836276521</c:v>
                </c:pt>
                <c:pt idx="33">
                  <c:v>1.2221042469460759</c:v>
                </c:pt>
                <c:pt idx="34">
                  <c:v>1.230808331692727</c:v>
                </c:pt>
                <c:pt idx="35">
                  <c:v>1.2396863961900539</c:v>
                </c:pt>
                <c:pt idx="36">
                  <c:v>1.2487444853961041</c:v>
                </c:pt>
                <c:pt idx="37">
                  <c:v>1.257988949849999</c:v>
                </c:pt>
                <c:pt idx="38">
                  <c:v>1.267426466191744</c:v>
                </c:pt>
                <c:pt idx="39">
                  <c:v>1.277064059414976</c:v>
                </c:pt>
                <c:pt idx="40">
                  <c:v>1.2869091270301749</c:v>
                </c:pt>
                <c:pt idx="41">
                  <c:v>1.2969694653373141</c:v>
                </c:pt>
                <c:pt idx="42">
                  <c:v>1.307253298031491</c:v>
                </c:pt>
                <c:pt idx="43">
                  <c:v>1.3177693073930501</c:v>
                </c:pt>
                <c:pt idx="44">
                  <c:v>1.328526668345823</c:v>
                </c:pt>
                <c:pt idx="45">
                  <c:v>1.3395350857039501</c:v>
                </c:pt>
                <c:pt idx="46">
                  <c:v>1.350804834970148</c:v>
                </c:pt>
                <c:pt idx="47">
                  <c:v>1.3623468070972169</c:v>
                </c:pt>
                <c:pt idx="48">
                  <c:v>1.3741725576811541</c:v>
                </c:pt>
                <c:pt idx="49">
                  <c:v>1.386294361119891</c:v>
                </c:pt>
                <c:pt idx="50">
                  <c:v>1.39872527034797</c:v>
                </c:pt>
                <c:pt idx="51">
                  <c:v>1.4114791828465401</c:v>
                </c:pt>
                <c:pt idx="52">
                  <c:v>1.4245709137321381</c:v>
                </c:pt>
                <c:pt idx="53">
                  <c:v>1.438016276849994</c:v>
                </c:pt>
                <c:pt idx="54">
                  <c:v>1.4518321749414029</c:v>
                </c:pt>
                <c:pt idx="55">
                  <c:v>1.466036700124697</c:v>
                </c:pt>
                <c:pt idx="56">
                  <c:v>1.480649246130753</c:v>
                </c:pt>
                <c:pt idx="57">
                  <c:v>1.4956906339736611</c:v>
                </c:pt>
                <c:pt idx="58">
                  <c:v>1.511183253023362</c:v>
                </c:pt>
                <c:pt idx="59">
                  <c:v>1.527151219790259</c:v>
                </c:pt>
                <c:pt idx="60">
                  <c:v>1.5436205571449919</c:v>
                </c:pt>
                <c:pt idx="61">
                  <c:v>1.5606193971963001</c:v>
                </c:pt>
                <c:pt idx="62">
                  <c:v>1.5781782116569321</c:v>
                </c:pt>
                <c:pt idx="63">
                  <c:v>1.596330074268721</c:v>
                </c:pt>
                <c:pt idx="64">
                  <c:v>1.615110960767197</c:v>
                </c:pt>
                <c:pt idx="65">
                  <c:v>1.6345600929877731</c:v>
                </c:pt>
                <c:pt idx="66">
                  <c:v>1.6547203351068831</c:v>
                </c:pt>
                <c:pt idx="67">
                  <c:v>1.6756386517475961</c:v>
                </c:pt>
                <c:pt idx="68">
                  <c:v>1.6973666398593421</c:v>
                </c:pt>
                <c:pt idx="69">
                  <c:v>1.7199611490370521</c:v>
                </c:pt>
                <c:pt idx="70">
                  <c:v>1.7434850084529829</c:v>
                </c:pt>
                <c:pt idx="71">
                  <c:v>1.768007883073456</c:v>
                </c:pt>
                <c:pt idx="72">
                  <c:v>1.7936072876489899</c:v>
                </c:pt>
                <c:pt idx="73">
                  <c:v>1.820369794549473</c:v>
                </c:pt>
                <c:pt idx="74">
                  <c:v>1.8483924814931889</c:v>
                </c:pt>
                <c:pt idx="75">
                  <c:v>1.8777846784738781</c:v>
                </c:pt>
                <c:pt idx="76">
                  <c:v>1.90867009098564</c:v>
                </c:pt>
                <c:pt idx="77">
                  <c:v>1.941189400807406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C5-466C-9EA2-39759242439A}"/>
            </c:ext>
          </c:extLst>
        </c:ser>
        <c:ser>
          <c:idx val="1"/>
          <c:order val="1"/>
          <c:tx>
            <c:strRef>
              <c:f>'open addressing hash tables'!$G$2</c:f>
              <c:strCache>
                <c:ptCount val="1"/>
                <c:pt idx="0">
                  <c:v>uniform hashing not found</c:v>
                </c:pt>
              </c:strCache>
            </c:strRef>
          </c:tx>
          <c:marker>
            <c:symbol val="none"/>
          </c:marker>
          <c:val>
            <c:numRef>
              <c:f>'open addressing hash tables'!$G$3:$G$80</c:f>
              <c:numCache>
                <c:formatCode>0.00</c:formatCode>
                <c:ptCount val="78"/>
                <c:pt idx="0">
                  <c:v>1.0101010101010099</c:v>
                </c:pt>
                <c:pt idx="1">
                  <c:v>1.0204081632653059</c:v>
                </c:pt>
                <c:pt idx="2">
                  <c:v>1.0309278350515461</c:v>
                </c:pt>
                <c:pt idx="3">
                  <c:v>1.041666666666667</c:v>
                </c:pt>
                <c:pt idx="4">
                  <c:v>1.0526315789473679</c:v>
                </c:pt>
                <c:pt idx="5">
                  <c:v>1.063829787234043</c:v>
                </c:pt>
                <c:pt idx="6">
                  <c:v>1.075268817204301</c:v>
                </c:pt>
                <c:pt idx="7">
                  <c:v>1.0869565217391299</c:v>
                </c:pt>
                <c:pt idx="8">
                  <c:v>1.098901098901099</c:v>
                </c:pt>
                <c:pt idx="9">
                  <c:v>1.1111111111111109</c:v>
                </c:pt>
                <c:pt idx="10">
                  <c:v>1.1235955056179781</c:v>
                </c:pt>
                <c:pt idx="11">
                  <c:v>1.136363636363636</c:v>
                </c:pt>
                <c:pt idx="12">
                  <c:v>1.149425287356322</c:v>
                </c:pt>
                <c:pt idx="13">
                  <c:v>1.1627906976744189</c:v>
                </c:pt>
                <c:pt idx="14">
                  <c:v>1.1764705882352939</c:v>
                </c:pt>
                <c:pt idx="15">
                  <c:v>1.19047619047619</c:v>
                </c:pt>
                <c:pt idx="16">
                  <c:v>1.2048192771084341</c:v>
                </c:pt>
                <c:pt idx="17">
                  <c:v>1.219512195121951</c:v>
                </c:pt>
                <c:pt idx="18">
                  <c:v>1.2345679012345681</c:v>
                </c:pt>
                <c:pt idx="19">
                  <c:v>1.25</c:v>
                </c:pt>
                <c:pt idx="20">
                  <c:v>1.2658227848101271</c:v>
                </c:pt>
                <c:pt idx="21">
                  <c:v>1.2820512820512819</c:v>
                </c:pt>
                <c:pt idx="22">
                  <c:v>1.2987012987012989</c:v>
                </c:pt>
                <c:pt idx="23">
                  <c:v>1.3157894736842111</c:v>
                </c:pt>
                <c:pt idx="24">
                  <c:v>1.333333333333333</c:v>
                </c:pt>
                <c:pt idx="25">
                  <c:v>1.3513513513513511</c:v>
                </c:pt>
                <c:pt idx="26">
                  <c:v>1.3698630136986301</c:v>
                </c:pt>
                <c:pt idx="27">
                  <c:v>1.3888888888888891</c:v>
                </c:pt>
                <c:pt idx="28">
                  <c:v>1.408450704225352</c:v>
                </c:pt>
                <c:pt idx="29">
                  <c:v>1.428571428571429</c:v>
                </c:pt>
                <c:pt idx="30">
                  <c:v>1.449275362318841</c:v>
                </c:pt>
                <c:pt idx="31">
                  <c:v>1.470588235294118</c:v>
                </c:pt>
                <c:pt idx="32">
                  <c:v>1.4925373134328359</c:v>
                </c:pt>
                <c:pt idx="33">
                  <c:v>1.5151515151515149</c:v>
                </c:pt>
                <c:pt idx="34">
                  <c:v>1.538461538461539</c:v>
                </c:pt>
                <c:pt idx="35">
                  <c:v>1.5625</c:v>
                </c:pt>
                <c:pt idx="36">
                  <c:v>1.5873015873015881</c:v>
                </c:pt>
                <c:pt idx="37">
                  <c:v>1.612903225806452</c:v>
                </c:pt>
                <c:pt idx="38">
                  <c:v>1.639344262295082</c:v>
                </c:pt>
                <c:pt idx="39">
                  <c:v>1.666666666666667</c:v>
                </c:pt>
                <c:pt idx="40">
                  <c:v>1.6949152542372881</c:v>
                </c:pt>
                <c:pt idx="41">
                  <c:v>1.7241379310344831</c:v>
                </c:pt>
                <c:pt idx="42">
                  <c:v>1.754385964912281</c:v>
                </c:pt>
                <c:pt idx="43">
                  <c:v>1.785714285714286</c:v>
                </c:pt>
                <c:pt idx="44">
                  <c:v>1.818181818181819</c:v>
                </c:pt>
                <c:pt idx="45">
                  <c:v>1.8518518518518521</c:v>
                </c:pt>
                <c:pt idx="46">
                  <c:v>1.8867924528301889</c:v>
                </c:pt>
                <c:pt idx="47">
                  <c:v>1.923076923076924</c:v>
                </c:pt>
                <c:pt idx="48">
                  <c:v>1.960784313725491</c:v>
                </c:pt>
                <c:pt idx="49">
                  <c:v>2.0000000000000009</c:v>
                </c:pt>
                <c:pt idx="50">
                  <c:v>2.0408163265306132</c:v>
                </c:pt>
                <c:pt idx="51">
                  <c:v>2.0833333333333339</c:v>
                </c:pt>
                <c:pt idx="52">
                  <c:v>2.127659574468086</c:v>
                </c:pt>
                <c:pt idx="53">
                  <c:v>2.1739130434782621</c:v>
                </c:pt>
                <c:pt idx="54">
                  <c:v>2.2222222222222241</c:v>
                </c:pt>
                <c:pt idx="55">
                  <c:v>2.2727272727272738</c:v>
                </c:pt>
                <c:pt idx="56">
                  <c:v>2.3255813953488391</c:v>
                </c:pt>
                <c:pt idx="57">
                  <c:v>2.3809523809523832</c:v>
                </c:pt>
                <c:pt idx="58">
                  <c:v>2.4390243902439042</c:v>
                </c:pt>
                <c:pt idx="59">
                  <c:v>2.5000000000000022</c:v>
                </c:pt>
                <c:pt idx="60">
                  <c:v>2.5641025641025661</c:v>
                </c:pt>
                <c:pt idx="61">
                  <c:v>2.631578947368423</c:v>
                </c:pt>
                <c:pt idx="62">
                  <c:v>2.7027027027027049</c:v>
                </c:pt>
                <c:pt idx="63">
                  <c:v>2.7777777777777799</c:v>
                </c:pt>
                <c:pt idx="64">
                  <c:v>2.8571428571428599</c:v>
                </c:pt>
                <c:pt idx="65">
                  <c:v>2.9411764705882391</c:v>
                </c:pt>
                <c:pt idx="66">
                  <c:v>3.0303030303030338</c:v>
                </c:pt>
                <c:pt idx="67">
                  <c:v>3.125000000000004</c:v>
                </c:pt>
                <c:pt idx="68">
                  <c:v>3.225806451612907</c:v>
                </c:pt>
                <c:pt idx="69">
                  <c:v>3.3333333333333379</c:v>
                </c:pt>
                <c:pt idx="70">
                  <c:v>3.4482758620689702</c:v>
                </c:pt>
                <c:pt idx="71">
                  <c:v>3.5714285714285769</c:v>
                </c:pt>
                <c:pt idx="72">
                  <c:v>3.703703703703709</c:v>
                </c:pt>
                <c:pt idx="73">
                  <c:v>3.846153846153852</c:v>
                </c:pt>
                <c:pt idx="74">
                  <c:v>4.0000000000000071</c:v>
                </c:pt>
                <c:pt idx="75">
                  <c:v>4.166666666666675</c:v>
                </c:pt>
                <c:pt idx="76">
                  <c:v>4.3478260869565304</c:v>
                </c:pt>
                <c:pt idx="77">
                  <c:v>4.5454545454545547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C5-466C-9EA2-3975924243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408832"/>
        <c:axId val="155536768"/>
      </c:lineChart>
      <c:catAx>
        <c:axId val="10040883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Load Factor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crossAx val="155536768"/>
        <c:crosses val="autoZero"/>
        <c:auto val="1"/>
        <c:lblAlgn val="ctr"/>
        <c:lblOffset val="100"/>
        <c:noMultiLvlLbl val="0"/>
      </c:catAx>
      <c:valAx>
        <c:axId val="15553676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400"/>
                  <a:t>Average # of Probes</a:t>
                </a:r>
              </a:p>
            </c:rich>
          </c:tx>
          <c:layout>
            <c:manualLayout>
              <c:xMode val="edge"/>
              <c:yMode val="edge"/>
              <c:x val="3.05555555555556E-2"/>
              <c:y val="0.16671697287838999"/>
            </c:manualLayout>
          </c:layout>
          <c:overlay val="0"/>
        </c:title>
        <c:numFmt formatCode="0.00" sourceLinked="1"/>
        <c:majorTickMark val="none"/>
        <c:minorTickMark val="none"/>
        <c:tickLblPos val="nextTo"/>
        <c:crossAx val="10040883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6880555555555699"/>
          <c:y val="0.42073673082531299"/>
          <c:w val="0.29569531562791901"/>
          <c:h val="0.27931321084864402"/>
        </c:manualLayout>
      </c:layout>
      <c:overlay val="0"/>
    </c:legend>
    <c:plotVisOnly val="1"/>
    <c:dispBlanksAs val="zero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574" y="1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r">
              <a:defRPr sz="1100"/>
            </a:lvl1pPr>
          </a:lstStyle>
          <a:p>
            <a:fld id="{52039197-9A5D-4426-8BE1-7E0DB9D27619}" type="datetimeFigureOut">
              <a:rPr lang="en-US" smtClean="0"/>
              <a:pPr/>
              <a:t>2/22/2017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8276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574" y="8758276"/>
            <a:ext cx="3005121" cy="460400"/>
          </a:xfrm>
          <a:prstGeom prst="rect">
            <a:avLst/>
          </a:prstGeom>
        </p:spPr>
        <p:txBody>
          <a:bodyPr vert="horz" lIns="87316" tIns="43658" rIns="87316" bIns="43658" rtlCol="0" anchor="b"/>
          <a:lstStyle>
            <a:lvl1pPr algn="r">
              <a:defRPr sz="1100"/>
            </a:lvl1pPr>
          </a:lstStyle>
          <a:p>
            <a:fld id="{C77A13E8-25B5-4ABF-A87C-CEC207C206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726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775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420" y="4379595"/>
            <a:ext cx="5547360" cy="41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775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</a:defRPr>
            </a:lvl1pPr>
          </a:lstStyle>
          <a:p>
            <a:fld id="{C142CCA2-2949-4325-A78A-A7C3B63D73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598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8F1B0D3-FDB0-4762-8500-37FE58FC14A1}" type="datetime1">
              <a:rPr lang="en-US" smtClean="0"/>
              <a:pPr/>
              <a:t>2/22/2017</a:t>
            </a:fld>
            <a:endParaRPr lang="en-US" smtClean="0"/>
          </a:p>
        </p:txBody>
      </p:sp>
      <p:sp>
        <p:nvSpPr>
          <p:cNvPr id="419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E09A4F-FB9C-49DE-B82D-BDED7039EE79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2542" y="4379901"/>
            <a:ext cx="5086284" cy="4148175"/>
          </a:xfrm>
          <a:noFill/>
          <a:ln/>
        </p:spPr>
        <p:txBody>
          <a:bodyPr/>
          <a:lstStyle/>
          <a:p>
            <a:r>
              <a:rPr lang="en-US" dirty="0" smtClean="0"/>
              <a:t>LL: O(1), O(n), O(n)</a:t>
            </a:r>
          </a:p>
          <a:p>
            <a:r>
              <a:rPr lang="en-US" dirty="0" err="1" smtClean="0"/>
              <a:t>Uns</a:t>
            </a:r>
            <a:r>
              <a:rPr lang="en-US" dirty="0" smtClean="0"/>
              <a:t>: O(1), O(n), O(n)</a:t>
            </a:r>
          </a:p>
          <a:p>
            <a:r>
              <a:rPr lang="en-US" dirty="0" smtClean="0"/>
              <a:t>Sorted: O(n), O(log n), O(n)</a:t>
            </a:r>
          </a:p>
          <a:p>
            <a:r>
              <a:rPr lang="en-US" b="1" dirty="0" smtClean="0"/>
              <a:t>Sorted array is oh-so-close</a:t>
            </a:r>
            <a:r>
              <a:rPr lang="en-US" dirty="0" smtClean="0"/>
              <a:t>. O(log n) find time and almost O(log n) insert time. What’s wrong?</a:t>
            </a:r>
          </a:p>
          <a:p>
            <a:r>
              <a:rPr lang="en-US" dirty="0" smtClean="0"/>
              <a:t>Let’s look at how that search goes:</a:t>
            </a:r>
          </a:p>
          <a:p>
            <a:r>
              <a:rPr lang="en-US" dirty="0" smtClean="0"/>
              <a:t>Draw recursive calls (and potential recursive calls) in binary search. </a:t>
            </a:r>
          </a:p>
          <a:p>
            <a:r>
              <a:rPr lang="en-US" dirty="0" smtClean="0"/>
              <a:t>Note how it starts looking like a binary tree where the left </a:t>
            </a:r>
            <a:r>
              <a:rPr lang="en-US" dirty="0" err="1" smtClean="0"/>
              <a:t>subtrees</a:t>
            </a:r>
            <a:r>
              <a:rPr lang="en-US" dirty="0" smtClean="0"/>
              <a:t> have smaller elements and the right </a:t>
            </a:r>
            <a:r>
              <a:rPr lang="en-US" dirty="0" err="1" smtClean="0"/>
              <a:t>subtrees</a:t>
            </a:r>
            <a:r>
              <a:rPr lang="en-US" dirty="0" smtClean="0"/>
              <a:t> have bigger elements.</a:t>
            </a:r>
          </a:p>
          <a:p>
            <a:r>
              <a:rPr lang="en-US" dirty="0" smtClean="0"/>
              <a:t>What if we could store the whole thing in the structure this recursive search is building?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66</a:t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67</a:t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71</a:t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72</a:t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75</a:t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77</a:t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79</a:t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81</a:t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82</a:t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83</a:t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85</a:t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86</a:t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87</a:t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88</a:t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89</a:t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90</a:t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pPr/>
              <a:t>91</a:t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953398-020E-49F6-A3FF-55E48C551883}" type="slidenum">
              <a:rPr lang="en-CA" altLang="en-US"/>
              <a:pPr/>
              <a:t>92</a:t>
            </a:fld>
            <a:endParaRPr lang="en-CA" altLang="en-US"/>
          </a:p>
        </p:txBody>
      </p:sp>
      <p:sp>
        <p:nvSpPr>
          <p:cNvPr id="70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243136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1C0711-A296-470A-8B26-27DBADE08912}" type="slidenum">
              <a:rPr lang="en-CA" altLang="en-US"/>
              <a:pPr/>
              <a:t>93</a:t>
            </a:fld>
            <a:endParaRPr lang="en-CA" altLang="en-US"/>
          </a:p>
        </p:txBody>
      </p:sp>
      <p:sp>
        <p:nvSpPr>
          <p:cNvPr id="70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64400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3F3A12-CD42-4B46-8E8B-18576DC65653}" type="slidenum">
              <a:rPr lang="en-CA" altLang="en-US"/>
              <a:pPr/>
              <a:t>94</a:t>
            </a:fld>
            <a:endParaRPr lang="en-CA" altLang="en-US"/>
          </a:p>
        </p:txBody>
      </p:sp>
      <p:sp>
        <p:nvSpPr>
          <p:cNvPr id="70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00125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0AC3BF-D659-47E6-A346-FAB496385372}" type="slidenum">
              <a:rPr lang="en-CA" altLang="en-US"/>
              <a:pPr/>
              <a:t>95</a:t>
            </a:fld>
            <a:endParaRPr lang="en-CA" altLang="en-US"/>
          </a:p>
        </p:txBody>
      </p:sp>
      <p:sp>
        <p:nvSpPr>
          <p:cNvPr id="71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311529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6909E0-DD8A-4058-BC9E-FBD098206F5A}" type="slidenum">
              <a:rPr lang="en-CA" altLang="en-US"/>
              <a:pPr/>
              <a:t>96</a:t>
            </a:fld>
            <a:endParaRPr lang="en-CA" altLang="en-US"/>
          </a:p>
        </p:txBody>
      </p:sp>
      <p:sp>
        <p:nvSpPr>
          <p:cNvPr id="71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55538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3132CF-560D-42A6-A888-D6CE4A3FA9CE}" type="slidenum">
              <a:rPr lang="en-CA" altLang="en-US"/>
              <a:pPr/>
              <a:t>97</a:t>
            </a:fld>
            <a:endParaRPr lang="en-CA" alt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04564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CD77DB-0EAD-4D9E-8256-FAA2359B146F}" type="slidenum">
              <a:rPr lang="en-CA" altLang="en-US"/>
              <a:pPr/>
              <a:t>98</a:t>
            </a:fld>
            <a:endParaRPr lang="en-CA" altLang="en-US"/>
          </a:p>
        </p:txBody>
      </p:sp>
      <p:sp>
        <p:nvSpPr>
          <p:cNvPr id="71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49029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D997B-811F-4B84-84A9-C04D8853C879}" type="slidenum">
              <a:rPr lang="en-CA" altLang="en-US"/>
              <a:pPr/>
              <a:t>99</a:t>
            </a:fld>
            <a:endParaRPr lang="en-CA" altLang="en-US"/>
          </a:p>
        </p:txBody>
      </p:sp>
      <p:sp>
        <p:nvSpPr>
          <p:cNvPr id="71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220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A49B-9135-41BD-AAE4-FA2724C23958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C70DDA-19C0-4075-BC45-42A41CDDB8FB}" type="datetime1">
              <a:rPr lang="en-US" smtClean="0"/>
              <a:t>2/22/2017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883048-0376-4A94-A445-C2F5CD3FC3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3BAEFF-43D2-4942-90C1-6B7F7B02C22F}" type="datetime1">
              <a:rPr lang="en-US" smtClean="0"/>
              <a:t>2/22/2017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EA12F5-03B5-4BEE-BF40-7EC1D15EBE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CF8FCC-37F2-400E-8052-171A974B7B05}" type="datetime1">
              <a:rPr lang="en-US" smtClean="0"/>
              <a:t>2/22/2017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FCB40-9664-45B5-BAA8-170CAD3533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86D29-97E7-42C6-939F-567BA6B0AFD9}" type="datetime1">
              <a:rPr lang="en-US" smtClean="0"/>
              <a:t>2/22/2017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D69B1-7287-44D7-BAC9-82A718B312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2A52D5-9740-4248-83EE-9D2427E778F7}" type="datetime1">
              <a:rPr lang="en-US" smtClean="0"/>
              <a:t>2/22/2017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CE0B5-4587-46C9-88FF-288BD15E32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3E0081-9188-4C0B-A1A2-4A86A2F5EFDA}" type="datetime1">
              <a:rPr lang="en-US" smtClean="0"/>
              <a:t>2/22/2017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7DB5F-D2ED-41DB-B30F-B019AB82D7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4CBC8D-C8BC-4917-919A-C7D23162157A}" type="datetime1">
              <a:rPr lang="en-US" smtClean="0"/>
              <a:t>2/22/2017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2279E5-AC96-4A1A-8381-1C3686D400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9F02BA-E1C1-46D1-B7B1-AF92D45373CB}" type="datetime1">
              <a:rPr lang="en-US" smtClean="0"/>
              <a:t>2/22/2017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E115C0-909B-4E1C-9E6E-04B3E91035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AF6410-2887-4183-836D-6C04630D0B66}" type="datetime1">
              <a:rPr lang="en-US" smtClean="0"/>
              <a:t>2/22/2017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82AAE3-B489-4A15-89C7-18993943A3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fld id="{BDAB799F-599F-4C82-9187-CBEB2CC42BAD}" type="datetime1">
              <a:rPr lang="en-US" smtClean="0"/>
              <a:t>2/22/2017</a:t>
            </a:fld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4008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3B048AC8-D41E-4C7B-8EE3-A52489AA1F0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/>
  <p:hf hdr="0" ftr="0"/>
  <p:txStyles>
    <p:titleStyle>
      <a:lvl1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25.xml"/><Relationship Id="rId7" Type="http://schemas.openxmlformats.org/officeDocument/2006/relationships/image" Target="../media/image1.wmf"/><Relationship Id="rId2" Type="http://schemas.openxmlformats.org/officeDocument/2006/relationships/tags" Target="../tags/tag2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3" Type="http://schemas.openxmlformats.org/officeDocument/2006/relationships/tags" Target="../tags/tag3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notesSlide" Target="../notesSlides/notesSlide28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notesSlide" Target="../notesSlides/notesSlide29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tags" Target="../tags/tag79.xml"/><Relationship Id="rId3" Type="http://schemas.openxmlformats.org/officeDocument/2006/relationships/tags" Target="../tags/tag64.xml"/><Relationship Id="rId21" Type="http://schemas.openxmlformats.org/officeDocument/2006/relationships/tags" Target="../tags/tag82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tags" Target="../tags/tag78.xml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20" Type="http://schemas.openxmlformats.org/officeDocument/2006/relationships/tags" Target="../tags/tag81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23" Type="http://schemas.openxmlformats.org/officeDocument/2006/relationships/notesSlide" Target="../notesSlides/notesSlide30.xml"/><Relationship Id="rId10" Type="http://schemas.openxmlformats.org/officeDocument/2006/relationships/tags" Target="../tags/tag71.xml"/><Relationship Id="rId19" Type="http://schemas.openxmlformats.org/officeDocument/2006/relationships/tags" Target="../tags/tag80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Relationship Id="rId22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tags" Target="../tags/tag108.xml"/><Relationship Id="rId3" Type="http://schemas.openxmlformats.org/officeDocument/2006/relationships/tags" Target="../tags/tag85.xml"/><Relationship Id="rId21" Type="http://schemas.openxmlformats.org/officeDocument/2006/relationships/tags" Target="../tags/tag103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tags" Target="../tags/tag107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tags" Target="../tags/tag106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tags" Target="../tags/tag105.xml"/><Relationship Id="rId28" Type="http://schemas.openxmlformats.org/officeDocument/2006/relationships/notesSlide" Target="../notesSlides/notesSlide31.xml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tags" Target="../tags/tag104.xml"/><Relationship Id="rId27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tags" Target="../tags/tag121.xml"/><Relationship Id="rId18" Type="http://schemas.openxmlformats.org/officeDocument/2006/relationships/tags" Target="../tags/tag126.xml"/><Relationship Id="rId26" Type="http://schemas.openxmlformats.org/officeDocument/2006/relationships/tags" Target="../tags/tag134.xml"/><Relationship Id="rId39" Type="http://schemas.openxmlformats.org/officeDocument/2006/relationships/notesSlide" Target="../notesSlides/notesSlide33.xml"/><Relationship Id="rId21" Type="http://schemas.openxmlformats.org/officeDocument/2006/relationships/tags" Target="../tags/tag129.xml"/><Relationship Id="rId34" Type="http://schemas.openxmlformats.org/officeDocument/2006/relationships/tags" Target="../tags/tag142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tags" Target="../tags/tag125.xml"/><Relationship Id="rId25" Type="http://schemas.openxmlformats.org/officeDocument/2006/relationships/tags" Target="../tags/tag133.xml"/><Relationship Id="rId33" Type="http://schemas.openxmlformats.org/officeDocument/2006/relationships/tags" Target="../tags/tag141.xml"/><Relationship Id="rId38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6" Type="http://schemas.openxmlformats.org/officeDocument/2006/relationships/tags" Target="../tags/tag124.xml"/><Relationship Id="rId20" Type="http://schemas.openxmlformats.org/officeDocument/2006/relationships/tags" Target="../tags/tag128.xml"/><Relationship Id="rId29" Type="http://schemas.openxmlformats.org/officeDocument/2006/relationships/tags" Target="../tags/tag137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24" Type="http://schemas.openxmlformats.org/officeDocument/2006/relationships/tags" Target="../tags/tag132.xml"/><Relationship Id="rId32" Type="http://schemas.openxmlformats.org/officeDocument/2006/relationships/tags" Target="../tags/tag140.xml"/><Relationship Id="rId37" Type="http://schemas.openxmlformats.org/officeDocument/2006/relationships/tags" Target="../tags/tag145.xml"/><Relationship Id="rId5" Type="http://schemas.openxmlformats.org/officeDocument/2006/relationships/tags" Target="../tags/tag113.xml"/><Relationship Id="rId15" Type="http://schemas.openxmlformats.org/officeDocument/2006/relationships/tags" Target="../tags/tag123.xml"/><Relationship Id="rId23" Type="http://schemas.openxmlformats.org/officeDocument/2006/relationships/tags" Target="../tags/tag131.xml"/><Relationship Id="rId28" Type="http://schemas.openxmlformats.org/officeDocument/2006/relationships/tags" Target="../tags/tag136.xml"/><Relationship Id="rId36" Type="http://schemas.openxmlformats.org/officeDocument/2006/relationships/tags" Target="../tags/tag144.xml"/><Relationship Id="rId10" Type="http://schemas.openxmlformats.org/officeDocument/2006/relationships/tags" Target="../tags/tag118.xml"/><Relationship Id="rId19" Type="http://schemas.openxmlformats.org/officeDocument/2006/relationships/tags" Target="../tags/tag127.xml"/><Relationship Id="rId31" Type="http://schemas.openxmlformats.org/officeDocument/2006/relationships/tags" Target="../tags/tag139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Relationship Id="rId22" Type="http://schemas.openxmlformats.org/officeDocument/2006/relationships/tags" Target="../tags/tag130.xml"/><Relationship Id="rId27" Type="http://schemas.openxmlformats.org/officeDocument/2006/relationships/tags" Target="../tags/tag135.xml"/><Relationship Id="rId30" Type="http://schemas.openxmlformats.org/officeDocument/2006/relationships/tags" Target="../tags/tag138.xml"/><Relationship Id="rId35" Type="http://schemas.openxmlformats.org/officeDocument/2006/relationships/tags" Target="../tags/tag143.xml"/><Relationship Id="rId8" Type="http://schemas.openxmlformats.org/officeDocument/2006/relationships/tags" Target="../tags/tag116.xml"/><Relationship Id="rId3" Type="http://schemas.openxmlformats.org/officeDocument/2006/relationships/tags" Target="../tags/tag1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7" Type="http://schemas.openxmlformats.org/officeDocument/2006/relationships/image" Target="../media/image4.wmf"/><Relationship Id="rId2" Type="http://schemas.openxmlformats.org/officeDocument/2006/relationships/tags" Target="../tags/tag14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49.xml"/><Relationship Id="rId7" Type="http://schemas.openxmlformats.org/officeDocument/2006/relationships/image" Target="../media/image4.wmf"/><Relationship Id="rId2" Type="http://schemas.openxmlformats.org/officeDocument/2006/relationships/tags" Target="../tags/tag14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7" Type="http://schemas.openxmlformats.org/officeDocument/2006/relationships/image" Target="../media/image4.wmf"/><Relationship Id="rId2" Type="http://schemas.openxmlformats.org/officeDocument/2006/relationships/tags" Target="../tags/tag150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7" Type="http://schemas.openxmlformats.org/officeDocument/2006/relationships/image" Target="../media/image4.wmf"/><Relationship Id="rId2" Type="http://schemas.openxmlformats.org/officeDocument/2006/relationships/tags" Target="../tags/tag15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tags" Target="../tags/tag162.xml"/><Relationship Id="rId7" Type="http://schemas.openxmlformats.org/officeDocument/2006/relationships/image" Target="../media/image6.wmf"/><Relationship Id="rId2" Type="http://schemas.openxmlformats.org/officeDocument/2006/relationships/tags" Target="../tags/tag16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7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4" Type="http://schemas.openxmlformats.org/officeDocument/2006/relationships/notesSlide" Target="../notesSlides/notesSlide4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4" Type="http://schemas.openxmlformats.org/officeDocument/2006/relationships/notesSlide" Target="../notesSlides/notesSlide5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4" Type="http://schemas.openxmlformats.org/officeDocument/2006/relationships/notesSlide" Target="../notesSlides/notesSlide5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4" Type="http://schemas.openxmlformats.org/officeDocument/2006/relationships/notesSlide" Target="../notesSlides/notesSlide5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notesSlide" Target="../notesSlides/notesSlide5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notesSlide" Target="../notesSlides/notesSlide5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4" Type="http://schemas.openxmlformats.org/officeDocument/2006/relationships/notesSlide" Target="../notesSlides/notesSlide5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4" Type="http://schemas.openxmlformats.org/officeDocument/2006/relationships/notesSlide" Target="../notesSlides/notesSlide5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4" Type="http://schemas.openxmlformats.org/officeDocument/2006/relationships/notesSlide" Target="../notesSlides/notesSlide5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4" Type="http://schemas.openxmlformats.org/officeDocument/2006/relationships/notesSlide" Target="../notesSlides/notesSlide5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4" Type="http://schemas.openxmlformats.org/officeDocument/2006/relationships/notesSlide" Target="../notesSlides/notesSlide5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4" Type="http://schemas.openxmlformats.org/officeDocument/2006/relationships/notesSlide" Target="../notesSlides/notesSlide6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notesSlide" Target="../notesSlides/notesSlide6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190.xml"/><Relationship Id="rId7" Type="http://schemas.openxmlformats.org/officeDocument/2006/relationships/image" Target="../media/image8.wmf"/><Relationship Id="rId2" Type="http://schemas.openxmlformats.org/officeDocument/2006/relationships/tags" Target="../tags/tag189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66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r>
              <a:rPr lang="en-US" dirty="0" smtClean="0"/>
              <a:t>Motivating Hash Tables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12954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For a </a:t>
            </a:r>
            <a:r>
              <a:rPr lang="en-US" b="1" dirty="0" smtClean="0"/>
              <a:t>dictionary</a:t>
            </a:r>
            <a:r>
              <a:rPr lang="en-US" dirty="0" smtClean="0"/>
              <a:t> with </a:t>
            </a:r>
            <a:r>
              <a:rPr lang="en-US" i="1" dirty="0" smtClean="0"/>
              <a:t>n</a:t>
            </a:r>
            <a:r>
              <a:rPr lang="en-US" dirty="0" smtClean="0"/>
              <a:t>  key, value pairs</a:t>
            </a:r>
          </a:p>
          <a:p>
            <a:pPr>
              <a:buNone/>
            </a:pPr>
            <a:endParaRPr lang="en-US" sz="1600" dirty="0" smtClean="0"/>
          </a:p>
          <a:p>
            <a:pPr lvl="4">
              <a:buNone/>
            </a:pPr>
            <a:r>
              <a:rPr lang="en-US" dirty="0" smtClean="0"/>
              <a:t>		  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insert   find    delete</a:t>
            </a:r>
          </a:p>
          <a:p>
            <a:r>
              <a:rPr lang="en-US" dirty="0" smtClean="0"/>
              <a:t>Unsorted linked-list           </a:t>
            </a:r>
            <a:r>
              <a:rPr lang="en-US" i="1" dirty="0" smtClean="0"/>
              <a:t>O</a:t>
            </a:r>
            <a:r>
              <a:rPr lang="en-US" dirty="0" smtClean="0"/>
              <a:t>(1)     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      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</a:t>
            </a:r>
          </a:p>
          <a:p>
            <a:r>
              <a:rPr lang="en-US" dirty="0" smtClean="0"/>
              <a:t>Unsorted array                  </a:t>
            </a:r>
            <a:r>
              <a:rPr lang="en-US" i="1" dirty="0" smtClean="0"/>
              <a:t>O</a:t>
            </a:r>
            <a:r>
              <a:rPr lang="en-US" dirty="0" smtClean="0"/>
              <a:t>(1)     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      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</a:t>
            </a:r>
          </a:p>
          <a:p>
            <a:r>
              <a:rPr lang="en-US" dirty="0" smtClean="0"/>
              <a:t>Sorted linked list          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    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      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</a:t>
            </a:r>
          </a:p>
          <a:p>
            <a:r>
              <a:rPr lang="en-US" dirty="0" smtClean="0"/>
              <a:t>Sorted array                     </a:t>
            </a:r>
            <a:r>
              <a:rPr lang="en-US" sz="1000" dirty="0" smtClean="0"/>
              <a:t>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    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log</a:t>
            </a:r>
            <a:r>
              <a:rPr lang="en-US" dirty="0" smtClean="0"/>
              <a:t> </a:t>
            </a:r>
            <a:r>
              <a:rPr lang="en-US" i="1" dirty="0" smtClean="0"/>
              <a:t>n</a:t>
            </a:r>
            <a:r>
              <a:rPr lang="en-US" dirty="0" smtClean="0"/>
              <a:t>)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</a:t>
            </a:r>
          </a:p>
          <a:p>
            <a:r>
              <a:rPr lang="en-US" i="1" dirty="0" smtClean="0">
                <a:solidFill>
                  <a:schemeClr val="accent2"/>
                </a:solidFill>
              </a:rPr>
              <a:t>Balanced</a:t>
            </a:r>
            <a:r>
              <a:rPr lang="en-US" dirty="0" smtClean="0"/>
              <a:t>  tree	  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log</a:t>
            </a:r>
            <a:r>
              <a:rPr lang="en-US" dirty="0" smtClean="0"/>
              <a:t> 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dirty="0" smtClean="0"/>
              <a:t>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log</a:t>
            </a:r>
            <a:r>
              <a:rPr lang="en-US" dirty="0" smtClean="0"/>
              <a:t> 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dirty="0" smtClean="0"/>
              <a:t>    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log</a:t>
            </a:r>
            <a:r>
              <a:rPr lang="en-US" dirty="0" smtClean="0"/>
              <a:t> </a:t>
            </a:r>
            <a:r>
              <a:rPr lang="en-US" i="1" dirty="0" smtClean="0"/>
              <a:t>n</a:t>
            </a:r>
            <a:r>
              <a:rPr lang="en-US" dirty="0" smtClean="0"/>
              <a:t>)</a:t>
            </a:r>
          </a:p>
          <a:p>
            <a:r>
              <a:rPr lang="en-US" dirty="0" smtClean="0">
                <a:solidFill>
                  <a:srgbClr val="119F33"/>
                </a:solidFill>
              </a:rPr>
              <a:t>Magic array                      </a:t>
            </a:r>
            <a:r>
              <a:rPr lang="en-US" i="1" dirty="0" smtClean="0">
                <a:solidFill>
                  <a:srgbClr val="119F33"/>
                </a:solidFill>
              </a:rPr>
              <a:t>O</a:t>
            </a:r>
            <a:r>
              <a:rPr lang="en-US" dirty="0" smtClean="0">
                <a:solidFill>
                  <a:srgbClr val="119F33"/>
                </a:solidFill>
              </a:rPr>
              <a:t>(1)           </a:t>
            </a:r>
            <a:r>
              <a:rPr lang="en-US" i="1" dirty="0" smtClean="0">
                <a:solidFill>
                  <a:srgbClr val="119F33"/>
                </a:solidFill>
              </a:rPr>
              <a:t>O</a:t>
            </a:r>
            <a:r>
              <a:rPr lang="en-US" dirty="0" smtClean="0">
                <a:solidFill>
                  <a:srgbClr val="119F33"/>
                </a:solidFill>
              </a:rPr>
              <a:t>(1)            </a:t>
            </a:r>
            <a:r>
              <a:rPr lang="en-US" i="1" dirty="0" smtClean="0">
                <a:solidFill>
                  <a:srgbClr val="119F33"/>
                </a:solidFill>
              </a:rPr>
              <a:t>O</a:t>
            </a:r>
            <a:r>
              <a:rPr lang="en-US" dirty="0" smtClean="0">
                <a:solidFill>
                  <a:srgbClr val="119F33"/>
                </a:solidFill>
              </a:rPr>
              <a:t>(1</a:t>
            </a:r>
            <a:r>
              <a:rPr lang="en-US" dirty="0">
                <a:solidFill>
                  <a:srgbClr val="119F33"/>
                </a:solidFill>
              </a:rPr>
              <a:t>)</a:t>
            </a:r>
            <a:endParaRPr lang="en-US" dirty="0" smtClean="0">
              <a:solidFill>
                <a:srgbClr val="119F33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Sufficient “magic”: </a:t>
            </a:r>
          </a:p>
          <a:p>
            <a:pPr lvl="1"/>
            <a:r>
              <a:rPr lang="en-US" dirty="0" smtClean="0"/>
              <a:t>Use key to compute array index for an item in </a:t>
            </a:r>
            <a:r>
              <a:rPr lang="en-US" i="1" dirty="0" smtClean="0"/>
              <a:t>O</a:t>
            </a:r>
            <a:r>
              <a:rPr lang="en-US" dirty="0" smtClean="0"/>
              <a:t>(1) time [doable]</a:t>
            </a:r>
          </a:p>
          <a:p>
            <a:pPr lvl="1"/>
            <a:r>
              <a:rPr lang="en-US" dirty="0" smtClean="0"/>
              <a:t>Have a different index for every item [magic]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                               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6152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4800600"/>
            <a:ext cx="2209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DA10-842F-4F30-AF22-653885B2752F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1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467600" cy="4495800"/>
          </a:xfrm>
        </p:spPr>
        <p:txBody>
          <a:bodyPr/>
          <a:lstStyle/>
          <a:p>
            <a:r>
              <a:rPr lang="en-US" dirty="0" smtClean="0"/>
              <a:t>Aim for constant-time (i.e., </a:t>
            </a:r>
            <a:r>
              <a:rPr lang="en-US" i="1" dirty="0" smtClean="0"/>
              <a:t>O</a:t>
            </a:r>
            <a:r>
              <a:rPr lang="en-US" dirty="0" smtClean="0"/>
              <a:t>(1))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find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insert</a:t>
            </a:r>
            <a:r>
              <a:rPr lang="en-US" dirty="0" smtClean="0"/>
              <a:t>, and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delete</a:t>
            </a:r>
            <a:endParaRPr lang="en-US" dirty="0" smtClean="0"/>
          </a:p>
          <a:p>
            <a:pPr lvl="1"/>
            <a:r>
              <a:rPr lang="en-US" dirty="0" smtClean="0"/>
              <a:t>“On average” under some often-reasonable </a:t>
            </a:r>
            <a:r>
              <a:rPr lang="en-US" dirty="0" smtClean="0">
                <a:solidFill>
                  <a:schemeClr val="accent2"/>
                </a:solidFill>
              </a:rPr>
              <a:t>assumptions</a:t>
            </a:r>
          </a:p>
          <a:p>
            <a:pPr lvl="1"/>
            <a:endParaRPr lang="en-US" sz="1000" dirty="0" smtClean="0"/>
          </a:p>
          <a:p>
            <a:r>
              <a:rPr lang="en-US" dirty="0" smtClean="0"/>
              <a:t>A hash table is an array of some fixed size</a:t>
            </a:r>
          </a:p>
          <a:p>
            <a:endParaRPr lang="en-US" sz="1000" dirty="0" smtClean="0"/>
          </a:p>
          <a:p>
            <a:endParaRPr lang="en-US" dirty="0" smtClean="0"/>
          </a:p>
          <a:p>
            <a:r>
              <a:rPr lang="en-US" dirty="0" smtClean="0"/>
              <a:t>Basic idea: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89AFE-8138-4114-8071-97B368C48B89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reeform 4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1320800" y="4038600"/>
            <a:ext cx="2946400" cy="1733550"/>
          </a:xfrm>
          <a:custGeom>
            <a:avLst/>
            <a:gdLst/>
            <a:ahLst/>
            <a:cxnLst>
              <a:cxn ang="0">
                <a:pos x="982" y="68"/>
              </a:cxn>
              <a:cxn ang="0">
                <a:pos x="598" y="68"/>
              </a:cxn>
              <a:cxn ang="0">
                <a:pos x="534" y="90"/>
              </a:cxn>
              <a:cxn ang="0">
                <a:pos x="502" y="100"/>
              </a:cxn>
              <a:cxn ang="0">
                <a:pos x="353" y="175"/>
              </a:cxn>
              <a:cxn ang="0">
                <a:pos x="182" y="303"/>
              </a:cxn>
              <a:cxn ang="0">
                <a:pos x="129" y="367"/>
              </a:cxn>
              <a:cxn ang="0">
                <a:pos x="76" y="463"/>
              </a:cxn>
              <a:cxn ang="0">
                <a:pos x="1" y="719"/>
              </a:cxn>
              <a:cxn ang="0">
                <a:pos x="12" y="836"/>
              </a:cxn>
              <a:cxn ang="0">
                <a:pos x="86" y="858"/>
              </a:cxn>
              <a:cxn ang="0">
                <a:pos x="321" y="879"/>
              </a:cxn>
              <a:cxn ang="0">
                <a:pos x="353" y="900"/>
              </a:cxn>
              <a:cxn ang="0">
                <a:pos x="374" y="964"/>
              </a:cxn>
              <a:cxn ang="0">
                <a:pos x="353" y="1071"/>
              </a:cxn>
              <a:cxn ang="0">
                <a:pos x="257" y="1231"/>
              </a:cxn>
              <a:cxn ang="0">
                <a:pos x="204" y="1348"/>
              </a:cxn>
              <a:cxn ang="0">
                <a:pos x="332" y="1604"/>
              </a:cxn>
              <a:cxn ang="0">
                <a:pos x="460" y="1594"/>
              </a:cxn>
              <a:cxn ang="0">
                <a:pos x="588" y="1530"/>
              </a:cxn>
              <a:cxn ang="0">
                <a:pos x="716" y="1455"/>
              </a:cxn>
              <a:cxn ang="0">
                <a:pos x="844" y="1498"/>
              </a:cxn>
              <a:cxn ang="0">
                <a:pos x="886" y="1594"/>
              </a:cxn>
              <a:cxn ang="0">
                <a:pos x="993" y="1956"/>
              </a:cxn>
              <a:cxn ang="0">
                <a:pos x="1249" y="1914"/>
              </a:cxn>
              <a:cxn ang="0">
                <a:pos x="1302" y="1871"/>
              </a:cxn>
              <a:cxn ang="0">
                <a:pos x="1324" y="1839"/>
              </a:cxn>
              <a:cxn ang="0">
                <a:pos x="1356" y="1818"/>
              </a:cxn>
              <a:cxn ang="0">
                <a:pos x="1473" y="1306"/>
              </a:cxn>
              <a:cxn ang="0">
                <a:pos x="1398" y="911"/>
              </a:cxn>
              <a:cxn ang="0">
                <a:pos x="1345" y="836"/>
              </a:cxn>
              <a:cxn ang="0">
                <a:pos x="1302" y="751"/>
              </a:cxn>
              <a:cxn ang="0">
                <a:pos x="1270" y="634"/>
              </a:cxn>
              <a:cxn ang="0">
                <a:pos x="1345" y="356"/>
              </a:cxn>
              <a:cxn ang="0">
                <a:pos x="1345" y="143"/>
              </a:cxn>
              <a:cxn ang="0">
                <a:pos x="1217" y="58"/>
              </a:cxn>
              <a:cxn ang="0">
                <a:pos x="1153" y="36"/>
              </a:cxn>
              <a:cxn ang="0">
                <a:pos x="982" y="68"/>
              </a:cxn>
            </a:cxnLst>
            <a:rect l="0" t="0" r="r" b="b"/>
            <a:pathLst>
              <a:path w="1473" h="1959">
                <a:moveTo>
                  <a:pt x="982" y="68"/>
                </a:moveTo>
                <a:cubicBezTo>
                  <a:pt x="876" y="15"/>
                  <a:pt x="715" y="60"/>
                  <a:pt x="598" y="68"/>
                </a:cubicBezTo>
                <a:cubicBezTo>
                  <a:pt x="577" y="75"/>
                  <a:pt x="555" y="83"/>
                  <a:pt x="534" y="90"/>
                </a:cubicBezTo>
                <a:cubicBezTo>
                  <a:pt x="523" y="94"/>
                  <a:pt x="502" y="100"/>
                  <a:pt x="502" y="100"/>
                </a:cubicBezTo>
                <a:cubicBezTo>
                  <a:pt x="381" y="182"/>
                  <a:pt x="500" y="108"/>
                  <a:pt x="353" y="175"/>
                </a:cubicBezTo>
                <a:cubicBezTo>
                  <a:pt x="287" y="205"/>
                  <a:pt x="241" y="264"/>
                  <a:pt x="182" y="303"/>
                </a:cubicBezTo>
                <a:cubicBezTo>
                  <a:pt x="130" y="382"/>
                  <a:pt x="197" y="285"/>
                  <a:pt x="129" y="367"/>
                </a:cubicBezTo>
                <a:cubicBezTo>
                  <a:pt x="105" y="396"/>
                  <a:pt x="97" y="432"/>
                  <a:pt x="76" y="463"/>
                </a:cubicBezTo>
                <a:cubicBezTo>
                  <a:pt x="54" y="550"/>
                  <a:pt x="16" y="629"/>
                  <a:pt x="1" y="719"/>
                </a:cubicBezTo>
                <a:cubicBezTo>
                  <a:pt x="5" y="758"/>
                  <a:pt x="0" y="799"/>
                  <a:pt x="12" y="836"/>
                </a:cubicBezTo>
                <a:cubicBezTo>
                  <a:pt x="13" y="840"/>
                  <a:pt x="68" y="853"/>
                  <a:pt x="86" y="858"/>
                </a:cubicBezTo>
                <a:cubicBezTo>
                  <a:pt x="195" y="889"/>
                  <a:pt x="34" y="863"/>
                  <a:pt x="321" y="879"/>
                </a:cubicBezTo>
                <a:cubicBezTo>
                  <a:pt x="332" y="886"/>
                  <a:pt x="346" y="889"/>
                  <a:pt x="353" y="900"/>
                </a:cubicBezTo>
                <a:cubicBezTo>
                  <a:pt x="365" y="919"/>
                  <a:pt x="374" y="964"/>
                  <a:pt x="374" y="964"/>
                </a:cubicBezTo>
                <a:cubicBezTo>
                  <a:pt x="371" y="987"/>
                  <a:pt x="368" y="1044"/>
                  <a:pt x="353" y="1071"/>
                </a:cubicBezTo>
                <a:cubicBezTo>
                  <a:pt x="322" y="1126"/>
                  <a:pt x="287" y="1177"/>
                  <a:pt x="257" y="1231"/>
                </a:cubicBezTo>
                <a:cubicBezTo>
                  <a:pt x="235" y="1271"/>
                  <a:pt x="229" y="1310"/>
                  <a:pt x="204" y="1348"/>
                </a:cubicBezTo>
                <a:cubicBezTo>
                  <a:pt x="212" y="1485"/>
                  <a:pt x="191" y="1571"/>
                  <a:pt x="332" y="1604"/>
                </a:cubicBezTo>
                <a:cubicBezTo>
                  <a:pt x="375" y="1601"/>
                  <a:pt x="418" y="1600"/>
                  <a:pt x="460" y="1594"/>
                </a:cubicBezTo>
                <a:cubicBezTo>
                  <a:pt x="508" y="1588"/>
                  <a:pt x="541" y="1545"/>
                  <a:pt x="588" y="1530"/>
                </a:cubicBezTo>
                <a:cubicBezTo>
                  <a:pt x="623" y="1495"/>
                  <a:pt x="668" y="1471"/>
                  <a:pt x="716" y="1455"/>
                </a:cubicBezTo>
                <a:cubicBezTo>
                  <a:pt x="772" y="1463"/>
                  <a:pt x="806" y="1460"/>
                  <a:pt x="844" y="1498"/>
                </a:cubicBezTo>
                <a:cubicBezTo>
                  <a:pt x="855" y="1533"/>
                  <a:pt x="875" y="1559"/>
                  <a:pt x="886" y="1594"/>
                </a:cubicBezTo>
                <a:cubicBezTo>
                  <a:pt x="894" y="1728"/>
                  <a:pt x="871" y="1876"/>
                  <a:pt x="993" y="1956"/>
                </a:cubicBezTo>
                <a:cubicBezTo>
                  <a:pt x="1285" y="1941"/>
                  <a:pt x="1104" y="1959"/>
                  <a:pt x="1249" y="1914"/>
                </a:cubicBezTo>
                <a:cubicBezTo>
                  <a:pt x="1307" y="1825"/>
                  <a:pt x="1231" y="1928"/>
                  <a:pt x="1302" y="1871"/>
                </a:cubicBezTo>
                <a:cubicBezTo>
                  <a:pt x="1312" y="1863"/>
                  <a:pt x="1315" y="1848"/>
                  <a:pt x="1324" y="1839"/>
                </a:cubicBezTo>
                <a:cubicBezTo>
                  <a:pt x="1333" y="1830"/>
                  <a:pt x="1345" y="1825"/>
                  <a:pt x="1356" y="1818"/>
                </a:cubicBezTo>
                <a:cubicBezTo>
                  <a:pt x="1466" y="1650"/>
                  <a:pt x="1423" y="1499"/>
                  <a:pt x="1473" y="1306"/>
                </a:cubicBezTo>
                <a:cubicBezTo>
                  <a:pt x="1466" y="1156"/>
                  <a:pt x="1470" y="1037"/>
                  <a:pt x="1398" y="911"/>
                </a:cubicBezTo>
                <a:cubicBezTo>
                  <a:pt x="1326" y="785"/>
                  <a:pt x="1399" y="935"/>
                  <a:pt x="1345" y="836"/>
                </a:cubicBezTo>
                <a:cubicBezTo>
                  <a:pt x="1330" y="808"/>
                  <a:pt x="1302" y="751"/>
                  <a:pt x="1302" y="751"/>
                </a:cubicBezTo>
                <a:cubicBezTo>
                  <a:pt x="1293" y="711"/>
                  <a:pt x="1280" y="673"/>
                  <a:pt x="1270" y="634"/>
                </a:cubicBezTo>
                <a:cubicBezTo>
                  <a:pt x="1279" y="537"/>
                  <a:pt x="1290" y="439"/>
                  <a:pt x="1345" y="356"/>
                </a:cubicBezTo>
                <a:cubicBezTo>
                  <a:pt x="1356" y="285"/>
                  <a:pt x="1372" y="215"/>
                  <a:pt x="1345" y="143"/>
                </a:cubicBezTo>
                <a:cubicBezTo>
                  <a:pt x="1322" y="82"/>
                  <a:pt x="1267" y="75"/>
                  <a:pt x="1217" y="58"/>
                </a:cubicBezTo>
                <a:cubicBezTo>
                  <a:pt x="1196" y="51"/>
                  <a:pt x="1153" y="36"/>
                  <a:pt x="1153" y="36"/>
                </a:cubicBezTo>
                <a:cubicBezTo>
                  <a:pt x="985" y="48"/>
                  <a:pt x="1018" y="0"/>
                  <a:pt x="982" y="68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97400" y="4978400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9" name="Group 8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705600" y="3170535"/>
          <a:ext cx="1524000" cy="316992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Box 8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67400" y="5943600"/>
            <a:ext cx="1857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dirty="0" err="1"/>
              <a:t>TableSize</a:t>
            </a:r>
            <a:r>
              <a:rPr lang="en-US" sz="2000" dirty="0"/>
              <a:t> –1 </a:t>
            </a:r>
          </a:p>
        </p:txBody>
      </p:sp>
      <p:sp>
        <p:nvSpPr>
          <p:cNvPr id="11" name="Text Box 8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16546" y="3958064"/>
            <a:ext cx="207620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 anchorCtr="1">
            <a:spAutoFit/>
          </a:bodyPr>
          <a:lstStyle/>
          <a:p>
            <a:pPr algn="ctr"/>
            <a:r>
              <a:rPr lang="en-US" dirty="0"/>
              <a:t>hash function: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index = </a:t>
            </a:r>
            <a:r>
              <a:rPr lang="en-US" b="1" dirty="0" smtClean="0">
                <a:solidFill>
                  <a:srgbClr val="C00000"/>
                </a:solidFill>
              </a:rPr>
              <a:t>h(key)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" name="Text Box 8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96100" y="2662535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hash table</a:t>
            </a:r>
          </a:p>
        </p:txBody>
      </p:sp>
      <p:sp>
        <p:nvSpPr>
          <p:cNvPr id="13" name="Text Box 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21152" y="5867400"/>
            <a:ext cx="369844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key space (e.g., integers, strings)</a:t>
            </a:r>
          </a:p>
        </p:txBody>
      </p:sp>
    </p:spTree>
    <p:extLst>
      <p:ext uri="{BB962C8B-B14F-4D97-AF65-F5344CB8AC3E}">
        <p14:creationId xmlns:p14="http://schemas.microsoft.com/office/powerpoint/2010/main" val="313562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Tables vs. Balanced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382000" cy="4495800"/>
          </a:xfrm>
        </p:spPr>
        <p:txBody>
          <a:bodyPr/>
          <a:lstStyle/>
          <a:p>
            <a:r>
              <a:rPr lang="en-US" dirty="0" smtClean="0"/>
              <a:t>In terms of a Dictionary ADT for just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insert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find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delete</a:t>
            </a:r>
            <a:r>
              <a:rPr lang="en-US" dirty="0" smtClean="0"/>
              <a:t>, hash tables and balanced trees are just different data structures</a:t>
            </a:r>
          </a:p>
          <a:p>
            <a:pPr lvl="1"/>
            <a:r>
              <a:rPr lang="en-US" dirty="0" smtClean="0"/>
              <a:t>Hash tables </a:t>
            </a:r>
            <a:r>
              <a:rPr lang="en-US" i="1" dirty="0" smtClean="0"/>
              <a:t>O</a:t>
            </a:r>
            <a:r>
              <a:rPr lang="en-US" dirty="0" smtClean="0"/>
              <a:t>(1) on average (</a:t>
            </a:r>
            <a:r>
              <a:rPr lang="en-US" i="1" dirty="0" smtClean="0"/>
              <a:t>assuming</a:t>
            </a:r>
            <a:r>
              <a:rPr lang="en-US" dirty="0" smtClean="0"/>
              <a:t> few </a:t>
            </a:r>
            <a:r>
              <a:rPr lang="en-US" i="1" dirty="0" smtClean="0"/>
              <a:t>collisions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Balanced trees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log</a:t>
            </a:r>
            <a:r>
              <a:rPr lang="en-US" dirty="0" smtClean="0"/>
              <a:t> </a:t>
            </a:r>
            <a:r>
              <a:rPr lang="en-US" i="1" dirty="0" smtClean="0"/>
              <a:t>n</a:t>
            </a:r>
            <a:r>
              <a:rPr lang="en-US" dirty="0" smtClean="0"/>
              <a:t>) worst-case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Constant-time is better, right?</a:t>
            </a:r>
          </a:p>
          <a:p>
            <a:pPr lvl="1"/>
            <a:r>
              <a:rPr lang="en-US" dirty="0" smtClean="0"/>
              <a:t>Yes, but you need “hashing to behave” (must avoid collisions)</a:t>
            </a:r>
          </a:p>
          <a:p>
            <a:pPr lvl="1"/>
            <a:r>
              <a:rPr lang="en-US" dirty="0" smtClean="0"/>
              <a:t>Yes, but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findMin</a:t>
            </a:r>
            <a:r>
              <a:rPr lang="en-US" dirty="0" smtClean="0"/>
              <a:t>,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findMax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predecessor</a:t>
            </a:r>
            <a:r>
              <a:rPr lang="en-US" dirty="0" smtClean="0"/>
              <a:t>, and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successor</a:t>
            </a:r>
            <a:r>
              <a:rPr lang="en-US" dirty="0" smtClean="0"/>
              <a:t>  go from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log</a:t>
            </a:r>
            <a:r>
              <a:rPr lang="en-US" dirty="0" smtClean="0"/>
              <a:t> </a:t>
            </a:r>
            <a:r>
              <a:rPr lang="en-US" i="1" dirty="0" smtClean="0"/>
              <a:t>n</a:t>
            </a:r>
            <a:r>
              <a:rPr lang="en-US" dirty="0" smtClean="0"/>
              <a:t>) to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),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printSorted</a:t>
            </a:r>
            <a:r>
              <a:rPr lang="en-US" b="1" dirty="0" smtClean="0">
                <a:latin typeface="+mj-lt"/>
                <a:cs typeface="Courier New" pitchFamily="49" charset="0"/>
              </a:rPr>
              <a:t> </a:t>
            </a:r>
            <a:r>
              <a:rPr lang="en-US" dirty="0" smtClean="0"/>
              <a:t>from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/>
              <a:t>to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log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) </a:t>
            </a:r>
            <a:endParaRPr lang="en-US" dirty="0" smtClean="0"/>
          </a:p>
          <a:p>
            <a:pPr lvl="2"/>
            <a:r>
              <a:rPr lang="en-US" dirty="0" smtClean="0"/>
              <a:t>Why your textbook considers this to be a different ADT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3994-5F43-4E7F-98A4-B030A6F3D9D4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54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572000"/>
          </a:xfrm>
        </p:spPr>
        <p:txBody>
          <a:bodyPr/>
          <a:lstStyle/>
          <a:p>
            <a:r>
              <a:rPr lang="en-US" dirty="0" smtClean="0"/>
              <a:t>There are </a:t>
            </a:r>
            <a:r>
              <a:rPr lang="en-US" i="1" dirty="0" smtClean="0"/>
              <a:t>m</a:t>
            </a:r>
            <a:r>
              <a:rPr lang="en-US" dirty="0" smtClean="0"/>
              <a:t> possible keys (</a:t>
            </a:r>
            <a:r>
              <a:rPr lang="en-US" i="1" dirty="0" smtClean="0"/>
              <a:t>m</a:t>
            </a:r>
            <a:r>
              <a:rPr lang="en-US" dirty="0" smtClean="0"/>
              <a:t> typically large, even infinite) </a:t>
            </a:r>
          </a:p>
          <a:p>
            <a:r>
              <a:rPr lang="en-US" dirty="0" smtClean="0"/>
              <a:t>We expect our table to have only </a:t>
            </a:r>
            <a:r>
              <a:rPr lang="en-US" i="1" dirty="0" smtClean="0"/>
              <a:t>n</a:t>
            </a:r>
            <a:r>
              <a:rPr lang="en-US" dirty="0" smtClean="0"/>
              <a:t> items </a:t>
            </a:r>
          </a:p>
          <a:p>
            <a:r>
              <a:rPr lang="en-US" i="1" dirty="0" smtClean="0"/>
              <a:t>n</a:t>
            </a:r>
            <a:r>
              <a:rPr lang="en-US" dirty="0" smtClean="0"/>
              <a:t> is much less than </a:t>
            </a:r>
            <a:r>
              <a:rPr lang="en-US" i="1" dirty="0" smtClean="0"/>
              <a:t>m</a:t>
            </a:r>
            <a:r>
              <a:rPr lang="en-US" dirty="0" smtClean="0"/>
              <a:t> (often written </a:t>
            </a:r>
            <a:r>
              <a:rPr lang="en-US" i="1" dirty="0" smtClean="0"/>
              <a:t>n</a:t>
            </a:r>
            <a:r>
              <a:rPr lang="en-US" dirty="0" smtClean="0"/>
              <a:t> &lt;&lt; </a:t>
            </a:r>
            <a:r>
              <a:rPr lang="en-US" i="1" dirty="0" smtClean="0"/>
              <a:t>m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Many dictionaries have this property</a:t>
            </a:r>
          </a:p>
          <a:p>
            <a:pPr>
              <a:buNone/>
            </a:pPr>
            <a:endParaRPr lang="en-US" sz="1000" dirty="0" smtClean="0"/>
          </a:p>
          <a:p>
            <a:pPr lvl="1"/>
            <a:r>
              <a:rPr lang="en-US" dirty="0" smtClean="0"/>
              <a:t>Compiler: All possible identifiers allowed by the language vs. those used in some file of one program</a:t>
            </a:r>
          </a:p>
          <a:p>
            <a:pPr lvl="1"/>
            <a:endParaRPr lang="en-US" sz="1000" dirty="0" smtClean="0"/>
          </a:p>
          <a:p>
            <a:pPr lvl="1"/>
            <a:r>
              <a:rPr lang="en-US" dirty="0" smtClean="0"/>
              <a:t>Database: All possible student names vs. students enrolled</a:t>
            </a:r>
          </a:p>
          <a:p>
            <a:pPr lvl="1"/>
            <a:endParaRPr lang="en-US" sz="1000" dirty="0" smtClean="0"/>
          </a:p>
          <a:p>
            <a:pPr lvl="1"/>
            <a:r>
              <a:rPr lang="en-US" dirty="0" smtClean="0"/>
              <a:t>AI: All possible chess-board configurations vs. those considered by the current player</a:t>
            </a:r>
          </a:p>
          <a:p>
            <a:pPr lvl="1"/>
            <a:endParaRPr lang="en-US" sz="1000" dirty="0" smtClean="0"/>
          </a:p>
          <a:p>
            <a:pPr lvl="1"/>
            <a:r>
              <a:rPr lang="en-US" dirty="0" smtClean="0"/>
              <a:t>…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C05E-B5CF-48D0-ADC7-B831B5F293AF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29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19050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An ideal hash function:</a:t>
            </a:r>
          </a:p>
          <a:p>
            <a:r>
              <a:rPr lang="en-US" dirty="0" smtClean="0"/>
              <a:t>Fast to compute</a:t>
            </a:r>
          </a:p>
          <a:p>
            <a:r>
              <a:rPr lang="en-US" dirty="0" smtClean="0"/>
              <a:t>“Rarely” hashes two “used” keys to the same index</a:t>
            </a:r>
          </a:p>
          <a:p>
            <a:pPr lvl="1"/>
            <a:r>
              <a:rPr lang="en-US" dirty="0" smtClean="0"/>
              <a:t>Often impossible in theory but easy in practice</a:t>
            </a:r>
          </a:p>
          <a:p>
            <a:pPr lvl="1"/>
            <a:r>
              <a:rPr lang="en-US" dirty="0" smtClean="0"/>
              <a:t>Will handle </a:t>
            </a:r>
            <a:r>
              <a:rPr lang="en-US" i="1" dirty="0" smtClean="0"/>
              <a:t>collisions</a:t>
            </a:r>
            <a:r>
              <a:rPr lang="en-US" dirty="0" smtClean="0"/>
              <a:t> in next lecture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F3EF-E183-4A0D-90F4-CC74014A17C9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reeform 4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1320800" y="4038600"/>
            <a:ext cx="2946400" cy="1733550"/>
          </a:xfrm>
          <a:custGeom>
            <a:avLst/>
            <a:gdLst/>
            <a:ahLst/>
            <a:cxnLst>
              <a:cxn ang="0">
                <a:pos x="982" y="68"/>
              </a:cxn>
              <a:cxn ang="0">
                <a:pos x="598" y="68"/>
              </a:cxn>
              <a:cxn ang="0">
                <a:pos x="534" y="90"/>
              </a:cxn>
              <a:cxn ang="0">
                <a:pos x="502" y="100"/>
              </a:cxn>
              <a:cxn ang="0">
                <a:pos x="353" y="175"/>
              </a:cxn>
              <a:cxn ang="0">
                <a:pos x="182" y="303"/>
              </a:cxn>
              <a:cxn ang="0">
                <a:pos x="129" y="367"/>
              </a:cxn>
              <a:cxn ang="0">
                <a:pos x="76" y="463"/>
              </a:cxn>
              <a:cxn ang="0">
                <a:pos x="1" y="719"/>
              </a:cxn>
              <a:cxn ang="0">
                <a:pos x="12" y="836"/>
              </a:cxn>
              <a:cxn ang="0">
                <a:pos x="86" y="858"/>
              </a:cxn>
              <a:cxn ang="0">
                <a:pos x="321" y="879"/>
              </a:cxn>
              <a:cxn ang="0">
                <a:pos x="353" y="900"/>
              </a:cxn>
              <a:cxn ang="0">
                <a:pos x="374" y="964"/>
              </a:cxn>
              <a:cxn ang="0">
                <a:pos x="353" y="1071"/>
              </a:cxn>
              <a:cxn ang="0">
                <a:pos x="257" y="1231"/>
              </a:cxn>
              <a:cxn ang="0">
                <a:pos x="204" y="1348"/>
              </a:cxn>
              <a:cxn ang="0">
                <a:pos x="332" y="1604"/>
              </a:cxn>
              <a:cxn ang="0">
                <a:pos x="460" y="1594"/>
              </a:cxn>
              <a:cxn ang="0">
                <a:pos x="588" y="1530"/>
              </a:cxn>
              <a:cxn ang="0">
                <a:pos x="716" y="1455"/>
              </a:cxn>
              <a:cxn ang="0">
                <a:pos x="844" y="1498"/>
              </a:cxn>
              <a:cxn ang="0">
                <a:pos x="886" y="1594"/>
              </a:cxn>
              <a:cxn ang="0">
                <a:pos x="993" y="1956"/>
              </a:cxn>
              <a:cxn ang="0">
                <a:pos x="1249" y="1914"/>
              </a:cxn>
              <a:cxn ang="0">
                <a:pos x="1302" y="1871"/>
              </a:cxn>
              <a:cxn ang="0">
                <a:pos x="1324" y="1839"/>
              </a:cxn>
              <a:cxn ang="0">
                <a:pos x="1356" y="1818"/>
              </a:cxn>
              <a:cxn ang="0">
                <a:pos x="1473" y="1306"/>
              </a:cxn>
              <a:cxn ang="0">
                <a:pos x="1398" y="911"/>
              </a:cxn>
              <a:cxn ang="0">
                <a:pos x="1345" y="836"/>
              </a:cxn>
              <a:cxn ang="0">
                <a:pos x="1302" y="751"/>
              </a:cxn>
              <a:cxn ang="0">
                <a:pos x="1270" y="634"/>
              </a:cxn>
              <a:cxn ang="0">
                <a:pos x="1345" y="356"/>
              </a:cxn>
              <a:cxn ang="0">
                <a:pos x="1345" y="143"/>
              </a:cxn>
              <a:cxn ang="0">
                <a:pos x="1217" y="58"/>
              </a:cxn>
              <a:cxn ang="0">
                <a:pos x="1153" y="36"/>
              </a:cxn>
              <a:cxn ang="0">
                <a:pos x="982" y="68"/>
              </a:cxn>
            </a:cxnLst>
            <a:rect l="0" t="0" r="r" b="b"/>
            <a:pathLst>
              <a:path w="1473" h="1959">
                <a:moveTo>
                  <a:pt x="982" y="68"/>
                </a:moveTo>
                <a:cubicBezTo>
                  <a:pt x="876" y="15"/>
                  <a:pt x="715" y="60"/>
                  <a:pt x="598" y="68"/>
                </a:cubicBezTo>
                <a:cubicBezTo>
                  <a:pt x="577" y="75"/>
                  <a:pt x="555" y="83"/>
                  <a:pt x="534" y="90"/>
                </a:cubicBezTo>
                <a:cubicBezTo>
                  <a:pt x="523" y="94"/>
                  <a:pt x="502" y="100"/>
                  <a:pt x="502" y="100"/>
                </a:cubicBezTo>
                <a:cubicBezTo>
                  <a:pt x="381" y="182"/>
                  <a:pt x="500" y="108"/>
                  <a:pt x="353" y="175"/>
                </a:cubicBezTo>
                <a:cubicBezTo>
                  <a:pt x="287" y="205"/>
                  <a:pt x="241" y="264"/>
                  <a:pt x="182" y="303"/>
                </a:cubicBezTo>
                <a:cubicBezTo>
                  <a:pt x="130" y="382"/>
                  <a:pt x="197" y="285"/>
                  <a:pt x="129" y="367"/>
                </a:cubicBezTo>
                <a:cubicBezTo>
                  <a:pt x="105" y="396"/>
                  <a:pt x="97" y="432"/>
                  <a:pt x="76" y="463"/>
                </a:cubicBezTo>
                <a:cubicBezTo>
                  <a:pt x="54" y="550"/>
                  <a:pt x="16" y="629"/>
                  <a:pt x="1" y="719"/>
                </a:cubicBezTo>
                <a:cubicBezTo>
                  <a:pt x="5" y="758"/>
                  <a:pt x="0" y="799"/>
                  <a:pt x="12" y="836"/>
                </a:cubicBezTo>
                <a:cubicBezTo>
                  <a:pt x="13" y="840"/>
                  <a:pt x="68" y="853"/>
                  <a:pt x="86" y="858"/>
                </a:cubicBezTo>
                <a:cubicBezTo>
                  <a:pt x="195" y="889"/>
                  <a:pt x="34" y="863"/>
                  <a:pt x="321" y="879"/>
                </a:cubicBezTo>
                <a:cubicBezTo>
                  <a:pt x="332" y="886"/>
                  <a:pt x="346" y="889"/>
                  <a:pt x="353" y="900"/>
                </a:cubicBezTo>
                <a:cubicBezTo>
                  <a:pt x="365" y="919"/>
                  <a:pt x="374" y="964"/>
                  <a:pt x="374" y="964"/>
                </a:cubicBezTo>
                <a:cubicBezTo>
                  <a:pt x="371" y="987"/>
                  <a:pt x="368" y="1044"/>
                  <a:pt x="353" y="1071"/>
                </a:cubicBezTo>
                <a:cubicBezTo>
                  <a:pt x="322" y="1126"/>
                  <a:pt x="287" y="1177"/>
                  <a:pt x="257" y="1231"/>
                </a:cubicBezTo>
                <a:cubicBezTo>
                  <a:pt x="235" y="1271"/>
                  <a:pt x="229" y="1310"/>
                  <a:pt x="204" y="1348"/>
                </a:cubicBezTo>
                <a:cubicBezTo>
                  <a:pt x="212" y="1485"/>
                  <a:pt x="191" y="1571"/>
                  <a:pt x="332" y="1604"/>
                </a:cubicBezTo>
                <a:cubicBezTo>
                  <a:pt x="375" y="1601"/>
                  <a:pt x="418" y="1600"/>
                  <a:pt x="460" y="1594"/>
                </a:cubicBezTo>
                <a:cubicBezTo>
                  <a:pt x="508" y="1588"/>
                  <a:pt x="541" y="1545"/>
                  <a:pt x="588" y="1530"/>
                </a:cubicBezTo>
                <a:cubicBezTo>
                  <a:pt x="623" y="1495"/>
                  <a:pt x="668" y="1471"/>
                  <a:pt x="716" y="1455"/>
                </a:cubicBezTo>
                <a:cubicBezTo>
                  <a:pt x="772" y="1463"/>
                  <a:pt x="806" y="1460"/>
                  <a:pt x="844" y="1498"/>
                </a:cubicBezTo>
                <a:cubicBezTo>
                  <a:pt x="855" y="1533"/>
                  <a:pt x="875" y="1559"/>
                  <a:pt x="886" y="1594"/>
                </a:cubicBezTo>
                <a:cubicBezTo>
                  <a:pt x="894" y="1728"/>
                  <a:pt x="871" y="1876"/>
                  <a:pt x="993" y="1956"/>
                </a:cubicBezTo>
                <a:cubicBezTo>
                  <a:pt x="1285" y="1941"/>
                  <a:pt x="1104" y="1959"/>
                  <a:pt x="1249" y="1914"/>
                </a:cubicBezTo>
                <a:cubicBezTo>
                  <a:pt x="1307" y="1825"/>
                  <a:pt x="1231" y="1928"/>
                  <a:pt x="1302" y="1871"/>
                </a:cubicBezTo>
                <a:cubicBezTo>
                  <a:pt x="1312" y="1863"/>
                  <a:pt x="1315" y="1848"/>
                  <a:pt x="1324" y="1839"/>
                </a:cubicBezTo>
                <a:cubicBezTo>
                  <a:pt x="1333" y="1830"/>
                  <a:pt x="1345" y="1825"/>
                  <a:pt x="1356" y="1818"/>
                </a:cubicBezTo>
                <a:cubicBezTo>
                  <a:pt x="1466" y="1650"/>
                  <a:pt x="1423" y="1499"/>
                  <a:pt x="1473" y="1306"/>
                </a:cubicBezTo>
                <a:cubicBezTo>
                  <a:pt x="1466" y="1156"/>
                  <a:pt x="1470" y="1037"/>
                  <a:pt x="1398" y="911"/>
                </a:cubicBezTo>
                <a:cubicBezTo>
                  <a:pt x="1326" y="785"/>
                  <a:pt x="1399" y="935"/>
                  <a:pt x="1345" y="836"/>
                </a:cubicBezTo>
                <a:cubicBezTo>
                  <a:pt x="1330" y="808"/>
                  <a:pt x="1302" y="751"/>
                  <a:pt x="1302" y="751"/>
                </a:cubicBezTo>
                <a:cubicBezTo>
                  <a:pt x="1293" y="711"/>
                  <a:pt x="1280" y="673"/>
                  <a:pt x="1270" y="634"/>
                </a:cubicBezTo>
                <a:cubicBezTo>
                  <a:pt x="1279" y="537"/>
                  <a:pt x="1290" y="439"/>
                  <a:pt x="1345" y="356"/>
                </a:cubicBezTo>
                <a:cubicBezTo>
                  <a:pt x="1356" y="285"/>
                  <a:pt x="1372" y="215"/>
                  <a:pt x="1345" y="143"/>
                </a:cubicBezTo>
                <a:cubicBezTo>
                  <a:pt x="1322" y="82"/>
                  <a:pt x="1267" y="75"/>
                  <a:pt x="1217" y="58"/>
                </a:cubicBezTo>
                <a:cubicBezTo>
                  <a:pt x="1196" y="51"/>
                  <a:pt x="1153" y="36"/>
                  <a:pt x="1153" y="36"/>
                </a:cubicBezTo>
                <a:cubicBezTo>
                  <a:pt x="985" y="48"/>
                  <a:pt x="1018" y="0"/>
                  <a:pt x="982" y="68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97400" y="4978400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9" name="Group 8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934200" y="2941935"/>
          <a:ext cx="1524000" cy="316992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Box 8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67400" y="5786735"/>
            <a:ext cx="18573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TableSize</a:t>
            </a:r>
            <a:r>
              <a:rPr lang="en-US" dirty="0"/>
              <a:t> –1 </a:t>
            </a:r>
          </a:p>
        </p:txBody>
      </p:sp>
      <p:sp>
        <p:nvSpPr>
          <p:cNvPr id="11" name="Text Box 8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16546" y="3958064"/>
            <a:ext cx="207620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 anchorCtr="1">
            <a:spAutoFit/>
          </a:bodyPr>
          <a:lstStyle/>
          <a:p>
            <a:pPr algn="ctr"/>
            <a:r>
              <a:rPr lang="en-US" dirty="0"/>
              <a:t>hash function: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index = </a:t>
            </a:r>
            <a:r>
              <a:rPr lang="en-US" b="1" dirty="0" smtClean="0">
                <a:solidFill>
                  <a:srgbClr val="C00000"/>
                </a:solidFill>
              </a:rPr>
              <a:t>h(key)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" name="Text Box 8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124700" y="2433935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hash table</a:t>
            </a:r>
          </a:p>
        </p:txBody>
      </p:sp>
      <p:sp>
        <p:nvSpPr>
          <p:cNvPr id="13" name="Text Box 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33400" y="5867400"/>
            <a:ext cx="417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key space (e.g., integers, strings)</a:t>
            </a:r>
          </a:p>
        </p:txBody>
      </p:sp>
    </p:spTree>
    <p:extLst>
      <p:ext uri="{BB962C8B-B14F-4D97-AF65-F5344CB8AC3E}">
        <p14:creationId xmlns:p14="http://schemas.microsoft.com/office/powerpoint/2010/main" val="378721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hashes what?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8153400" cy="2514600"/>
          </a:xfrm>
        </p:spPr>
        <p:txBody>
          <a:bodyPr/>
          <a:lstStyle/>
          <a:p>
            <a:r>
              <a:rPr lang="en-US" dirty="0" smtClean="0"/>
              <a:t>Hash tables can be generic</a:t>
            </a:r>
          </a:p>
          <a:p>
            <a:pPr lvl="1"/>
            <a:r>
              <a:rPr lang="en-US" dirty="0" smtClean="0"/>
              <a:t>To store elements of type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dirty="0" smtClean="0"/>
              <a:t>, we just need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dirty="0" smtClean="0"/>
              <a:t> to be:</a:t>
            </a:r>
          </a:p>
          <a:p>
            <a:pPr marL="1314450" lvl="2" indent="-457200">
              <a:buFont typeface="+mj-lt"/>
              <a:buAutoNum type="arabicPeriod"/>
            </a:pPr>
            <a:r>
              <a:rPr lang="en-US" i="1" dirty="0" smtClean="0"/>
              <a:t>Comparable</a:t>
            </a:r>
            <a:r>
              <a:rPr lang="en-US" dirty="0" smtClean="0"/>
              <a:t>: order any two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dirty="0" smtClean="0"/>
              <a:t> (as with all dictionaries)</a:t>
            </a:r>
          </a:p>
          <a:p>
            <a:pPr marL="1314450" lvl="2" indent="-457200">
              <a:buFont typeface="+mj-lt"/>
              <a:buAutoNum type="arabicPeriod"/>
            </a:pPr>
            <a:r>
              <a:rPr lang="en-US" i="1" dirty="0" err="1" smtClean="0"/>
              <a:t>Hashable</a:t>
            </a:r>
            <a:r>
              <a:rPr lang="en-US" dirty="0" smtClean="0"/>
              <a:t>: convert any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dirty="0" smtClean="0"/>
              <a:t> to an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marL="1314450" lvl="2" indent="-457200">
              <a:buFont typeface="+mj-lt"/>
              <a:buAutoNum type="arabicPeriod"/>
            </a:pPr>
            <a:endParaRPr lang="en-US" sz="1000" dirty="0" smtClean="0"/>
          </a:p>
          <a:p>
            <a:pPr marL="514350" indent="-457200"/>
            <a:r>
              <a:rPr lang="en-US" dirty="0" smtClean="0"/>
              <a:t>When hash tables are a reusable library, the division of responsibility generally breaks down into two roles: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EB0-5A0A-4CF2-8555-A6F81D590F6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5638800"/>
            <a:ext cx="8153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will learn both roles, but most programmers “in the real world” spend more time as clients while understanding the library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143000" y="3962400"/>
            <a:ext cx="7162800" cy="1295400"/>
            <a:chOff x="1143000" y="3962400"/>
            <a:chExt cx="7162800" cy="129540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143000" y="4038600"/>
              <a:ext cx="2057400" cy="1219200"/>
            </a:xfrm>
            <a:prstGeom prst="rect">
              <a:avLst/>
            </a:prstGeom>
            <a:solidFill>
              <a:srgbClr val="FFC000">
                <a:alpha val="32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43000" y="4629090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Courier New" pitchFamily="49" charset="0"/>
                  <a:cs typeface="Courier New" pitchFamily="49" charset="0"/>
                </a:rPr>
                <a:t>E</a:t>
              </a:r>
              <a:endParaRPr lang="en-US" sz="2000" b="0" dirty="0" smtClean="0">
                <a:cs typeface="Times New Roman" pitchFamily="18" charset="0"/>
              </a:endParaRPr>
            </a:p>
          </p:txBody>
        </p:sp>
        <p:sp>
          <p:nvSpPr>
            <p:cNvPr id="9" name="Right Arrow 8"/>
            <p:cNvSpPr/>
            <p:nvPr/>
          </p:nvSpPr>
          <p:spPr bwMode="auto">
            <a:xfrm>
              <a:off x="1600200" y="4705290"/>
              <a:ext cx="978408" cy="228600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43200" y="4609980"/>
              <a:ext cx="4539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err="1" smtClean="0">
                  <a:cs typeface="Times New Roman" pitchFamily="18" charset="0"/>
                </a:rPr>
                <a:t>int</a:t>
              </a:r>
              <a:endParaRPr lang="en-US" sz="2000" b="0" dirty="0" smtClean="0">
                <a:cs typeface="Times New Roman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79378" y="4609980"/>
              <a:ext cx="13356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table-index</a:t>
              </a:r>
            </a:p>
          </p:txBody>
        </p:sp>
        <p:sp>
          <p:nvSpPr>
            <p:cNvPr id="12" name="Right Arrow 11"/>
            <p:cNvSpPr/>
            <p:nvPr/>
          </p:nvSpPr>
          <p:spPr bwMode="auto">
            <a:xfrm>
              <a:off x="3288792" y="4705290"/>
              <a:ext cx="978408" cy="228600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Right Arrow 12"/>
            <p:cNvSpPr/>
            <p:nvPr/>
          </p:nvSpPr>
          <p:spPr bwMode="auto">
            <a:xfrm>
              <a:off x="5727192" y="4705290"/>
              <a:ext cx="1130808" cy="228600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15000" y="4400490"/>
              <a:ext cx="11785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collision?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22218" y="4473714"/>
              <a:ext cx="120738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collision</a:t>
              </a:r>
            </a:p>
            <a:p>
              <a:r>
                <a:rPr lang="en-US" sz="2000" b="0" dirty="0" smtClean="0">
                  <a:cs typeface="Times New Roman" pitchFamily="18" charset="0"/>
                </a:rPr>
                <a:t>resolution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52600" y="4019490"/>
              <a:ext cx="7521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client</a:t>
              </a: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2819400" y="4038600"/>
              <a:ext cx="5486400" cy="1219200"/>
            </a:xfrm>
            <a:prstGeom prst="rect">
              <a:avLst/>
            </a:prstGeom>
            <a:solidFill>
              <a:srgbClr val="00B0F0">
                <a:alpha val="32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05400" y="3962400"/>
              <a:ext cx="19607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hash table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3509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on roles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3417-311D-413A-B549-817F587F45C4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09600" y="3962400"/>
            <a:ext cx="8153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0" kern="0" dirty="0" smtClean="0">
                <a:latin typeface="+mn-lt"/>
              </a:rPr>
              <a:t>Two roles must both contribute to minimizing collisions (heuristically)</a:t>
            </a:r>
          </a:p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Client should aim for different 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ints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for expected items</a:t>
            </a:r>
            <a:endParaRPr lang="en-US" sz="2000" b="0" kern="0" dirty="0" smtClean="0">
              <a:latin typeface="+mn-lt"/>
            </a:endParaRPr>
          </a:p>
          <a:p>
            <a:pPr marL="971550" lvl="1" indent="-457200">
              <a:spcBef>
                <a:spcPct val="20000"/>
              </a:spcBef>
              <a:buFont typeface="Arial" pitchFamily="34" charset="0"/>
              <a:buChar char="–"/>
            </a:pPr>
            <a:r>
              <a:rPr lang="en-US" sz="2000" b="0" kern="0" dirty="0" smtClean="0">
                <a:latin typeface="+mn-lt"/>
              </a:rPr>
              <a:t>Avoid “wasting” any part of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000" b="0" kern="0" dirty="0" smtClean="0">
                <a:latin typeface="+mn-lt"/>
              </a:rPr>
              <a:t> or the 32 bits of the </a:t>
            </a:r>
            <a:r>
              <a:rPr lang="en-US" sz="2000" kern="0" dirty="0" err="1" smtClean="0">
                <a:latin typeface="Courier New" pitchFamily="49" charset="0"/>
                <a:cs typeface="Courier New" pitchFamily="49" charset="0"/>
              </a:rPr>
              <a:t>int</a:t>
            </a:r>
            <a:endParaRPr lang="en-US" sz="2000" kern="0" dirty="0" smtClean="0">
              <a:latin typeface="Courier New" pitchFamily="49" charset="0"/>
              <a:cs typeface="Courier New" pitchFamily="49" charset="0"/>
            </a:endParaRPr>
          </a:p>
          <a:p>
            <a:pPr marL="514350" indent="-4572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0" kern="0" dirty="0" smtClean="0">
                <a:latin typeface="+mn-lt"/>
              </a:rPr>
              <a:t>Library should aim for putting “similar” </a:t>
            </a:r>
            <a:r>
              <a:rPr lang="en-US" sz="2000" kern="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0" kern="0" dirty="0" err="1" smtClean="0">
                <a:latin typeface="+mn-lt"/>
              </a:rPr>
              <a:t>s</a:t>
            </a:r>
            <a:r>
              <a:rPr lang="en-US" sz="2000" b="0" kern="0" dirty="0" smtClean="0">
                <a:latin typeface="+mn-lt"/>
              </a:rPr>
              <a:t> in different indices</a:t>
            </a:r>
          </a:p>
          <a:p>
            <a:pPr marL="971550" lvl="1" indent="-457200">
              <a:spcBef>
                <a:spcPct val="20000"/>
              </a:spcBef>
              <a:buFont typeface="Arial" pitchFamily="34" charset="0"/>
              <a:buChar char="–"/>
            </a:pPr>
            <a:r>
              <a:rPr lang="en-US" sz="2000" b="0" kern="0" dirty="0">
                <a:latin typeface="+mn-lt"/>
              </a:rPr>
              <a:t>C</a:t>
            </a:r>
            <a:r>
              <a:rPr lang="en-US" sz="2000" b="0" kern="0" dirty="0" smtClean="0">
                <a:latin typeface="+mn-lt"/>
              </a:rPr>
              <a:t>onversion to index is almost always “mod table-size”</a:t>
            </a:r>
          </a:p>
          <a:p>
            <a:pPr marL="971550" lvl="1" indent="-457200">
              <a:spcBef>
                <a:spcPct val="20000"/>
              </a:spcBef>
              <a:buFont typeface="Arial" pitchFamily="34" charset="0"/>
              <a:buChar char="–"/>
            </a:pPr>
            <a:r>
              <a:rPr lang="en-US" sz="2000" b="0" kern="0" dirty="0">
                <a:latin typeface="+mn-lt"/>
              </a:rPr>
              <a:t>U</a:t>
            </a:r>
            <a:r>
              <a:rPr lang="en-US" sz="2000" b="0" kern="0" dirty="0" smtClean="0">
                <a:latin typeface="+mn-lt"/>
              </a:rPr>
              <a:t>sing prime numbers for table-size is common</a:t>
            </a:r>
          </a:p>
          <a:p>
            <a:pPr marL="514350" indent="-457200">
              <a:spcBef>
                <a:spcPct val="20000"/>
              </a:spcBef>
              <a:buFont typeface="Arial" pitchFamily="34" charset="0"/>
              <a:buChar char="•"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1143000" y="1676400"/>
            <a:ext cx="7162800" cy="1295400"/>
            <a:chOff x="1143000" y="1905000"/>
            <a:chExt cx="7162800" cy="129540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143000" y="1981200"/>
              <a:ext cx="2057400" cy="1219200"/>
            </a:xfrm>
            <a:prstGeom prst="rect">
              <a:avLst/>
            </a:prstGeom>
            <a:solidFill>
              <a:srgbClr val="FFC000">
                <a:alpha val="32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43000" y="257169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E</a:t>
              </a:r>
            </a:p>
          </p:txBody>
        </p:sp>
        <p:sp>
          <p:nvSpPr>
            <p:cNvPr id="9" name="Right Arrow 8"/>
            <p:cNvSpPr/>
            <p:nvPr/>
          </p:nvSpPr>
          <p:spPr bwMode="auto">
            <a:xfrm>
              <a:off x="1600200" y="2647890"/>
              <a:ext cx="978408" cy="228600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43200" y="2552580"/>
              <a:ext cx="4539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err="1" smtClean="0">
                  <a:cs typeface="Times New Roman" pitchFamily="18" charset="0"/>
                </a:rPr>
                <a:t>int</a:t>
              </a:r>
              <a:endParaRPr lang="en-US" sz="2000" b="0" dirty="0" smtClean="0">
                <a:cs typeface="Times New Roman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79378" y="2552580"/>
              <a:ext cx="13356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table-index</a:t>
              </a:r>
            </a:p>
          </p:txBody>
        </p:sp>
        <p:sp>
          <p:nvSpPr>
            <p:cNvPr id="12" name="Right Arrow 11"/>
            <p:cNvSpPr/>
            <p:nvPr/>
          </p:nvSpPr>
          <p:spPr bwMode="auto">
            <a:xfrm>
              <a:off x="3288792" y="2647890"/>
              <a:ext cx="978408" cy="228600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Right Arrow 12"/>
            <p:cNvSpPr/>
            <p:nvPr/>
          </p:nvSpPr>
          <p:spPr bwMode="auto">
            <a:xfrm>
              <a:off x="5727192" y="2647890"/>
              <a:ext cx="1130808" cy="228600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15000" y="2343090"/>
              <a:ext cx="11785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collision?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22218" y="2416314"/>
              <a:ext cx="120738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collision</a:t>
              </a:r>
            </a:p>
            <a:p>
              <a:r>
                <a:rPr lang="en-US" sz="2000" b="0" dirty="0" smtClean="0">
                  <a:cs typeface="Times New Roman" pitchFamily="18" charset="0"/>
                </a:rPr>
                <a:t>resolution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52600" y="1962090"/>
              <a:ext cx="7521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client</a:t>
              </a: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2819400" y="1981200"/>
              <a:ext cx="5486400" cy="1219200"/>
            </a:xfrm>
            <a:prstGeom prst="rect">
              <a:avLst/>
            </a:prstGeom>
            <a:solidFill>
              <a:srgbClr val="00B0F0">
                <a:alpha val="32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05400" y="1905000"/>
              <a:ext cx="19607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 smtClean="0">
                  <a:cs typeface="Times New Roman" pitchFamily="18" charset="0"/>
                </a:rPr>
                <a:t>hash table library</a:t>
              </a:r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609600" y="1295400"/>
            <a:ext cx="8153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Some ambiguity in terminology on which parts are “hashing”</a:t>
            </a:r>
          </a:p>
        </p:txBody>
      </p:sp>
      <p:sp>
        <p:nvSpPr>
          <p:cNvPr id="24" name="Left Brace 23"/>
          <p:cNvSpPr/>
          <p:nvPr/>
        </p:nvSpPr>
        <p:spPr bwMode="auto">
          <a:xfrm rot="16200000">
            <a:off x="2055876" y="2513075"/>
            <a:ext cx="307848" cy="1524000"/>
          </a:xfrm>
          <a:prstGeom prst="leftBrace">
            <a:avLst/>
          </a:prstGeom>
          <a:noFill/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91433" y="3333690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cs typeface="Times New Roman" pitchFamily="18" charset="0"/>
              </a:rPr>
              <a:t>“hashing”?</a:t>
            </a:r>
          </a:p>
        </p:txBody>
      </p:sp>
      <p:sp>
        <p:nvSpPr>
          <p:cNvPr id="26" name="Left Brace 25"/>
          <p:cNvSpPr/>
          <p:nvPr/>
        </p:nvSpPr>
        <p:spPr bwMode="auto">
          <a:xfrm rot="16200000">
            <a:off x="3389378" y="954025"/>
            <a:ext cx="307848" cy="4191000"/>
          </a:xfrm>
          <a:prstGeom prst="leftBrace">
            <a:avLst/>
          </a:prstGeom>
          <a:noFill/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71800" y="3276600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cs typeface="Times New Roman" pitchFamily="18" charset="0"/>
              </a:rPr>
              <a:t>“hashing”?</a:t>
            </a:r>
          </a:p>
        </p:txBody>
      </p:sp>
    </p:spTree>
    <p:extLst>
      <p:ext uri="{BB962C8B-B14F-4D97-AF65-F5344CB8AC3E}">
        <p14:creationId xmlns:p14="http://schemas.microsoft.com/office/powerpoint/2010/main" val="19769943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to hash?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8153400" cy="5181600"/>
          </a:xfrm>
        </p:spPr>
        <p:txBody>
          <a:bodyPr/>
          <a:lstStyle/>
          <a:p>
            <a:pPr marL="514350" indent="-457200">
              <a:buNone/>
            </a:pPr>
            <a:r>
              <a:rPr lang="en-US" dirty="0" smtClean="0"/>
              <a:t>We will focus on the two most common things to hash: </a:t>
            </a:r>
            <a:r>
              <a:rPr lang="en-US" dirty="0" err="1" smtClean="0"/>
              <a:t>ints</a:t>
            </a:r>
            <a:r>
              <a:rPr lang="en-US" dirty="0" smtClean="0"/>
              <a:t> and strings</a:t>
            </a:r>
          </a:p>
          <a:p>
            <a:pPr marL="914400" lvl="1" indent="-457200"/>
            <a:endParaRPr lang="en-US" sz="1000" dirty="0" smtClean="0"/>
          </a:p>
          <a:p>
            <a:pPr marL="914400" lvl="1" indent="-457200"/>
            <a:r>
              <a:rPr lang="en-US" dirty="0" smtClean="0"/>
              <a:t>For objects with several fields, usually best to have most of the “identifying fields” contribute to the hash to avoid collisions</a:t>
            </a:r>
          </a:p>
          <a:p>
            <a:pPr marL="914400" lvl="1" indent="-457200"/>
            <a:endParaRPr lang="en-US" sz="1000" dirty="0" smtClean="0"/>
          </a:p>
          <a:p>
            <a:pPr marL="914400" lvl="1" indent="-457200"/>
            <a:r>
              <a:rPr lang="en-US" dirty="0" smtClean="0"/>
              <a:t>Example: </a:t>
            </a:r>
          </a:p>
          <a:p>
            <a:pPr marL="914400" lvl="1" indent="-457200">
              <a:lnSpc>
                <a:spcPts val="1700"/>
              </a:lnSpc>
              <a:buNone/>
            </a:pPr>
            <a:r>
              <a:rPr lang="en-US" dirty="0" smtClean="0"/>
              <a:t>	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class Person { </a:t>
            </a:r>
            <a:br>
              <a:rPr lang="en-US" b="1" dirty="0" smtClean="0"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String first; String middle; String last;     </a:t>
            </a:r>
          </a:p>
          <a:p>
            <a:pPr marL="914400" lvl="1" indent="-457200">
              <a:lnSpc>
                <a:spcPts val="1700"/>
              </a:lnSpc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Date birthdate; </a:t>
            </a:r>
          </a:p>
          <a:p>
            <a:pPr marL="914400" lvl="1" indent="-457200">
              <a:lnSpc>
                <a:spcPts val="1700"/>
              </a:lnSpc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914400" lvl="1" indent="-457200">
              <a:lnSpc>
                <a:spcPts val="1700"/>
              </a:lnSpc>
              <a:buNone/>
            </a:pPr>
            <a:endParaRPr lang="en-US" sz="1000" b="1" dirty="0" smtClean="0">
              <a:latin typeface="Courier New" pitchFamily="49" charset="0"/>
              <a:cs typeface="Courier New" pitchFamily="49" charset="0"/>
            </a:endParaRPr>
          </a:p>
          <a:p>
            <a:pPr marL="914400" lvl="1" indent="-457200"/>
            <a:r>
              <a:rPr lang="en-US" dirty="0" smtClean="0">
                <a:latin typeface="+mj-lt"/>
                <a:cs typeface="Courier New" pitchFamily="49" charset="0"/>
              </a:rPr>
              <a:t>An inherent trade-off: hashing-time vs. collision-avoidance</a:t>
            </a:r>
          </a:p>
          <a:p>
            <a:pPr marL="1314450" lvl="2" indent="-457200"/>
            <a:r>
              <a:rPr lang="en-US" dirty="0" smtClean="0">
                <a:latin typeface="+mj-lt"/>
                <a:cs typeface="Courier New" pitchFamily="49" charset="0"/>
              </a:rPr>
              <a:t>Bad idea(?):  Use only first name</a:t>
            </a:r>
          </a:p>
          <a:p>
            <a:pPr marL="1314450" lvl="2" indent="-457200"/>
            <a:r>
              <a:rPr lang="en-US" dirty="0" smtClean="0">
                <a:latin typeface="+mj-lt"/>
                <a:cs typeface="Courier New" pitchFamily="49" charset="0"/>
              </a:rPr>
              <a:t>Good idea(?):  Use only middle initial</a:t>
            </a:r>
          </a:p>
          <a:p>
            <a:pPr marL="1314450" lvl="2" indent="-457200"/>
            <a:r>
              <a:rPr lang="en-US" dirty="0" smtClean="0">
                <a:latin typeface="+mj-lt"/>
                <a:cs typeface="Courier New" pitchFamily="49" charset="0"/>
              </a:rPr>
              <a:t>Admittedly, what-to-hash-with is often unprincipled </a:t>
            </a:r>
            <a:r>
              <a:rPr lang="en-US" dirty="0" smtClean="0">
                <a:latin typeface="+mj-lt"/>
                <a:cs typeface="Courier New" pitchFamily="49" charset="0"/>
                <a:sym typeface="Wingdings" pitchFamily="2" charset="2"/>
              </a:rPr>
              <a:t>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marL="1314450" lvl="2" indent="-457200"/>
            <a:endParaRPr lang="en-US" dirty="0">
              <a:latin typeface="+mj-lt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DB36-2A0A-4B39-86B6-E921F0F77929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572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Hashing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4876800" cy="4724400"/>
          </a:xfrm>
        </p:spPr>
        <p:txBody>
          <a:bodyPr/>
          <a:lstStyle/>
          <a:p>
            <a:r>
              <a:rPr lang="en-US" dirty="0" smtClean="0"/>
              <a:t>key space = integers</a:t>
            </a:r>
          </a:p>
          <a:p>
            <a:endParaRPr lang="en-US" sz="1400" dirty="0" smtClean="0"/>
          </a:p>
          <a:p>
            <a:r>
              <a:rPr lang="en-US" dirty="0" smtClean="0"/>
              <a:t>Simple hash function: 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 = key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/>
              <a:t>Client: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f(x) = x</a:t>
            </a:r>
          </a:p>
          <a:p>
            <a:pPr lvl="1"/>
            <a:r>
              <a:rPr lang="en-US" dirty="0" smtClean="0"/>
              <a:t>Library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g(x) = x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/>
              <a:t>Fairly fast and natural</a:t>
            </a:r>
          </a:p>
          <a:p>
            <a:pPr lvl="1">
              <a:buNone/>
            </a:pPr>
            <a:endParaRPr lang="en-US" sz="1400" dirty="0" smtClean="0"/>
          </a:p>
          <a:p>
            <a:r>
              <a:rPr lang="en-US" dirty="0" smtClean="0"/>
              <a:t>Example:</a:t>
            </a:r>
          </a:p>
          <a:p>
            <a:pPr lvl="1"/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= 10</a:t>
            </a:r>
          </a:p>
          <a:p>
            <a:pPr lvl="1"/>
            <a:r>
              <a:rPr lang="en-US" dirty="0" smtClean="0"/>
              <a:t>Insert 7, 18, 41, 34, 10</a:t>
            </a:r>
          </a:p>
          <a:p>
            <a:pPr lvl="1"/>
            <a:r>
              <a:rPr lang="en-US" dirty="0" smtClean="0"/>
              <a:t>(As usual, ignoring data “along for the ride”)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E5DF-77CD-4F89-A42B-97EF7B6DAF1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91200" y="19050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838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Hashing integers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E407-CEAD-4FB4-8A03-624D73A01BA8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075223"/>
              </p:ext>
            </p:extLst>
          </p:nvPr>
        </p:nvGraphicFramePr>
        <p:xfrm>
          <a:off x="5791200" y="19050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85800" y="1600200"/>
            <a:ext cx="4876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space = integers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Simple hash function: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	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h(key) = key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Client: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f(x) = x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Library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g(x) = x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Fairly fast and natural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=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Insert 7, 18, 41, 34,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(As usual, ignoring data “along for the ride”)</a:t>
            </a:r>
          </a:p>
        </p:txBody>
      </p:sp>
    </p:spTree>
    <p:extLst>
      <p:ext uri="{BB962C8B-B14F-4D97-AF65-F5344CB8AC3E}">
        <p14:creationId xmlns:p14="http://schemas.microsoft.com/office/powerpoint/2010/main" val="10091009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Hashing integers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8789-1BE2-41E3-9610-D2747E39EB38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3826644"/>
              </p:ext>
            </p:extLst>
          </p:nvPr>
        </p:nvGraphicFramePr>
        <p:xfrm>
          <a:off x="5791200" y="19050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85800" y="1600200"/>
            <a:ext cx="4876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space = integers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Simple hash function: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	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h(key) = key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Client: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f(x) = x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Library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g(x) = x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Fairly fast and natural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=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Insert 7, 18, 41, 34,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(As usual, ignoring data “along for the ride”)</a:t>
            </a:r>
          </a:p>
        </p:txBody>
      </p:sp>
    </p:spTree>
    <p:extLst>
      <p:ext uri="{BB962C8B-B14F-4D97-AF65-F5344CB8AC3E}">
        <p14:creationId xmlns:p14="http://schemas.microsoft.com/office/powerpoint/2010/main" val="38526935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Hashing integers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029A-759D-422D-9824-F1B10043ADE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0352657"/>
              </p:ext>
            </p:extLst>
          </p:nvPr>
        </p:nvGraphicFramePr>
        <p:xfrm>
          <a:off x="5791200" y="19050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41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85800" y="1600200"/>
            <a:ext cx="4876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space = integers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Simple hash function: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	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h(key) = key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Client: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f(x) = x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Library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g(x) = x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Fairly fast and natural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=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Insert 7, 18, 41, 34,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(As usual, ignoring data “along for the ride”)</a:t>
            </a:r>
          </a:p>
        </p:txBody>
      </p:sp>
    </p:spTree>
    <p:extLst>
      <p:ext uri="{BB962C8B-B14F-4D97-AF65-F5344CB8AC3E}">
        <p14:creationId xmlns:p14="http://schemas.microsoft.com/office/powerpoint/2010/main" val="8666435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Hashing integers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D64A0-7BB6-44D3-BF0F-D4709E866111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1939047"/>
              </p:ext>
            </p:extLst>
          </p:nvPr>
        </p:nvGraphicFramePr>
        <p:xfrm>
          <a:off x="5791200" y="19050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41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34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85800" y="1600200"/>
            <a:ext cx="4876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space = integers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Simple hash function: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	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h(key) = key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Client: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f(x) = x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Library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g(x) = x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Fairly fast and natural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=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Insert 7, 18, 41, 34,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(As usual, ignoring data “along for the ride”)</a:t>
            </a:r>
          </a:p>
        </p:txBody>
      </p:sp>
    </p:spTree>
    <p:extLst>
      <p:ext uri="{BB962C8B-B14F-4D97-AF65-F5344CB8AC3E}">
        <p14:creationId xmlns:p14="http://schemas.microsoft.com/office/powerpoint/2010/main" val="487528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Hashing integers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9D33-CC01-4797-B357-1A3595E9D47C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7423600"/>
              </p:ext>
            </p:extLst>
          </p:nvPr>
        </p:nvGraphicFramePr>
        <p:xfrm>
          <a:off x="5791200" y="19050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41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34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85800" y="1600200"/>
            <a:ext cx="4876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space = integers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Simple hash function: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	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h(key) = key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Client: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f(x) = x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Library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g(x) = x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Fairly fast and natural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=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Insert 7, 18, 41, 34, 10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(As usual, ignoring data “along for the ride”)</a:t>
            </a:r>
          </a:p>
        </p:txBody>
      </p:sp>
    </p:spTree>
    <p:extLst>
      <p:ext uri="{BB962C8B-B14F-4D97-AF65-F5344CB8AC3E}">
        <p14:creationId xmlns:p14="http://schemas.microsoft.com/office/powerpoint/2010/main" val="1227177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Collision-avoidance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4724400"/>
          </a:xfrm>
        </p:spPr>
        <p:txBody>
          <a:bodyPr/>
          <a:lstStyle/>
          <a:p>
            <a:r>
              <a:rPr lang="en-US" dirty="0" smtClean="0"/>
              <a:t>With “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x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” the number of collisions depends on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ints</a:t>
            </a:r>
            <a:r>
              <a:rPr lang="en-US" dirty="0" smtClean="0"/>
              <a:t> inserted (obviously)</a:t>
            </a:r>
          </a:p>
          <a:p>
            <a:pPr lvl="1"/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dirty="0" smtClean="0"/>
          </a:p>
          <a:p>
            <a:r>
              <a:rPr lang="en-US" dirty="0" smtClean="0"/>
              <a:t>Larger table-size tends to help, but not always</a:t>
            </a:r>
          </a:p>
          <a:p>
            <a:pPr lvl="1"/>
            <a:r>
              <a:rPr lang="en-US" dirty="0" smtClean="0"/>
              <a:t>Example: </a:t>
            </a:r>
            <a:r>
              <a:rPr lang="en-US" dirty="0"/>
              <a:t>70, 24, 56, 43, 10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with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= 10 and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= 60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Technique: Pick table size to be prime. Why?</a:t>
            </a:r>
          </a:p>
          <a:p>
            <a:pPr lvl="1"/>
            <a:r>
              <a:rPr lang="en-US" dirty="0" smtClean="0"/>
              <a:t>Real-life data tends to have a pattern</a:t>
            </a:r>
          </a:p>
          <a:p>
            <a:pPr lvl="1"/>
            <a:r>
              <a:rPr lang="en-US" dirty="0" smtClean="0"/>
              <a:t>“Multiples of 61” are probably less likely than “multiples of 60”</a:t>
            </a:r>
          </a:p>
          <a:p>
            <a:pPr lvl="1"/>
            <a:r>
              <a:rPr lang="en-US" dirty="0" smtClean="0"/>
              <a:t>Next lecture shows one collision-handling strategy does </a:t>
            </a:r>
            <a:r>
              <a:rPr lang="en-US" i="1" dirty="0" smtClean="0"/>
              <a:t>provably</a:t>
            </a:r>
            <a:r>
              <a:rPr lang="en-US" dirty="0" smtClean="0"/>
              <a:t> well with prime table size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76E34-EFAD-46C5-BB31-4FBA52C391CA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735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on prime table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8077200" cy="4876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If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is 60 and…</a:t>
            </a:r>
          </a:p>
          <a:p>
            <a:pPr lvl="1"/>
            <a:r>
              <a:rPr lang="en-US" dirty="0" smtClean="0"/>
              <a:t>Lots of data items are multiples of 5, wasting 80% of table</a:t>
            </a:r>
          </a:p>
          <a:p>
            <a:pPr lvl="1"/>
            <a:r>
              <a:rPr lang="en-US" dirty="0" smtClean="0"/>
              <a:t>Lots of data items are multiples of 10, wasting 90% of table</a:t>
            </a:r>
          </a:p>
          <a:p>
            <a:pPr lvl="1"/>
            <a:r>
              <a:rPr lang="en-US" dirty="0" smtClean="0"/>
              <a:t>Lots of data items are multiples of 2, wasting 50% of table</a:t>
            </a:r>
          </a:p>
          <a:p>
            <a:pPr lvl="1"/>
            <a:endParaRPr lang="en-US" sz="1000" dirty="0" smtClean="0"/>
          </a:p>
          <a:p>
            <a:pPr>
              <a:buNone/>
            </a:pPr>
            <a:r>
              <a:rPr lang="en-US" dirty="0" smtClean="0"/>
              <a:t>If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is 61…</a:t>
            </a:r>
          </a:p>
          <a:p>
            <a:pPr lvl="1"/>
            <a:r>
              <a:rPr lang="en-US" dirty="0" smtClean="0"/>
              <a:t>Collisions can still happen, but 5, 10, 15, 20, … will fill table</a:t>
            </a:r>
          </a:p>
          <a:p>
            <a:pPr lvl="1"/>
            <a:r>
              <a:rPr lang="en-US" dirty="0" smtClean="0"/>
              <a:t>Collisions can still happen but 10, 20, 30, 40, … will fill table</a:t>
            </a:r>
          </a:p>
          <a:p>
            <a:pPr lvl="1"/>
            <a:r>
              <a:rPr lang="en-US" dirty="0" smtClean="0"/>
              <a:t>Collisions can still happen but 2, 4, 6, 8, … will fill table</a:t>
            </a:r>
          </a:p>
          <a:p>
            <a:pPr lvl="1"/>
            <a:endParaRPr lang="en-US" sz="1000" dirty="0" smtClean="0"/>
          </a:p>
          <a:p>
            <a:pPr>
              <a:buNone/>
            </a:pPr>
            <a:r>
              <a:rPr lang="en-US" dirty="0" smtClean="0"/>
              <a:t>This “table-filling” property happens whenever the multiple and the table-size have a </a:t>
            </a:r>
            <a:r>
              <a:rPr lang="en-US" i="1" dirty="0" smtClean="0"/>
              <a:t>greatest-common-divisor</a:t>
            </a:r>
            <a:r>
              <a:rPr lang="en-US" dirty="0" smtClean="0"/>
              <a:t> of 1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8F52-2AFC-4C90-8253-0F1CB03A86DF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361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Okay, back to the 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8077200" cy="4495800"/>
          </a:xfrm>
        </p:spPr>
        <p:txBody>
          <a:bodyPr/>
          <a:lstStyle/>
          <a:p>
            <a:r>
              <a:rPr lang="en-US" dirty="0" smtClean="0"/>
              <a:t>If keys aren’t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err="1" smtClean="0"/>
              <a:t>s</a:t>
            </a:r>
            <a:r>
              <a:rPr lang="en-US" dirty="0" smtClean="0"/>
              <a:t>, the client must convert to an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/>
              <a:t>Trade-off: speed versus distinct keys hashing to distinct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err="1" smtClean="0"/>
              <a:t>s</a:t>
            </a:r>
            <a:endParaRPr lang="en-US" dirty="0" smtClean="0"/>
          </a:p>
          <a:p>
            <a:pPr lvl="1"/>
            <a:endParaRPr lang="en-US" sz="1000" dirty="0" smtClean="0"/>
          </a:p>
          <a:p>
            <a:r>
              <a:rPr lang="en-US" dirty="0" smtClean="0"/>
              <a:t>Very important example: Strings</a:t>
            </a:r>
          </a:p>
          <a:p>
            <a:pPr lvl="1"/>
            <a:r>
              <a:rPr lang="en-US" dirty="0" smtClean="0"/>
              <a:t>Key space K  = s</a:t>
            </a:r>
            <a:r>
              <a:rPr lang="en-US" baseline="-25000" dirty="0" smtClean="0"/>
              <a:t>0</a:t>
            </a:r>
            <a:r>
              <a:rPr lang="en-US" dirty="0" smtClean="0"/>
              <a:t>s</a:t>
            </a:r>
            <a:r>
              <a:rPr lang="en-US" baseline="-25000" dirty="0" smtClean="0"/>
              <a:t>1</a:t>
            </a:r>
            <a:r>
              <a:rPr lang="en-US" dirty="0" smtClean="0"/>
              <a:t>s</a:t>
            </a:r>
            <a:r>
              <a:rPr lang="en-US" baseline="-25000" dirty="0" smtClean="0"/>
              <a:t>2</a:t>
            </a:r>
            <a:r>
              <a:rPr lang="en-US" dirty="0" smtClean="0"/>
              <a:t>…s</a:t>
            </a:r>
            <a:r>
              <a:rPr lang="en-US" baseline="-25000" dirty="0" smtClean="0"/>
              <a:t>m-1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(where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i</a:t>
            </a:r>
            <a:r>
              <a:rPr lang="en-US" dirty="0" smtClean="0"/>
              <a:t> are chars: 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sym typeface="Symbol" pitchFamily="18" charset="2"/>
              </a:rPr>
              <a:t> [0,52] or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sym typeface="Symbol" pitchFamily="18" charset="2"/>
              </a:rPr>
              <a:t> [0,256] or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sym typeface="Symbol" pitchFamily="18" charset="2"/>
              </a:rPr>
              <a:t> [0,2</a:t>
            </a:r>
            <a:r>
              <a:rPr lang="en-US" baseline="30000" dirty="0" smtClean="0">
                <a:sym typeface="Symbol" pitchFamily="18" charset="2"/>
              </a:rPr>
              <a:t>16</a:t>
            </a:r>
            <a:r>
              <a:rPr lang="en-US" dirty="0" smtClean="0">
                <a:sym typeface="Symbol" pitchFamily="18" charset="2"/>
              </a:rPr>
              <a:t>])</a:t>
            </a:r>
          </a:p>
          <a:p>
            <a:pPr lvl="1"/>
            <a:r>
              <a:rPr lang="en-US" dirty="0" smtClean="0"/>
              <a:t>Some choices: Which avoid collisions best?</a:t>
            </a:r>
          </a:p>
          <a:p>
            <a:pPr lvl="1"/>
            <a:endParaRPr lang="en-US" sz="1000" dirty="0" smtClean="0"/>
          </a:p>
          <a:p>
            <a:pPr marL="1009650" lvl="1" indent="-609600">
              <a:buFontTx/>
              <a:buAutoNum type="arabicPeriod"/>
            </a:pPr>
            <a:r>
              <a:rPr lang="en-US" dirty="0" smtClean="0"/>
              <a:t>h(K) = s</a:t>
            </a:r>
            <a:r>
              <a:rPr lang="en-US" baseline="-25000" dirty="0" smtClean="0"/>
              <a:t>0</a:t>
            </a:r>
            <a:r>
              <a:rPr lang="en-US" dirty="0" smtClean="0"/>
              <a:t> % </a:t>
            </a:r>
            <a:r>
              <a:rPr lang="en-US" dirty="0" err="1" smtClean="0"/>
              <a:t>TableSize</a:t>
            </a:r>
            <a:endParaRPr lang="en-US" dirty="0" smtClean="0"/>
          </a:p>
          <a:p>
            <a:pPr marL="609600" indent="-609600">
              <a:buFontTx/>
              <a:buAutoNum type="arabicPeriod" startAt="2"/>
            </a:pPr>
            <a:endParaRPr lang="en-US" dirty="0" smtClean="0"/>
          </a:p>
          <a:p>
            <a:pPr marL="1009650" lvl="1" indent="-609600">
              <a:buFontTx/>
              <a:buAutoNum type="arabicPeriod" startAt="2"/>
            </a:pPr>
            <a:r>
              <a:rPr lang="en-US" dirty="0" smtClean="0"/>
              <a:t>h(K) =                    % </a:t>
            </a:r>
            <a:r>
              <a:rPr lang="en-US" dirty="0" err="1" smtClean="0"/>
              <a:t>TableSize</a:t>
            </a:r>
            <a:endParaRPr lang="en-US" dirty="0" smtClean="0"/>
          </a:p>
          <a:p>
            <a:pPr marL="609600" indent="-609600">
              <a:buFontTx/>
              <a:buAutoNum type="arabicPeriod" startAt="3"/>
            </a:pPr>
            <a:endParaRPr lang="en-US" dirty="0" smtClean="0"/>
          </a:p>
          <a:p>
            <a:pPr marL="609600" indent="-609600">
              <a:buFontTx/>
              <a:buAutoNum type="arabicPeriod" startAt="3"/>
            </a:pPr>
            <a:endParaRPr lang="en-US" dirty="0" smtClean="0"/>
          </a:p>
          <a:p>
            <a:pPr marL="1009650" lvl="1" indent="-609600">
              <a:buFontTx/>
              <a:buAutoNum type="arabicPeriod" startAt="3"/>
            </a:pPr>
            <a:r>
              <a:rPr lang="en-US" dirty="0" smtClean="0"/>
              <a:t>h(K) =                              % </a:t>
            </a:r>
            <a:r>
              <a:rPr lang="en-US" dirty="0" err="1" smtClean="0"/>
              <a:t>TableSize</a:t>
            </a: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81E3-375D-4DB3-BF9D-7B5CADDF29C7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554287" y="4418013"/>
          <a:ext cx="1331913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6" imgW="482400" imgH="457200" progId="">
                  <p:embed/>
                </p:oleObj>
              </mc:Choice>
              <mc:Fallback>
                <p:oleObj name="Equation" r:id="rId6" imgW="482400" imgH="457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7" y="4418013"/>
                        <a:ext cx="1331913" cy="915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514600" y="5486400"/>
          <a:ext cx="1981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8" imgW="749160" imgH="457200" progId="Equation.3">
                  <p:embed/>
                </p:oleObj>
              </mc:Choice>
              <mc:Fallback>
                <p:oleObj name="Equation" r:id="rId8" imgW="7491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486400"/>
                        <a:ext cx="198120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1122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Specializing hash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How might you hash differently if all your strings were web addresses (URLs)?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0F1C-B099-4DE1-A87D-806037D1DF8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028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hash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 few rules of thumb / tricks:</a:t>
            </a:r>
          </a:p>
          <a:p>
            <a:pPr>
              <a:buNone/>
            </a:pPr>
            <a:endParaRPr lang="en-US" sz="1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all 32 bits (careful, that includes negative numbers)</a:t>
            </a:r>
          </a:p>
          <a:p>
            <a:pPr marL="457200" indent="-457200">
              <a:buFont typeface="+mj-lt"/>
              <a:buAutoNum type="arabicPeriod"/>
            </a:pPr>
            <a:endParaRPr lang="en-US" sz="1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different overlapping bits for different parts of the hash </a:t>
            </a:r>
          </a:p>
          <a:p>
            <a:pPr marL="857250" lvl="1" indent="-457200"/>
            <a:r>
              <a:rPr lang="en-US" dirty="0" smtClean="0"/>
              <a:t>This is why  a factor of 37</a:t>
            </a:r>
            <a:r>
              <a:rPr lang="en-US" baseline="30000" dirty="0" smtClean="0"/>
              <a:t>i</a:t>
            </a:r>
            <a:r>
              <a:rPr lang="en-US" dirty="0" smtClean="0"/>
              <a:t> works better than 256</a:t>
            </a:r>
            <a:r>
              <a:rPr lang="en-US" baseline="30000" dirty="0" smtClean="0"/>
              <a:t>i</a:t>
            </a:r>
          </a:p>
          <a:p>
            <a:pPr marL="857250" lvl="1" indent="-457200"/>
            <a:r>
              <a:rPr lang="en-US" dirty="0" smtClean="0"/>
              <a:t>Example: “</a:t>
            </a:r>
            <a:r>
              <a:rPr lang="en-US" dirty="0" err="1" smtClean="0"/>
              <a:t>abcde</a:t>
            </a:r>
            <a:r>
              <a:rPr lang="en-US" dirty="0" smtClean="0"/>
              <a:t>” and “</a:t>
            </a:r>
            <a:r>
              <a:rPr lang="en-US" dirty="0" err="1" smtClean="0"/>
              <a:t>ebcda</a:t>
            </a:r>
            <a:r>
              <a:rPr lang="en-US" dirty="0" smtClean="0"/>
              <a:t>”</a:t>
            </a:r>
          </a:p>
          <a:p>
            <a:pPr marL="457200" indent="-457200">
              <a:buFont typeface="+mj-lt"/>
              <a:buAutoNum type="arabicPeriod"/>
            </a:pPr>
            <a:endParaRPr lang="en-US" sz="1000" baseline="30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When smashing two hashes into one hash, use bitwise-</a:t>
            </a:r>
            <a:r>
              <a:rPr lang="en-US" dirty="0" err="1" smtClean="0"/>
              <a:t>xor</a:t>
            </a:r>
            <a:endParaRPr lang="en-US" dirty="0" smtClean="0"/>
          </a:p>
          <a:p>
            <a:pPr marL="857250" lvl="1" indent="-457200"/>
            <a:r>
              <a:rPr lang="en-US" dirty="0" smtClean="0"/>
              <a:t>bitwise-and produces too many 0 bits</a:t>
            </a:r>
          </a:p>
          <a:p>
            <a:pPr marL="857250" lvl="1" indent="-457200"/>
            <a:r>
              <a:rPr lang="en-US" dirty="0" smtClean="0"/>
              <a:t>bitwise-or produces too many 1 bits</a:t>
            </a:r>
          </a:p>
          <a:p>
            <a:pPr marL="857250" lvl="1" indent="-457200"/>
            <a:endParaRPr lang="en-US" sz="1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Rely on expertise of others; consult books and other resources</a:t>
            </a:r>
          </a:p>
          <a:p>
            <a:pPr marL="857250" lvl="1" indent="-457200"/>
            <a:endParaRPr lang="en-US" sz="1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If keys are known ahead of time, choose a </a:t>
            </a:r>
            <a:r>
              <a:rPr lang="en-US" i="1" dirty="0" smtClean="0"/>
              <a:t>perfect hash</a:t>
            </a:r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436E0-3659-4CD3-A614-2FC786A51863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344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expert suggestion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 result = 17;</a:t>
            </a:r>
          </a:p>
          <a:p>
            <a:r>
              <a:rPr lang="en-US" dirty="0" err="1" smtClean="0"/>
              <a:t>foreach</a:t>
            </a:r>
            <a:r>
              <a:rPr lang="en-US" dirty="0" smtClean="0"/>
              <a:t> field f</a:t>
            </a:r>
          </a:p>
          <a:p>
            <a:pPr lvl="1"/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fieldHashcode</a:t>
            </a:r>
            <a:r>
              <a:rPr lang="en-US" dirty="0" smtClean="0"/>
              <a:t> =</a:t>
            </a:r>
          </a:p>
          <a:p>
            <a:pPr lvl="2"/>
            <a:r>
              <a:rPr lang="en-US" sz="2000" dirty="0" err="1" smtClean="0"/>
              <a:t>boolean</a:t>
            </a:r>
            <a:r>
              <a:rPr lang="en-US" sz="2000" dirty="0" smtClean="0"/>
              <a:t>: (f ? 1: 0)</a:t>
            </a:r>
          </a:p>
          <a:p>
            <a:pPr lvl="2"/>
            <a:r>
              <a:rPr lang="en-US" sz="2000" dirty="0" smtClean="0"/>
              <a:t>byte, char, short, </a:t>
            </a:r>
            <a:r>
              <a:rPr lang="en-US" sz="2000" dirty="0" err="1" smtClean="0"/>
              <a:t>int</a:t>
            </a:r>
            <a:r>
              <a:rPr lang="en-US" sz="2000" dirty="0" smtClean="0"/>
              <a:t>: (</a:t>
            </a:r>
            <a:r>
              <a:rPr lang="en-US" sz="2000" dirty="0" err="1" smtClean="0"/>
              <a:t>int</a:t>
            </a:r>
            <a:r>
              <a:rPr lang="en-US" sz="2000" dirty="0" smtClean="0"/>
              <a:t>) f</a:t>
            </a:r>
          </a:p>
          <a:p>
            <a:pPr lvl="2"/>
            <a:r>
              <a:rPr lang="en-US" sz="2000" dirty="0" smtClean="0"/>
              <a:t>long: (</a:t>
            </a:r>
            <a:r>
              <a:rPr lang="en-US" sz="2000" dirty="0" err="1" smtClean="0"/>
              <a:t>int</a:t>
            </a:r>
            <a:r>
              <a:rPr lang="en-US" sz="2000" dirty="0" smtClean="0"/>
              <a:t>) (f ^ (f &gt;&gt;&gt; 32))</a:t>
            </a:r>
          </a:p>
          <a:p>
            <a:pPr lvl="2"/>
            <a:r>
              <a:rPr lang="en-US" sz="2000" dirty="0" smtClean="0"/>
              <a:t>float: </a:t>
            </a:r>
            <a:r>
              <a:rPr lang="en-US" sz="2000" dirty="0" err="1" smtClean="0"/>
              <a:t>Float.floatToIntBits</a:t>
            </a:r>
            <a:r>
              <a:rPr lang="en-US" sz="2000" dirty="0" smtClean="0"/>
              <a:t>(f)</a:t>
            </a:r>
          </a:p>
          <a:p>
            <a:pPr lvl="2"/>
            <a:r>
              <a:rPr lang="en-US" sz="2000" dirty="0" smtClean="0"/>
              <a:t>double: </a:t>
            </a:r>
            <a:r>
              <a:rPr lang="en-US" sz="2000" dirty="0" err="1" smtClean="0"/>
              <a:t>Double.doubleToLongBits</a:t>
            </a:r>
            <a:r>
              <a:rPr lang="en-US" sz="2000" dirty="0" smtClean="0"/>
              <a:t>(f), then above</a:t>
            </a:r>
          </a:p>
          <a:p>
            <a:pPr lvl="2"/>
            <a:r>
              <a:rPr lang="en-US" sz="2000" dirty="0" smtClean="0"/>
              <a:t>Object: </a:t>
            </a:r>
            <a:r>
              <a:rPr lang="en-US" sz="2000" dirty="0" err="1" smtClean="0"/>
              <a:t>object.hashCode</a:t>
            </a:r>
            <a:r>
              <a:rPr lang="en-US" sz="2000" dirty="0" smtClean="0"/>
              <a:t>( )</a:t>
            </a:r>
          </a:p>
          <a:p>
            <a:pPr lvl="1"/>
            <a:r>
              <a:rPr lang="en-US" dirty="0" smtClean="0"/>
              <a:t>result = 31 * result + </a:t>
            </a:r>
            <a:r>
              <a:rPr lang="en-US" dirty="0" err="1" smtClean="0"/>
              <a:t>fieldHashcode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219200"/>
            <a:ext cx="2057400" cy="2587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09FB-EEEB-449F-AFD3-D124D7324B07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909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Hashing and comparing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01000" cy="3200400"/>
          </a:xfrm>
        </p:spPr>
        <p:txBody>
          <a:bodyPr/>
          <a:lstStyle/>
          <a:p>
            <a:r>
              <a:rPr lang="en-US" dirty="0" smtClean="0"/>
              <a:t>Need to emphasize a critical detail:</a:t>
            </a:r>
          </a:p>
          <a:p>
            <a:pPr lvl="1"/>
            <a:r>
              <a:rPr lang="en-US" dirty="0" smtClean="0"/>
              <a:t>We initially </a:t>
            </a:r>
            <a:r>
              <a:rPr lang="en-US" i="1" dirty="0" smtClean="0"/>
              <a:t>hash </a:t>
            </a:r>
            <a:r>
              <a:rPr lang="en-US" dirty="0" smtClean="0"/>
              <a:t>key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dirty="0" smtClean="0"/>
              <a:t> to get a table index</a:t>
            </a:r>
          </a:p>
          <a:p>
            <a:pPr lvl="1"/>
            <a:r>
              <a:rPr lang="en-US" dirty="0" smtClean="0"/>
              <a:t>To check an item is what we are looking for, </a:t>
            </a:r>
            <a:r>
              <a:rPr lang="en-US" i="1" dirty="0" err="1" smtClean="0"/>
              <a:t>compareTo</a:t>
            </a:r>
            <a:r>
              <a:rPr lang="en-US" dirty="0" smtClean="0"/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</a:t>
            </a:r>
            <a:endParaRPr lang="en-US" dirty="0">
              <a:cs typeface="Courier New" pitchFamily="49" charset="0"/>
            </a:endParaRPr>
          </a:p>
          <a:p>
            <a:pPr lvl="2"/>
            <a:r>
              <a:rPr lang="en-US" dirty="0" smtClean="0">
                <a:cs typeface="Courier New" pitchFamily="49" charset="0"/>
              </a:rPr>
              <a:t>Does it have an equal key</a:t>
            </a:r>
            <a:r>
              <a:rPr lang="en-US" dirty="0">
                <a:cs typeface="Courier New" pitchFamily="49" charset="0"/>
              </a:rPr>
              <a:t>?</a:t>
            </a:r>
          </a:p>
          <a:p>
            <a:pPr lvl="2"/>
            <a:endParaRPr lang="en-US" sz="1000" dirty="0" smtClean="0"/>
          </a:p>
          <a:p>
            <a:r>
              <a:rPr lang="en-US" dirty="0" smtClean="0"/>
              <a:t>So a hash table needs a hash function and a comparator</a:t>
            </a:r>
          </a:p>
          <a:p>
            <a:pPr lvl="1"/>
            <a:r>
              <a:rPr lang="en-US" dirty="0" smtClean="0"/>
              <a:t>The Java library uses a more object-oriented approach:     each object has methods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equals</a:t>
            </a:r>
            <a:r>
              <a:rPr lang="en-US" dirty="0" smtClean="0"/>
              <a:t> and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hashCode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C538-DB9C-4C6E-889C-964BF974C1DF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86000" y="4343400"/>
            <a:ext cx="4953000" cy="1600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lvl="2">
              <a:buNone/>
            </a:pP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  <a:cs typeface="Courier New" pitchFamily="49" charset="0"/>
              </a:rPr>
              <a:t>Object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{ </a:t>
            </a:r>
          </a:p>
          <a:p>
            <a:pPr marL="0" lvl="2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  <a:cs typeface="Courier New" pitchFamily="49" charset="0"/>
              </a:rPr>
              <a:t>equals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(Object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  <a:cs typeface="Courier New" pitchFamily="49" charset="0"/>
              </a:rPr>
              <a:t>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 {…}</a:t>
            </a:r>
          </a:p>
          <a:p>
            <a:pPr marL="0" lvl="2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  <a:cs typeface="Courier New" pitchFamily="49" charset="0"/>
              </a:rPr>
              <a:t>hashCode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 {…}</a:t>
            </a:r>
          </a:p>
          <a:p>
            <a:pPr marL="0" lvl="2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…</a:t>
            </a:r>
          </a:p>
          <a:p>
            <a:pPr marL="0" lvl="2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02989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 Objects Must Hash the Same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Java library make a crucial assumption clients must satisfy</a:t>
            </a:r>
          </a:p>
          <a:p>
            <a:pPr lvl="1"/>
            <a:r>
              <a:rPr lang="en-US" dirty="0" smtClean="0"/>
              <a:t>And all hash tables make analogous assumptions</a:t>
            </a:r>
          </a:p>
          <a:p>
            <a:endParaRPr lang="en-US" sz="1000" dirty="0" smtClean="0"/>
          </a:p>
          <a:p>
            <a:r>
              <a:rPr lang="en-US" dirty="0" smtClean="0"/>
              <a:t>Object-oriented way of saying it: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chemeClr val="accent2"/>
                </a:solidFill>
              </a:rPr>
              <a:t>If 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a.equals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(b)</a:t>
            </a:r>
            <a:r>
              <a:rPr lang="en-US" dirty="0" smtClean="0">
                <a:solidFill>
                  <a:schemeClr val="accent2"/>
                </a:solidFill>
              </a:rPr>
              <a:t>, then 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a.hashCode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()==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b.hashCode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endParaRPr lang="en-US" sz="1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+mj-lt"/>
                <a:cs typeface="Courier New" pitchFamily="49" charset="0"/>
              </a:rPr>
              <a:t>Why is this essential?</a:t>
            </a:r>
          </a:p>
          <a:p>
            <a:endParaRPr lang="en-US" dirty="0">
              <a:latin typeface="+mj-lt"/>
              <a:cs typeface="Courier New" pitchFamily="49" charset="0"/>
            </a:endParaRPr>
          </a:p>
          <a:p>
            <a:r>
              <a:rPr lang="en-US" dirty="0" smtClean="0">
                <a:latin typeface="+mj-lt"/>
                <a:cs typeface="Courier New" pitchFamily="49" charset="0"/>
              </a:rPr>
              <a:t>Why is this up to the client?</a:t>
            </a:r>
          </a:p>
          <a:p>
            <a:endParaRPr lang="en-US" dirty="0">
              <a:latin typeface="+mj-lt"/>
              <a:cs typeface="Courier New" pitchFamily="49" charset="0"/>
            </a:endParaRPr>
          </a:p>
          <a:p>
            <a:r>
              <a:rPr lang="en-US" dirty="0" smtClean="0">
                <a:latin typeface="+mj-lt"/>
                <a:cs typeface="Courier New" pitchFamily="49" charset="0"/>
              </a:rPr>
              <a:t>So </a:t>
            </a:r>
            <a:r>
              <a:rPr lang="en-US" i="1" dirty="0" smtClean="0">
                <a:latin typeface="+mj-lt"/>
                <a:cs typeface="Courier New" pitchFamily="49" charset="0"/>
              </a:rPr>
              <a:t>always</a:t>
            </a:r>
            <a:r>
              <a:rPr lang="en-US" dirty="0" smtClean="0">
                <a:latin typeface="+mj-lt"/>
                <a:cs typeface="Courier New" pitchFamily="49" charset="0"/>
              </a:rPr>
              <a:t> override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dirty="0" smtClean="0">
                <a:latin typeface="+mj-lt"/>
                <a:cs typeface="Courier New" pitchFamily="49" charset="0"/>
              </a:rPr>
              <a:t> </a:t>
            </a:r>
            <a:r>
              <a:rPr lang="en-US" i="1" dirty="0" smtClean="0">
                <a:latin typeface="+mj-lt"/>
                <a:cs typeface="Courier New" pitchFamily="49" charset="0"/>
              </a:rPr>
              <a:t>correctly</a:t>
            </a:r>
            <a:r>
              <a:rPr lang="en-US" dirty="0" smtClean="0">
                <a:latin typeface="+mj-lt"/>
                <a:cs typeface="Courier New" pitchFamily="49" charset="0"/>
              </a:rPr>
              <a:t> if you override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Many libraries use hash tables on your objects</a:t>
            </a:r>
            <a:endParaRPr lang="en-US" dirty="0">
              <a:latin typeface="+mj-lt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3F6C-8110-414A-9FD8-ECF4CE7D38E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173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By the way: comparison has rules too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800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We have not emphasized important “rules” about comparison for:</a:t>
            </a:r>
          </a:p>
          <a:p>
            <a:pPr lvl="1"/>
            <a:r>
              <a:rPr lang="en-US" dirty="0" smtClean="0"/>
              <a:t>Dictionaries</a:t>
            </a:r>
          </a:p>
          <a:p>
            <a:pPr lvl="1"/>
            <a:r>
              <a:rPr lang="en-US" dirty="0" smtClean="0"/>
              <a:t>Sorting (future major topic)</a:t>
            </a:r>
          </a:p>
          <a:p>
            <a:pPr lvl="1"/>
            <a:endParaRPr lang="en-US" sz="1000" dirty="0" smtClean="0"/>
          </a:p>
          <a:p>
            <a:pPr>
              <a:buNone/>
            </a:pPr>
            <a:r>
              <a:rPr lang="en-US" dirty="0" smtClean="0"/>
              <a:t>Comparison must impose a consistent, total ordering:</a:t>
            </a:r>
          </a:p>
          <a:p>
            <a:pPr>
              <a:buNone/>
            </a:pPr>
            <a:endParaRPr lang="en-US" sz="1000" dirty="0" smtClean="0"/>
          </a:p>
          <a:p>
            <a:pPr>
              <a:buNone/>
            </a:pPr>
            <a:r>
              <a:rPr lang="en-US" dirty="0" smtClean="0"/>
              <a:t>For all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b</a:t>
            </a:r>
            <a:r>
              <a:rPr lang="en-US" dirty="0" smtClean="0"/>
              <a:t>, and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dirty="0" smtClean="0"/>
              <a:t>,</a:t>
            </a:r>
          </a:p>
          <a:p>
            <a:pPr lvl="1"/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a.compareTo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(a) == 0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a.compareTo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(b) &lt; 0</a:t>
            </a:r>
            <a:r>
              <a:rPr lang="en-US" dirty="0" smtClean="0"/>
              <a:t>, then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b.compareTo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(a) &gt; 0</a:t>
            </a:r>
          </a:p>
          <a:p>
            <a:pPr lvl="1"/>
            <a:r>
              <a:rPr lang="en-US" dirty="0" smtClean="0"/>
              <a:t>If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a.compareTo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(b)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== 0</a:t>
            </a:r>
            <a:r>
              <a:rPr lang="en-US" dirty="0" smtClean="0"/>
              <a:t>, then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b.compareTo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(a)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== 0</a:t>
            </a:r>
          </a:p>
          <a:p>
            <a:pPr lvl="1"/>
            <a:r>
              <a:rPr lang="en-US" dirty="0" smtClean="0"/>
              <a:t>If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a.compareTo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(b)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 0</a:t>
            </a:r>
            <a:r>
              <a:rPr lang="en-US" dirty="0" smtClean="0"/>
              <a:t> and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b.compareTo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(c) &lt; 0</a:t>
            </a:r>
            <a:r>
              <a:rPr lang="en-US" dirty="0" smtClean="0"/>
              <a:t>,                        then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a.compareTo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(c) &lt; 0</a:t>
            </a:r>
          </a:p>
          <a:p>
            <a:pPr lvl="1"/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dirty="0" smtClean="0"/>
              <a:t>This is surprisingly awkward because of </a:t>
            </a:r>
            <a:r>
              <a:rPr lang="en-US" dirty="0" err="1" smtClean="0"/>
              <a:t>subclassing</a:t>
            </a:r>
            <a:r>
              <a:rPr lang="en-US" dirty="0" smtClean="0"/>
              <a:t>…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0276-5466-4D52-9D6E-11494CD3305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759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35A0-03C1-47D1-A4CF-EFE4DF975384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1447800"/>
            <a:ext cx="8077200" cy="3810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class</a:t>
            </a:r>
            <a:r>
              <a:rPr lang="en-US" sz="2000" kern="0" dirty="0" smtClean="0">
                <a:latin typeface="Courier New" pitchFamily="49" charset="0"/>
              </a:rPr>
              <a:t> </a:t>
            </a:r>
            <a:r>
              <a:rPr lang="en-US" sz="2000" kern="0" dirty="0" err="1" smtClean="0">
                <a:solidFill>
                  <a:srgbClr val="119F33"/>
                </a:solidFill>
                <a:latin typeface="Courier New" pitchFamily="49" charset="0"/>
              </a:rPr>
              <a:t>MyDate</a:t>
            </a:r>
            <a:r>
              <a:rPr lang="en-US" sz="2000" kern="0" dirty="0" smtClean="0">
                <a:latin typeface="Courier New" pitchFamily="49" charset="0"/>
              </a:rPr>
              <a:t> {</a:t>
            </a:r>
          </a:p>
          <a:p>
            <a:pPr marL="342900" marR="0" lvl="0" indent="-34290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 smtClean="0">
                <a:latin typeface="Courier New" pitchFamily="49" charset="0"/>
              </a:rPr>
              <a:t>  </a:t>
            </a:r>
            <a:r>
              <a:rPr lang="en-US" sz="2000" kern="0" dirty="0" err="1" smtClean="0">
                <a:latin typeface="Courier New" pitchFamily="49" charset="0"/>
              </a:rPr>
              <a:t>int</a:t>
            </a:r>
            <a:r>
              <a:rPr lang="en-US" sz="2000" kern="0" dirty="0" smtClean="0">
                <a:latin typeface="Courier New" pitchFamily="49" charset="0"/>
              </a:rPr>
              <a:t> </a:t>
            </a:r>
            <a:r>
              <a:rPr lang="en-US" sz="2000" kern="0" dirty="0" smtClean="0">
                <a:solidFill>
                  <a:srgbClr val="119F33"/>
                </a:solidFill>
                <a:latin typeface="Courier New" pitchFamily="49" charset="0"/>
              </a:rPr>
              <a:t>month</a:t>
            </a:r>
            <a:r>
              <a:rPr lang="en-US" sz="2000" kern="0" dirty="0" smtClean="0">
                <a:latin typeface="Courier New" pitchFamily="49" charset="0"/>
              </a:rPr>
              <a:t>;</a:t>
            </a: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latin typeface="Courier New" pitchFamily="49" charset="0"/>
              </a:rPr>
              <a:t>  </a:t>
            </a:r>
            <a:r>
              <a:rPr lang="en-US" sz="2000" kern="0" dirty="0" err="1">
                <a:latin typeface="Courier New" pitchFamily="49" charset="0"/>
              </a:rPr>
              <a:t>int</a:t>
            </a:r>
            <a:r>
              <a:rPr lang="en-US" sz="2000" kern="0" dirty="0">
                <a:latin typeface="Courier New" pitchFamily="49" charset="0"/>
              </a:rPr>
              <a:t> </a:t>
            </a:r>
            <a:r>
              <a:rPr lang="en-US" sz="2000" kern="0" dirty="0" smtClean="0">
                <a:solidFill>
                  <a:srgbClr val="119F33"/>
                </a:solidFill>
                <a:latin typeface="Courier New" pitchFamily="49" charset="0"/>
              </a:rPr>
              <a:t>year</a:t>
            </a:r>
            <a:r>
              <a:rPr lang="en-US" sz="2000" kern="0" dirty="0" smtClean="0">
                <a:latin typeface="Courier New" pitchFamily="49" charset="0"/>
              </a:rPr>
              <a:t>;</a:t>
            </a: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latin typeface="Courier New" pitchFamily="49" charset="0"/>
              </a:rPr>
              <a:t>  </a:t>
            </a:r>
            <a:r>
              <a:rPr lang="en-US" sz="2000" kern="0" dirty="0" err="1">
                <a:latin typeface="Courier New" pitchFamily="49" charset="0"/>
              </a:rPr>
              <a:t>int</a:t>
            </a:r>
            <a:r>
              <a:rPr lang="en-US" sz="2000" kern="0" dirty="0">
                <a:latin typeface="Courier New" pitchFamily="49" charset="0"/>
              </a:rPr>
              <a:t> </a:t>
            </a:r>
            <a:r>
              <a:rPr lang="en-US" sz="2000" kern="0" dirty="0" smtClean="0">
                <a:solidFill>
                  <a:srgbClr val="119F33"/>
                </a:solidFill>
                <a:latin typeface="Courier New" pitchFamily="49" charset="0"/>
              </a:rPr>
              <a:t>day</a:t>
            </a:r>
            <a:r>
              <a:rPr lang="en-US" sz="2000" kern="0" dirty="0" smtClean="0">
                <a:latin typeface="Courier New" pitchFamily="49" charset="0"/>
              </a:rPr>
              <a:t>;</a:t>
            </a: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endParaRPr lang="en-US" sz="2000" kern="0" dirty="0" smtClean="0">
              <a:latin typeface="Courier New" pitchFamily="49" charset="0"/>
            </a:endParaRP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Courier New" pitchFamily="49" charset="0"/>
              </a:rPr>
              <a:t> </a:t>
            </a:r>
            <a:r>
              <a:rPr lang="en-US" sz="2000" kern="0" dirty="0" smtClean="0">
                <a:latin typeface="Courier New" pitchFamily="49" charset="0"/>
              </a:rPr>
              <a:t> </a:t>
            </a:r>
            <a:r>
              <a:rPr lang="en-US" sz="2000" kern="0" dirty="0" err="1" smtClean="0">
                <a:latin typeface="Courier New" pitchFamily="49" charset="0"/>
              </a:rPr>
              <a:t>boolean</a:t>
            </a:r>
            <a:r>
              <a:rPr lang="en-US" sz="2000" kern="0" dirty="0" smtClean="0">
                <a:latin typeface="Courier New" pitchFamily="49" charset="0"/>
              </a:rPr>
              <a:t> </a:t>
            </a:r>
            <a:r>
              <a:rPr lang="en-US" sz="2000" kern="0" dirty="0" smtClean="0">
                <a:solidFill>
                  <a:srgbClr val="119F33"/>
                </a:solidFill>
                <a:latin typeface="Courier New" pitchFamily="49" charset="0"/>
              </a:rPr>
              <a:t>equals</a:t>
            </a:r>
            <a:r>
              <a:rPr lang="en-US" sz="2000" kern="0" dirty="0" smtClean="0">
                <a:latin typeface="Courier New" pitchFamily="49" charset="0"/>
              </a:rPr>
              <a:t>(Object </a:t>
            </a:r>
            <a:r>
              <a:rPr lang="en-US" sz="2000" kern="0" dirty="0" err="1" smtClean="0">
                <a:solidFill>
                  <a:srgbClr val="119F33"/>
                </a:solidFill>
                <a:latin typeface="Courier New" pitchFamily="49" charset="0"/>
              </a:rPr>
              <a:t>otherObject</a:t>
            </a:r>
            <a:r>
              <a:rPr lang="en-US" sz="2000" kern="0" dirty="0" smtClean="0">
                <a:latin typeface="Courier New" pitchFamily="49" charset="0"/>
              </a:rPr>
              <a:t>) {</a:t>
            </a: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latin typeface="Courier New" pitchFamily="49" charset="0"/>
              </a:rPr>
              <a:t>    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kern="0" dirty="0" smtClean="0">
                <a:latin typeface="Courier New" pitchFamily="49" charset="0"/>
              </a:rPr>
              <a:t>(this==</a:t>
            </a:r>
            <a:r>
              <a:rPr lang="en-US" sz="2000" kern="0" dirty="0" err="1" smtClean="0">
                <a:latin typeface="Courier New" pitchFamily="49" charset="0"/>
              </a:rPr>
              <a:t>otherObject</a:t>
            </a:r>
            <a:r>
              <a:rPr lang="en-US" sz="2000" kern="0" dirty="0" smtClean="0">
                <a:latin typeface="Courier New" pitchFamily="49" charset="0"/>
              </a:rPr>
              <a:t>)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en-US" sz="2000" kern="0" dirty="0" smtClean="0">
                <a:latin typeface="Courier New" pitchFamily="49" charset="0"/>
              </a:rPr>
              <a:t> true; </a:t>
            </a:r>
            <a:r>
              <a:rPr lang="en-US" sz="2000" kern="0" dirty="0" smtClean="0">
                <a:solidFill>
                  <a:srgbClr val="7030A0"/>
                </a:solidFill>
                <a:latin typeface="Courier New" pitchFamily="49" charset="0"/>
              </a:rPr>
              <a:t>// common?</a:t>
            </a: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latin typeface="Courier New" pitchFamily="49" charset="0"/>
              </a:rPr>
              <a:t> 	  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kern="0" dirty="0" smtClean="0">
                <a:latin typeface="Courier New" pitchFamily="49" charset="0"/>
              </a:rPr>
              <a:t>(</a:t>
            </a:r>
            <a:r>
              <a:rPr lang="en-US" sz="2000" kern="0" dirty="0" err="1" smtClean="0">
                <a:latin typeface="Courier New" pitchFamily="49" charset="0"/>
              </a:rPr>
              <a:t>otherObject</a:t>
            </a:r>
            <a:r>
              <a:rPr lang="en-US" sz="2000" kern="0" dirty="0" smtClean="0">
                <a:latin typeface="Courier New" pitchFamily="49" charset="0"/>
              </a:rPr>
              <a:t>==null)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en-US" sz="2000" kern="0" dirty="0" smtClean="0">
                <a:latin typeface="Courier New" pitchFamily="49" charset="0"/>
              </a:rPr>
              <a:t> false;</a:t>
            </a: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latin typeface="Courier New" pitchFamily="49" charset="0"/>
              </a:rPr>
              <a:t>    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kern="0" dirty="0" smtClean="0">
                <a:latin typeface="Courier New" pitchFamily="49" charset="0"/>
              </a:rPr>
              <a:t>(</a:t>
            </a:r>
            <a:r>
              <a:rPr lang="en-US" sz="2000" kern="0" dirty="0" err="1" smtClean="0">
                <a:latin typeface="Courier New" pitchFamily="49" charset="0"/>
              </a:rPr>
              <a:t>getClass</a:t>
            </a:r>
            <a:r>
              <a:rPr lang="en-US" sz="2000" kern="0" dirty="0" smtClean="0">
                <a:latin typeface="Courier New" pitchFamily="49" charset="0"/>
              </a:rPr>
              <a:t>()!=</a:t>
            </a:r>
            <a:r>
              <a:rPr lang="en-US" sz="2000" kern="0" dirty="0" err="1" smtClean="0">
                <a:latin typeface="Courier New" pitchFamily="49" charset="0"/>
              </a:rPr>
              <a:t>other.getClass</a:t>
            </a:r>
            <a:r>
              <a:rPr lang="en-US" sz="2000" kern="0" dirty="0" smtClean="0">
                <a:latin typeface="Courier New" pitchFamily="49" charset="0"/>
              </a:rPr>
              <a:t>()) </a:t>
            </a: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en-US" sz="2000" kern="0" dirty="0" smtClean="0">
                <a:latin typeface="Courier New" pitchFamily="49" charset="0"/>
              </a:rPr>
              <a:t> false;</a:t>
            </a: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solidFill>
                  <a:schemeClr val="accent2"/>
                </a:solidFill>
                <a:latin typeface="Courier New" pitchFamily="49" charset="0"/>
              </a:rPr>
              <a:t>	   return</a:t>
            </a:r>
            <a:r>
              <a:rPr lang="en-US" sz="2000" kern="0" dirty="0" smtClean="0">
                <a:latin typeface="Courier New" pitchFamily="49" charset="0"/>
              </a:rPr>
              <a:t> month = </a:t>
            </a:r>
            <a:r>
              <a:rPr lang="en-US" sz="2000" kern="0" dirty="0" err="1" smtClean="0">
                <a:latin typeface="Courier New" pitchFamily="49" charset="0"/>
              </a:rPr>
              <a:t>otherObject.month</a:t>
            </a:r>
            <a:endParaRPr lang="en-US" sz="2000" kern="0" dirty="0" smtClean="0">
              <a:latin typeface="Courier New" pitchFamily="49" charset="0"/>
            </a:endParaRP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Courier New" pitchFamily="49" charset="0"/>
              </a:rPr>
              <a:t> </a:t>
            </a:r>
            <a:r>
              <a:rPr lang="en-US" sz="2000" kern="0" dirty="0" smtClean="0">
                <a:latin typeface="Courier New" pitchFamily="49" charset="0"/>
              </a:rPr>
              <a:t>           &amp;&amp; year = </a:t>
            </a:r>
            <a:r>
              <a:rPr lang="en-US" sz="2000" kern="0" dirty="0" err="1" smtClean="0">
                <a:latin typeface="Courier New" pitchFamily="49" charset="0"/>
              </a:rPr>
              <a:t>otherObject.year</a:t>
            </a:r>
            <a:endParaRPr lang="en-US" sz="2000" kern="0" dirty="0">
              <a:latin typeface="Courier New" pitchFamily="49" charset="0"/>
            </a:endParaRP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latin typeface="Courier New" pitchFamily="49" charset="0"/>
              </a:rPr>
              <a:t>            &amp;&amp; day = </a:t>
            </a:r>
            <a:r>
              <a:rPr lang="en-US" sz="2000" kern="0" dirty="0" err="1" smtClean="0">
                <a:latin typeface="Courier New" pitchFamily="49" charset="0"/>
              </a:rPr>
              <a:t>otherObject.day</a:t>
            </a:r>
            <a:r>
              <a:rPr lang="en-US" sz="2000" kern="0" dirty="0" smtClean="0">
                <a:latin typeface="Courier New" pitchFamily="49" charset="0"/>
              </a:rPr>
              <a:t>;</a:t>
            </a: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latin typeface="Courier New" pitchFamily="49" charset="0"/>
              </a:rPr>
              <a:t>  }</a:t>
            </a:r>
          </a:p>
          <a:p>
            <a:pPr marL="342900" lvl="0" indent="-342900">
              <a:lnSpc>
                <a:spcPts val="15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solidFill>
                  <a:srgbClr val="FF0000"/>
                </a:solidFill>
                <a:latin typeface="Courier New" pitchFamily="49" charset="0"/>
              </a:rPr>
              <a:t>	</a:t>
            </a:r>
            <a:r>
              <a:rPr lang="en-US" sz="2000" kern="0" dirty="0" smtClean="0">
                <a:solidFill>
                  <a:srgbClr val="C00000"/>
                </a:solidFill>
                <a:latin typeface="Courier New" pitchFamily="49" charset="0"/>
              </a:rPr>
              <a:t>// wrong: must also override </a:t>
            </a:r>
            <a:r>
              <a:rPr lang="en-US" sz="2000" kern="0" dirty="0" err="1" smtClean="0">
                <a:solidFill>
                  <a:srgbClr val="C00000"/>
                </a:solidFill>
                <a:latin typeface="Courier New" pitchFamily="49" charset="0"/>
              </a:rPr>
              <a:t>hashCode</a:t>
            </a:r>
            <a:r>
              <a:rPr lang="en-US" sz="2000" kern="0" dirty="0" smtClean="0">
                <a:solidFill>
                  <a:srgbClr val="C00000"/>
                </a:solidFill>
                <a:latin typeface="Courier New" pitchFamily="49" charset="0"/>
              </a:rPr>
              <a:t>!</a:t>
            </a:r>
          </a:p>
          <a:p>
            <a:pPr marL="342900" marR="0" lvl="0" indent="-34290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27436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Tougher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Suppose you had a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Fraction</a:t>
            </a:r>
            <a:r>
              <a:rPr lang="en-US" dirty="0" smtClean="0"/>
              <a:t> class where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  <a:r>
              <a:rPr lang="en-US" dirty="0" smtClean="0"/>
              <a:t> returned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 smtClean="0"/>
              <a:t> for 1/2 and 3/6, etc.</a:t>
            </a:r>
          </a:p>
          <a:p>
            <a:endParaRPr lang="en-US" dirty="0"/>
          </a:p>
          <a:p>
            <a:r>
              <a:rPr lang="en-US" dirty="0" smtClean="0"/>
              <a:t>Then must override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dirty="0" smtClean="0"/>
              <a:t> and cannot hash just based on the numerator and denominator</a:t>
            </a:r>
          </a:p>
          <a:p>
            <a:pPr lvl="1"/>
            <a:r>
              <a:rPr lang="en-US" dirty="0" smtClean="0"/>
              <a:t>Need 1/2 and 3/6 to hash to the same </a:t>
            </a:r>
            <a:r>
              <a:rPr lang="en-US" dirty="0" err="1" smtClean="0"/>
              <a:t>int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If you write software for a living, you are less likely to implement hash tables from scratch than you are likely to encounter this issue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7722-71AC-4A21-ACE0-88E2C242D2BB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148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 and notes on hashing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hash table is one of the most important data structures</a:t>
            </a:r>
          </a:p>
          <a:p>
            <a:pPr lvl="1"/>
            <a:r>
              <a:rPr lang="en-US" dirty="0" smtClean="0"/>
              <a:t>Supports only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find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insert</a:t>
            </a:r>
            <a:r>
              <a:rPr lang="en-US" dirty="0" smtClean="0"/>
              <a:t>, and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delete</a:t>
            </a:r>
            <a:r>
              <a:rPr lang="en-US" dirty="0" smtClean="0"/>
              <a:t> efficiently</a:t>
            </a:r>
          </a:p>
          <a:p>
            <a:pPr lvl="1"/>
            <a:r>
              <a:rPr lang="en-US" dirty="0" smtClean="0"/>
              <a:t>Have to search entire table for other operations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Important to use a good hash function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Important to keep hash table at a good size</a:t>
            </a:r>
          </a:p>
          <a:p>
            <a:endParaRPr lang="en-US" dirty="0" smtClean="0"/>
          </a:p>
          <a:p>
            <a:r>
              <a:rPr lang="en-US" dirty="0" smtClean="0"/>
              <a:t>Side-comment: hash functions have uses beyond hash tables</a:t>
            </a:r>
          </a:p>
          <a:p>
            <a:pPr lvl="1"/>
            <a:r>
              <a:rPr lang="en-US" dirty="0" smtClean="0"/>
              <a:t>Examples: Cryptography, check-sums</a:t>
            </a:r>
          </a:p>
          <a:p>
            <a:pPr lvl="1"/>
            <a:endParaRPr lang="en-US" dirty="0"/>
          </a:p>
          <a:p>
            <a:r>
              <a:rPr lang="en-US" dirty="0" smtClean="0"/>
              <a:t>Big remaining topic: Handling collisions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46841-0E12-4325-AB47-6AC28F1844BE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726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Collision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accent2"/>
                </a:solidFill>
              </a:rPr>
              <a:t>Collision</a:t>
            </a:r>
            <a:r>
              <a:rPr lang="en-US" dirty="0" smtClean="0"/>
              <a:t>: </a:t>
            </a:r>
          </a:p>
          <a:p>
            <a:pPr>
              <a:buNone/>
            </a:pPr>
            <a:r>
              <a:rPr lang="en-US" dirty="0" smtClean="0"/>
              <a:t>	When two keys map to the same location in the hash table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We try to avoid it, but number-of-keys exceeds table size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So hash tables should support </a:t>
            </a:r>
            <a:r>
              <a:rPr lang="en-US" dirty="0" smtClean="0">
                <a:solidFill>
                  <a:schemeClr val="accent2"/>
                </a:solidFill>
              </a:rPr>
              <a:t>collision resolution</a:t>
            </a:r>
          </a:p>
          <a:p>
            <a:pPr lvl="1"/>
            <a:r>
              <a:rPr lang="en-US" dirty="0" smtClean="0"/>
              <a:t>Ideas?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D6BA-5D09-4F82-8E87-30437F78B391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482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Separate Chaining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1371600"/>
            <a:ext cx="48006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Chaining:</a:t>
            </a:r>
            <a:br>
              <a:rPr lang="en-US" dirty="0" smtClean="0"/>
            </a:br>
            <a:r>
              <a:rPr lang="en-US" dirty="0" smtClean="0"/>
              <a:t>All keys that map to the same</a:t>
            </a:r>
            <a:br>
              <a:rPr lang="en-US" dirty="0" smtClean="0"/>
            </a:br>
            <a:r>
              <a:rPr lang="en-US" dirty="0" smtClean="0"/>
              <a:t>table location are kept in a list</a:t>
            </a:r>
            <a:br>
              <a:rPr lang="en-US" dirty="0" smtClean="0"/>
            </a:br>
            <a:r>
              <a:rPr lang="en-US" dirty="0" smtClean="0"/>
              <a:t>(a.k.a. a “chain” or “bucket”)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 easy as it sounds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>insert 10, 22, 107, 12, 42</a:t>
            </a:r>
            <a:br>
              <a:rPr lang="en-US" dirty="0" smtClean="0"/>
            </a:br>
            <a:r>
              <a:rPr lang="en-US" dirty="0" smtClean="0"/>
              <a:t>with mod hashing</a:t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= 10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2B5B-E29F-4063-947B-A345E071FDC3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7" name="Group 6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447800"/>
          <a:ext cx="1219200" cy="3962400"/>
        </p:xfrm>
        <a:graphic>
          <a:graphicData uri="http://schemas.openxmlformats.org/drawingml/2006/table">
            <a:tbl>
              <a:tblPr/>
              <a:tblGrid>
                <a:gridCol w="638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0130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Separate Chaining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F63A-5085-4DE4-B945-CF3C63279B41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7" name="Group 6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447800"/>
          <a:ext cx="1219200" cy="3962400"/>
        </p:xfrm>
        <a:graphic>
          <a:graphicData uri="http://schemas.openxmlformats.org/drawingml/2006/table">
            <a:tbl>
              <a:tblPr/>
              <a:tblGrid>
                <a:gridCol w="638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09800" y="152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7" name="AutoShape 9"/>
          <p:cNvCxnSpPr>
            <a:cxnSpLocks noChangeShapeType="1"/>
          </p:cNvCxnSpPr>
          <p:nvPr>
            <p:custDataLst>
              <p:tags r:id="rId5"/>
            </p:custDataLst>
          </p:nvPr>
        </p:nvCxnSpPr>
        <p:spPr bwMode="auto">
          <a:xfrm>
            <a:off x="1524000" y="1676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8" name="Rectangle 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114800" y="1371600"/>
            <a:ext cx="48006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Chaining: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All keys that map to the same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table location are kept in a list    (a.k.a. a “chain” or “bucket”)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 easy as it sounds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Example: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insert 10, 22, 107, 12, 42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with mod hashing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and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= 10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049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Separate Chaining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7B6F-D45B-4C18-B89F-7256AC540428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7" name="Group 6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447800"/>
          <a:ext cx="1219200" cy="3962400"/>
        </p:xfrm>
        <a:graphic>
          <a:graphicData uri="http://schemas.openxmlformats.org/drawingml/2006/table">
            <a:tbl>
              <a:tblPr/>
              <a:tblGrid>
                <a:gridCol w="638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09800" y="152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7" name="AutoShape 9"/>
          <p:cNvCxnSpPr>
            <a:cxnSpLocks noChangeShapeType="1"/>
          </p:cNvCxnSpPr>
          <p:nvPr>
            <p:custDataLst>
              <p:tags r:id="rId5"/>
            </p:custDataLst>
          </p:nvPr>
        </p:nvCxnSpPr>
        <p:spPr bwMode="auto">
          <a:xfrm>
            <a:off x="1524000" y="1676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8" name="Rectangle 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9" name="Rectangle 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1336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22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0" name="Rectangle 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Rectangle 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860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2" name="AutoShape 9"/>
          <p:cNvCxnSpPr>
            <a:cxnSpLocks noChangeShapeType="1"/>
          </p:cNvCxnSpPr>
          <p:nvPr>
            <p:custDataLst>
              <p:tags r:id="rId10"/>
            </p:custDataLst>
          </p:nvPr>
        </p:nvCxnSpPr>
        <p:spPr bwMode="auto">
          <a:xfrm>
            <a:off x="16002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3" name="Rectangle 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114800" y="1371600"/>
            <a:ext cx="48006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Chaining: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All keys that map to the same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table location are kept in a list    (a.k.a. a “chain” or “bucket”)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 easy as it sounds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Example: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insert 10, 22, 107, 12, 42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with mod hashing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and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= 10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471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Separate Chaining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63B6-DD19-4E54-BED1-516769CB1065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7" name="Group 6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447800"/>
          <a:ext cx="1219200" cy="3962400"/>
        </p:xfrm>
        <a:graphic>
          <a:graphicData uri="http://schemas.openxmlformats.org/drawingml/2006/table">
            <a:tbl>
              <a:tblPr/>
              <a:tblGrid>
                <a:gridCol w="638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09800" y="152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7" name="AutoShape 9"/>
          <p:cNvCxnSpPr>
            <a:cxnSpLocks noChangeShapeType="1"/>
          </p:cNvCxnSpPr>
          <p:nvPr>
            <p:custDataLst>
              <p:tags r:id="rId5"/>
            </p:custDataLst>
          </p:nvPr>
        </p:nvCxnSpPr>
        <p:spPr bwMode="auto">
          <a:xfrm>
            <a:off x="1524000" y="1676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8" name="Rectangle 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9" name="Rectangle 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1336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22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0" name="Rectangle 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Rectangle 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860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2" name="AutoShape 9"/>
          <p:cNvCxnSpPr>
            <a:cxnSpLocks noChangeShapeType="1"/>
          </p:cNvCxnSpPr>
          <p:nvPr>
            <p:custDataLst>
              <p:tags r:id="rId10"/>
            </p:custDataLst>
          </p:nvPr>
        </p:nvCxnSpPr>
        <p:spPr bwMode="auto">
          <a:xfrm>
            <a:off x="16002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3" name="Rectangle 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8" name="Rectangle 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2098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107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9" name="Rectangle 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5146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362200" y="4267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1" name="AutoShape 9"/>
          <p:cNvCxnSpPr>
            <a:cxnSpLocks noChangeShapeType="1"/>
          </p:cNvCxnSpPr>
          <p:nvPr>
            <p:custDataLst>
              <p:tags r:id="rId15"/>
            </p:custDataLst>
          </p:nvPr>
        </p:nvCxnSpPr>
        <p:spPr bwMode="auto">
          <a:xfrm>
            <a:off x="1676400" y="44196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Rectangle 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5146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4114800" y="1371600"/>
            <a:ext cx="48006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Chaining: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All keys that map to the same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table location are kept in a list    (a.k.a. a “chain” or “bucket”)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 easy as it sounds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Example: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insert 10, 22, 107, 12, 42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with mod hashing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and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= 10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5313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Separate Chaining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B9AF-02BA-47DA-84E0-26F8035603B8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7" name="Group 6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447800"/>
          <a:ext cx="1219200" cy="3962400"/>
        </p:xfrm>
        <a:graphic>
          <a:graphicData uri="http://schemas.openxmlformats.org/drawingml/2006/table">
            <a:tbl>
              <a:tblPr/>
              <a:tblGrid>
                <a:gridCol w="638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09800" y="152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7" name="AutoShape 9"/>
          <p:cNvCxnSpPr>
            <a:cxnSpLocks noChangeShapeType="1"/>
          </p:cNvCxnSpPr>
          <p:nvPr>
            <p:custDataLst>
              <p:tags r:id="rId5"/>
            </p:custDataLst>
          </p:nvPr>
        </p:nvCxnSpPr>
        <p:spPr bwMode="auto">
          <a:xfrm>
            <a:off x="1524000" y="1676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8" name="Rectangle 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9" name="Rectangle 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1336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1</a:t>
            </a:r>
            <a:r>
              <a:rPr lang="en-US" sz="1800" dirty="0" smtClean="0">
                <a:solidFill>
                  <a:schemeClr val="tx1"/>
                </a:solidFill>
              </a:rPr>
              <a:t>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0" name="Rectangle 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Rectangle 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860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2" name="AutoShape 9"/>
          <p:cNvCxnSpPr>
            <a:cxnSpLocks noChangeShapeType="1"/>
          </p:cNvCxnSpPr>
          <p:nvPr>
            <p:custDataLst>
              <p:tags r:id="rId10"/>
            </p:custDataLst>
          </p:nvPr>
        </p:nvCxnSpPr>
        <p:spPr bwMode="auto">
          <a:xfrm>
            <a:off x="16002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3" name="Rectangle 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8" name="Rectangle 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2098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107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9" name="Rectangle 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5146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362200" y="4267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1" name="AutoShape 9"/>
          <p:cNvCxnSpPr>
            <a:cxnSpLocks noChangeShapeType="1"/>
          </p:cNvCxnSpPr>
          <p:nvPr>
            <p:custDataLst>
              <p:tags r:id="rId15"/>
            </p:custDataLst>
          </p:nvPr>
        </p:nvCxnSpPr>
        <p:spPr bwMode="auto">
          <a:xfrm>
            <a:off x="1676400" y="44196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Rectangle 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5146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3" name="Rectangle 3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1242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22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4" name="Rectangle 4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4290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5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2766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6" name="AutoShape 9"/>
          <p:cNvCxnSpPr>
            <a:cxnSpLocks noChangeShapeType="1"/>
          </p:cNvCxnSpPr>
          <p:nvPr>
            <p:custDataLst>
              <p:tags r:id="rId20"/>
            </p:custDataLst>
          </p:nvPr>
        </p:nvCxnSpPr>
        <p:spPr bwMode="auto">
          <a:xfrm>
            <a:off x="25908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" name="Rectangle 3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4290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4114800" y="1371600"/>
            <a:ext cx="48006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Chaining: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All keys that map to the same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table location are kept in a list    (a.k.a. a “chain” or “bucket”)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 easy as it sounds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Example: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insert 10, 22, 107, 12, 42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with mod hashing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and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= 10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374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Separate Chaining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7D82-4F96-495F-8299-CCDB8BD01A9B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7" name="Group 6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447800"/>
          <a:ext cx="1219200" cy="3962400"/>
        </p:xfrm>
        <a:graphic>
          <a:graphicData uri="http://schemas.openxmlformats.org/drawingml/2006/table">
            <a:tbl>
              <a:tblPr/>
              <a:tblGrid>
                <a:gridCol w="638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09800" y="152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7" name="AutoShape 9"/>
          <p:cNvCxnSpPr>
            <a:cxnSpLocks noChangeShapeType="1"/>
          </p:cNvCxnSpPr>
          <p:nvPr>
            <p:custDataLst>
              <p:tags r:id="rId5"/>
            </p:custDataLst>
          </p:nvPr>
        </p:nvCxnSpPr>
        <p:spPr bwMode="auto">
          <a:xfrm>
            <a:off x="1524000" y="1676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8" name="Rectangle 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9" name="Rectangle 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1336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4</a:t>
            </a:r>
            <a:r>
              <a:rPr lang="en-US" sz="1800" dirty="0" smtClean="0">
                <a:solidFill>
                  <a:schemeClr val="tx1"/>
                </a:solidFill>
              </a:rPr>
              <a:t>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0" name="Rectangle 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Rectangle 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860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2" name="AutoShape 9"/>
          <p:cNvCxnSpPr>
            <a:cxnSpLocks noChangeShapeType="1"/>
          </p:cNvCxnSpPr>
          <p:nvPr>
            <p:custDataLst>
              <p:tags r:id="rId10"/>
            </p:custDataLst>
          </p:nvPr>
        </p:nvCxnSpPr>
        <p:spPr bwMode="auto">
          <a:xfrm>
            <a:off x="16002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3" name="Rectangle 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8" name="Rectangle 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2098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107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9" name="Rectangle 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5146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362200" y="4267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1" name="AutoShape 9"/>
          <p:cNvCxnSpPr>
            <a:cxnSpLocks noChangeShapeType="1"/>
          </p:cNvCxnSpPr>
          <p:nvPr>
            <p:custDataLst>
              <p:tags r:id="rId15"/>
            </p:custDataLst>
          </p:nvPr>
        </p:nvCxnSpPr>
        <p:spPr bwMode="auto">
          <a:xfrm>
            <a:off x="1676400" y="44196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Rectangle 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5146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3" name="Rectangle 3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1242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1</a:t>
            </a:r>
            <a:r>
              <a:rPr lang="en-US" sz="1800" dirty="0" smtClean="0">
                <a:solidFill>
                  <a:schemeClr val="tx1"/>
                </a:solidFill>
              </a:rPr>
              <a:t>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4" name="Rectangle 4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4290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5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2766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6" name="AutoShape 9"/>
          <p:cNvCxnSpPr>
            <a:cxnSpLocks noChangeShapeType="1"/>
          </p:cNvCxnSpPr>
          <p:nvPr>
            <p:custDataLst>
              <p:tags r:id="rId20"/>
            </p:custDataLst>
          </p:nvPr>
        </p:nvCxnSpPr>
        <p:spPr bwMode="auto">
          <a:xfrm>
            <a:off x="25908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" name="Rectangle 3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4290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8" name="Rectangle 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41148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22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9" name="Rectangle 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4196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42672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1" name="AutoShape 9"/>
          <p:cNvCxnSpPr>
            <a:cxnSpLocks noChangeShapeType="1"/>
          </p:cNvCxnSpPr>
          <p:nvPr>
            <p:custDataLst>
              <p:tags r:id="rId25"/>
            </p:custDataLst>
          </p:nvPr>
        </p:nvCxnSpPr>
        <p:spPr bwMode="auto">
          <a:xfrm>
            <a:off x="35814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2" name="Rectangle 3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44196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4495800" y="1371600"/>
            <a:ext cx="42672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Chaining: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All keys that map to the same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table location are kept in a list    (a.k.a. a “chain” or “bucket”)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 easy as it sounds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Example: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insert 10, 22, 107, 12, 42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with mod hashing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and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 = 10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1905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Thoughts on chaining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Worst-case time for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find</a:t>
            </a:r>
            <a:r>
              <a:rPr lang="en-US" dirty="0"/>
              <a:t>?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Linear</a:t>
            </a:r>
          </a:p>
          <a:p>
            <a:pPr lvl="1"/>
            <a:r>
              <a:rPr lang="en-US" dirty="0" smtClean="0"/>
              <a:t>But only with really bad luck or bad hash function</a:t>
            </a:r>
          </a:p>
          <a:p>
            <a:pPr lvl="1"/>
            <a:r>
              <a:rPr lang="en-US" dirty="0" smtClean="0"/>
              <a:t>So not worth avoiding (e.g., with balanced trees at each bucket)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Beyond asymptotic complexity, some “data-structure engineering” may be warranted</a:t>
            </a:r>
          </a:p>
          <a:p>
            <a:pPr lvl="1"/>
            <a:r>
              <a:rPr lang="en-US" dirty="0" smtClean="0"/>
              <a:t>Linked list vs. array vs. chunked list (lists should be short!)</a:t>
            </a:r>
          </a:p>
          <a:p>
            <a:pPr lvl="1"/>
            <a:r>
              <a:rPr lang="en-US" dirty="0" smtClean="0"/>
              <a:t>Move-to-front</a:t>
            </a:r>
          </a:p>
          <a:p>
            <a:pPr lvl="1"/>
            <a:r>
              <a:rPr lang="en-US" dirty="0" smtClean="0"/>
              <a:t>Maybe leave room for 1 element (or 2?) in the table itself, to optimize constant factors for the common case</a:t>
            </a:r>
          </a:p>
          <a:p>
            <a:pPr lvl="2"/>
            <a:r>
              <a:rPr lang="en-US" dirty="0" smtClean="0"/>
              <a:t>A time-space trade-off…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D43E-8A20-4D2B-97FA-9B78CE2BF9D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360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8077200" cy="1143000"/>
          </a:xfrm>
        </p:spPr>
        <p:txBody>
          <a:bodyPr/>
          <a:lstStyle/>
          <a:p>
            <a:r>
              <a:rPr lang="en-US" dirty="0" smtClean="0"/>
              <a:t>Time vs. space (constant factors only here)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BC00-4CB0-4A2E-89EA-3E84CDD3962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7" name="Group 6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447800"/>
          <a:ext cx="1219200" cy="3962400"/>
        </p:xfrm>
        <a:graphic>
          <a:graphicData uri="http://schemas.openxmlformats.org/drawingml/2006/table">
            <a:tbl>
              <a:tblPr/>
              <a:tblGrid>
                <a:gridCol w="638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09800" y="152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1" name="AutoShape 9"/>
          <p:cNvCxnSpPr>
            <a:cxnSpLocks noChangeShapeType="1"/>
          </p:cNvCxnSpPr>
          <p:nvPr>
            <p:custDataLst>
              <p:tags r:id="rId5"/>
            </p:custDataLst>
          </p:nvPr>
        </p:nvCxnSpPr>
        <p:spPr bwMode="auto">
          <a:xfrm>
            <a:off x="1524000" y="1676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Rectangle 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362200" y="1524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3" name="Rectangle 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1336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4</a:t>
            </a:r>
            <a:r>
              <a:rPr lang="en-US" sz="1800" dirty="0" smtClean="0">
                <a:solidFill>
                  <a:schemeClr val="tx1"/>
                </a:solidFill>
              </a:rPr>
              <a:t>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4" name="Rectangle 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860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6" name="AutoShape 9"/>
          <p:cNvCxnSpPr>
            <a:cxnSpLocks noChangeShapeType="1"/>
          </p:cNvCxnSpPr>
          <p:nvPr>
            <p:custDataLst>
              <p:tags r:id="rId10"/>
            </p:custDataLst>
          </p:nvPr>
        </p:nvCxnSpPr>
        <p:spPr bwMode="auto">
          <a:xfrm>
            <a:off x="16002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Rectangle 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384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8" name="Rectangle 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2098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107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9" name="Rectangle 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5146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362200" y="4267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1" name="AutoShape 9"/>
          <p:cNvCxnSpPr>
            <a:cxnSpLocks noChangeShapeType="1"/>
          </p:cNvCxnSpPr>
          <p:nvPr>
            <p:custDataLst>
              <p:tags r:id="rId15"/>
            </p:custDataLst>
          </p:nvPr>
        </p:nvCxnSpPr>
        <p:spPr bwMode="auto">
          <a:xfrm>
            <a:off x="1676400" y="44196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Rectangle 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514600" y="4267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3" name="Rectangle 3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1242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1</a:t>
            </a:r>
            <a:r>
              <a:rPr lang="en-US" sz="1800" dirty="0" smtClean="0">
                <a:solidFill>
                  <a:schemeClr val="tx1"/>
                </a:solidFill>
              </a:rPr>
              <a:t>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4" name="Rectangle 4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4290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5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2766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6" name="AutoShape 9"/>
          <p:cNvCxnSpPr>
            <a:cxnSpLocks noChangeShapeType="1"/>
          </p:cNvCxnSpPr>
          <p:nvPr>
            <p:custDataLst>
              <p:tags r:id="rId20"/>
            </p:custDataLst>
          </p:nvPr>
        </p:nvCxnSpPr>
        <p:spPr bwMode="auto">
          <a:xfrm>
            <a:off x="25908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" name="Rectangle 3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4290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8" name="Rectangle 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41148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22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9" name="Rectangle 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4196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4267200" y="2286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1" name="AutoShape 9"/>
          <p:cNvCxnSpPr>
            <a:cxnSpLocks noChangeShapeType="1"/>
          </p:cNvCxnSpPr>
          <p:nvPr>
            <p:custDataLst>
              <p:tags r:id="rId25"/>
            </p:custDataLst>
          </p:nvPr>
        </p:nvCxnSpPr>
        <p:spPr bwMode="auto">
          <a:xfrm>
            <a:off x="3581400" y="24384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2" name="Rectangle 3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4419600" y="2286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33" name="Group 64"/>
          <p:cNvGraphicFramePr>
            <a:graphicFrameLocks noGrp="1"/>
          </p:cNvGraphicFramePr>
          <p:nvPr>
            <p:custDataLst>
              <p:tags r:id="rId27"/>
            </p:custDataLst>
          </p:nvPr>
        </p:nvGraphicFramePr>
        <p:xfrm>
          <a:off x="5029200" y="1371600"/>
          <a:ext cx="1676400" cy="3962400"/>
        </p:xfrm>
        <a:graphic>
          <a:graphicData uri="http://schemas.openxmlformats.org/drawingml/2006/table">
            <a:tbl>
              <a:tblPr/>
              <a:tblGrid>
                <a:gridCol w="594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9" name="Rectangle 3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7010400" y="2209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1</a:t>
            </a:r>
            <a:r>
              <a:rPr lang="en-US" sz="1800" dirty="0" smtClean="0">
                <a:solidFill>
                  <a:schemeClr val="tx1"/>
                </a:solidFill>
              </a:rPr>
              <a:t>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0" name="Rectangle 4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7315200" y="2209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5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162800" y="2209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2" name="AutoShape 9"/>
          <p:cNvCxnSpPr>
            <a:cxnSpLocks noChangeShapeType="1"/>
          </p:cNvCxnSpPr>
          <p:nvPr>
            <p:custDataLst>
              <p:tags r:id="rId31"/>
            </p:custDataLst>
          </p:nvPr>
        </p:nvCxnSpPr>
        <p:spPr bwMode="auto">
          <a:xfrm>
            <a:off x="6477000" y="23622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3" name="Rectangle 3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7315200" y="2209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4" name="Rectangle 3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8001000" y="2209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22	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5" name="Rectangle 4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8305800" y="2209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Rectangle 5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153400" y="2209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7" name="AutoShape 9"/>
          <p:cNvCxnSpPr>
            <a:cxnSpLocks noChangeShapeType="1"/>
          </p:cNvCxnSpPr>
          <p:nvPr>
            <p:custDataLst>
              <p:tags r:id="rId36"/>
            </p:custDataLst>
          </p:nvPr>
        </p:nvCxnSpPr>
        <p:spPr bwMode="auto">
          <a:xfrm>
            <a:off x="7467600" y="23622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8" name="Rectangle 3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8305800" y="2209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/>
              <a:t>/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2472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rigorous chaining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533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Definition: The </a:t>
            </a:r>
            <a:r>
              <a:rPr lang="en-US" dirty="0" smtClean="0">
                <a:solidFill>
                  <a:schemeClr val="accent2"/>
                </a:solidFill>
              </a:rPr>
              <a:t>load factor</a:t>
            </a:r>
            <a:r>
              <a:rPr lang="en-US" dirty="0" smtClean="0"/>
              <a:t>, </a:t>
            </a:r>
            <a:r>
              <a:rPr lang="en-US" b="1" i="1" dirty="0" smtClean="0">
                <a:sym typeface="Symbol" pitchFamily="18" charset="2"/>
              </a:rPr>
              <a:t></a:t>
            </a:r>
            <a:r>
              <a:rPr lang="en-US" i="1" dirty="0" smtClean="0">
                <a:sym typeface="Symbol" pitchFamily="18" charset="2"/>
              </a:rPr>
              <a:t>, </a:t>
            </a:r>
            <a:r>
              <a:rPr lang="en-US" dirty="0" smtClean="0"/>
              <a:t>of a hash table is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9238-B85B-487F-9833-72705BB4A573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743200" y="2171700"/>
          <a:ext cx="18827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Equation" r:id="rId6" imgW="927000" imgH="393480" progId="">
                  <p:embed/>
                </p:oleObj>
              </mc:Choice>
              <mc:Fallback>
                <p:oleObj name="Equation" r:id="rId6" imgW="927000" imgH="393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171700"/>
                        <a:ext cx="188277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10125" y="2171700"/>
            <a:ext cx="315907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 </a:t>
            </a:r>
            <a:r>
              <a:rPr lang="en-US" dirty="0" smtClean="0"/>
              <a:t>number </a:t>
            </a:r>
            <a:r>
              <a:rPr lang="en-US" dirty="0"/>
              <a:t>of elements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5800" y="3200400"/>
            <a:ext cx="7772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Under chaining, the average number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elements per bucket is </a:t>
            </a:r>
            <a:r>
              <a:rPr lang="en-US" sz="2000" noProof="0" dirty="0" smtClean="0">
                <a:sym typeface="Symbol" pitchFamily="18" charset="2"/>
              </a:rPr>
              <a:t>___</a:t>
            </a:r>
            <a:endParaRPr kumimoji="0" lang="en-US" sz="2000" i="0" u="none" strike="noStrike" kern="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lvl="0" indent="-342900">
              <a:spcBef>
                <a:spcPct val="20000"/>
              </a:spcBef>
            </a:pPr>
            <a:endParaRPr lang="en-US" sz="2000" i="1" dirty="0" smtClean="0">
              <a:sym typeface="Symbol" pitchFamily="18" charset="2"/>
            </a:endParaRP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8659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rigorous chaining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533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Definition: The </a:t>
            </a:r>
            <a:r>
              <a:rPr lang="en-US" dirty="0" smtClean="0">
                <a:solidFill>
                  <a:schemeClr val="accent2"/>
                </a:solidFill>
              </a:rPr>
              <a:t>load factor</a:t>
            </a:r>
            <a:r>
              <a:rPr lang="en-US" dirty="0" smtClean="0"/>
              <a:t>, </a:t>
            </a:r>
            <a:r>
              <a:rPr lang="en-US" b="1" i="1" dirty="0" smtClean="0">
                <a:sym typeface="Symbol" pitchFamily="18" charset="2"/>
              </a:rPr>
              <a:t></a:t>
            </a:r>
            <a:r>
              <a:rPr lang="en-US" i="1" dirty="0" smtClean="0">
                <a:sym typeface="Symbol" pitchFamily="18" charset="2"/>
              </a:rPr>
              <a:t>, </a:t>
            </a:r>
            <a:r>
              <a:rPr lang="en-US" dirty="0" smtClean="0"/>
              <a:t>of a hash table is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311A-679B-4854-8061-7FC61BB5E633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743200" y="2171700"/>
          <a:ext cx="18827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6" imgW="927000" imgH="393480" progId="">
                  <p:embed/>
                </p:oleObj>
              </mc:Choice>
              <mc:Fallback>
                <p:oleObj name="Equation" r:id="rId6" imgW="927000" imgH="393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171700"/>
                        <a:ext cx="188277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10125" y="2171700"/>
            <a:ext cx="315907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 </a:t>
            </a:r>
            <a:r>
              <a:rPr lang="en-US" dirty="0" smtClean="0"/>
              <a:t>number </a:t>
            </a:r>
            <a:r>
              <a:rPr lang="en-US" dirty="0"/>
              <a:t>of elements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5800" y="3200400"/>
            <a:ext cx="7772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Under chaining, the average number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elements per </a:t>
            </a:r>
            <a:r>
              <a:rPr lang="en-US" sz="2000" b="0" kern="0" dirty="0">
                <a:latin typeface="+mn-lt"/>
              </a:rPr>
              <a:t>bucket is </a:t>
            </a:r>
            <a:r>
              <a:rPr lang="en-US" sz="2000" b="0" kern="0" dirty="0">
                <a:latin typeface="+mn-lt"/>
                <a:sym typeface="Symbol" pitchFamily="18" charset="2"/>
              </a:rPr>
              <a:t></a:t>
            </a:r>
            <a:endParaRPr lang="en-US" sz="2000" b="0" kern="0" dirty="0">
              <a:latin typeface="+mn-lt"/>
            </a:endParaRPr>
          </a:p>
          <a:p>
            <a:pPr marL="342900" lvl="0" indent="-342900">
              <a:spcBef>
                <a:spcPct val="20000"/>
              </a:spcBef>
            </a:pPr>
            <a:endParaRPr lang="en-US" sz="2000" i="1" dirty="0" smtClean="0">
              <a:sym typeface="Symbol" pitchFamily="18" charset="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sz="2000" b="0" dirty="0" smtClean="0">
                <a:latin typeface="+mj-lt"/>
                <a:sym typeface="Symbol" pitchFamily="18" charset="2"/>
              </a:rPr>
              <a:t>So if some inserts are followed by </a:t>
            </a:r>
            <a:r>
              <a:rPr lang="en-US" sz="2000" b="0" i="1" dirty="0" smtClean="0">
                <a:latin typeface="+mj-lt"/>
                <a:sym typeface="Symbol" pitchFamily="18" charset="2"/>
              </a:rPr>
              <a:t>random</a:t>
            </a:r>
            <a:r>
              <a:rPr lang="en-US" sz="2000" b="0" dirty="0" smtClean="0">
                <a:latin typeface="+mj-lt"/>
                <a:sym typeface="Symbol" pitchFamily="18" charset="2"/>
              </a:rPr>
              <a:t> finds, then on average: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0" dirty="0" smtClean="0">
                <a:latin typeface="+mj-lt"/>
                <a:sym typeface="Symbol" pitchFamily="18" charset="2"/>
              </a:rPr>
              <a:t>Each unsuccessful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find</a:t>
            </a:r>
            <a:r>
              <a:rPr lang="en-US" sz="2000" b="0" dirty="0" smtClean="0">
                <a:latin typeface="+mj-lt"/>
                <a:sym typeface="Symbol" pitchFamily="18" charset="2"/>
              </a:rPr>
              <a:t> compares against ____ items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4946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rigorous chaining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533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Definition: The </a:t>
            </a:r>
            <a:r>
              <a:rPr lang="en-US" dirty="0" smtClean="0">
                <a:solidFill>
                  <a:schemeClr val="accent2"/>
                </a:solidFill>
              </a:rPr>
              <a:t>load factor</a:t>
            </a:r>
            <a:r>
              <a:rPr lang="en-US" dirty="0" smtClean="0"/>
              <a:t>, </a:t>
            </a:r>
            <a:r>
              <a:rPr lang="en-US" b="1" i="1" dirty="0" smtClean="0">
                <a:sym typeface="Symbol" pitchFamily="18" charset="2"/>
              </a:rPr>
              <a:t></a:t>
            </a:r>
            <a:r>
              <a:rPr lang="en-US" i="1" dirty="0" smtClean="0">
                <a:sym typeface="Symbol" pitchFamily="18" charset="2"/>
              </a:rPr>
              <a:t>, </a:t>
            </a:r>
            <a:r>
              <a:rPr lang="en-US" dirty="0" smtClean="0"/>
              <a:t>of a hash table is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9DCD-BF70-4DF0-A6AA-7D88F521385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743200" y="2171700"/>
          <a:ext cx="18827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6" imgW="927000" imgH="393480" progId="">
                  <p:embed/>
                </p:oleObj>
              </mc:Choice>
              <mc:Fallback>
                <p:oleObj name="Equation" r:id="rId6" imgW="927000" imgH="393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171700"/>
                        <a:ext cx="188277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10125" y="2171700"/>
            <a:ext cx="315907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 </a:t>
            </a:r>
            <a:r>
              <a:rPr lang="en-US" dirty="0" smtClean="0"/>
              <a:t>number </a:t>
            </a:r>
            <a:r>
              <a:rPr lang="en-US" dirty="0"/>
              <a:t>of elements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5800" y="3200400"/>
            <a:ext cx="7772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Under chaining, the average number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elements per bucket </a:t>
            </a:r>
            <a:r>
              <a:rPr lang="en-US" sz="2000" b="0" kern="0" dirty="0">
                <a:latin typeface="+mn-lt"/>
              </a:rPr>
              <a:t>is </a:t>
            </a:r>
            <a:r>
              <a:rPr lang="en-US" sz="2000" b="0" kern="0" dirty="0">
                <a:latin typeface="+mn-lt"/>
                <a:sym typeface="Symbol" pitchFamily="18" charset="2"/>
              </a:rPr>
              <a:t></a:t>
            </a:r>
            <a:endParaRPr lang="en-US" sz="2000" b="0" kern="0" dirty="0">
              <a:latin typeface="+mn-lt"/>
            </a:endParaRPr>
          </a:p>
          <a:p>
            <a:pPr marL="342900" lvl="0" indent="-342900">
              <a:spcBef>
                <a:spcPct val="20000"/>
              </a:spcBef>
            </a:pPr>
            <a:endParaRPr lang="en-US" sz="2000" i="1" dirty="0" smtClean="0">
              <a:sym typeface="Symbol" pitchFamily="18" charset="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sz="2000" b="0" dirty="0" smtClean="0">
                <a:latin typeface="+mj-lt"/>
                <a:sym typeface="Symbol" pitchFamily="18" charset="2"/>
              </a:rPr>
              <a:t>So if some inserts are followed by </a:t>
            </a:r>
            <a:r>
              <a:rPr lang="en-US" sz="2000" b="0" i="1" dirty="0" smtClean="0">
                <a:latin typeface="+mj-lt"/>
                <a:sym typeface="Symbol" pitchFamily="18" charset="2"/>
              </a:rPr>
              <a:t>random</a:t>
            </a:r>
            <a:r>
              <a:rPr lang="en-US" sz="2000" b="0" dirty="0" smtClean="0">
                <a:latin typeface="+mj-lt"/>
                <a:sym typeface="Symbol" pitchFamily="18" charset="2"/>
              </a:rPr>
              <a:t> finds, then on average: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0" dirty="0" smtClean="0">
                <a:latin typeface="+mj-lt"/>
                <a:sym typeface="Symbol" pitchFamily="18" charset="2"/>
              </a:rPr>
              <a:t>Each unsuccessful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find</a:t>
            </a:r>
            <a:r>
              <a:rPr lang="en-US" sz="2000" b="0" dirty="0" smtClean="0">
                <a:latin typeface="+mj-lt"/>
                <a:sym typeface="Symbol" pitchFamily="18" charset="2"/>
              </a:rPr>
              <a:t> compares </a:t>
            </a:r>
            <a:r>
              <a:rPr lang="en-US" sz="2000" b="0" dirty="0">
                <a:solidFill>
                  <a:srgbClr val="000000"/>
                </a:solidFill>
                <a:latin typeface="Arial"/>
                <a:sym typeface="Symbol" pitchFamily="18" charset="2"/>
              </a:rPr>
              <a:t>against </a:t>
            </a:r>
            <a:r>
              <a:rPr lang="en-US" sz="2000" i="1" dirty="0">
                <a:solidFill>
                  <a:srgbClr val="3333CC"/>
                </a:solidFill>
                <a:sym typeface="Symbol" pitchFamily="18" charset="2"/>
              </a:rPr>
              <a:t></a:t>
            </a:r>
            <a:r>
              <a:rPr lang="en-US" sz="2000" b="0" dirty="0">
                <a:solidFill>
                  <a:srgbClr val="000000"/>
                </a:solidFill>
                <a:latin typeface="Arial"/>
                <a:sym typeface="Symbol" pitchFamily="18" charset="2"/>
              </a:rPr>
              <a:t> items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0" dirty="0" smtClean="0">
                <a:latin typeface="+mj-lt"/>
                <a:sym typeface="Symbol" pitchFamily="18" charset="2"/>
              </a:rPr>
              <a:t>Each successful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find</a:t>
            </a:r>
            <a:r>
              <a:rPr lang="en-US" sz="2000" b="0" dirty="0" smtClean="0">
                <a:latin typeface="+mj-lt"/>
                <a:sym typeface="Symbol" pitchFamily="18" charset="2"/>
              </a:rPr>
              <a:t> compares against _____ items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7655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rigorous chaining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533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Definition: The </a:t>
            </a:r>
            <a:r>
              <a:rPr lang="en-US" dirty="0" smtClean="0">
                <a:solidFill>
                  <a:schemeClr val="accent2"/>
                </a:solidFill>
              </a:rPr>
              <a:t>load factor</a:t>
            </a:r>
            <a:r>
              <a:rPr lang="en-US" dirty="0" smtClean="0"/>
              <a:t>, </a:t>
            </a:r>
            <a:r>
              <a:rPr lang="en-US" b="1" i="1" dirty="0" smtClean="0">
                <a:sym typeface="Symbol" pitchFamily="18" charset="2"/>
              </a:rPr>
              <a:t></a:t>
            </a:r>
            <a:r>
              <a:rPr lang="en-US" i="1" dirty="0" smtClean="0">
                <a:sym typeface="Symbol" pitchFamily="18" charset="2"/>
              </a:rPr>
              <a:t>, </a:t>
            </a:r>
            <a:r>
              <a:rPr lang="en-US" dirty="0" smtClean="0"/>
              <a:t>of a hash table is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794E-0B69-440D-9DCE-EAE254422443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39</a:t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743200" y="2171700"/>
          <a:ext cx="18827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6" imgW="927000" imgH="393480" progId="">
                  <p:embed/>
                </p:oleObj>
              </mc:Choice>
              <mc:Fallback>
                <p:oleObj name="Equation" r:id="rId6" imgW="927000" imgH="393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171700"/>
                        <a:ext cx="188277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10125" y="2171700"/>
            <a:ext cx="315907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 </a:t>
            </a:r>
            <a:r>
              <a:rPr lang="en-US" dirty="0" smtClean="0"/>
              <a:t>number </a:t>
            </a:r>
            <a:r>
              <a:rPr lang="en-US" dirty="0"/>
              <a:t>of elements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5800" y="3200400"/>
            <a:ext cx="7772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Under chaining, the average number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elements per bucket is </a:t>
            </a:r>
            <a:r>
              <a:rPr lang="en-US" sz="2000" i="1" dirty="0" smtClean="0">
                <a:sym typeface="Symbol" pitchFamily="18" charset="2"/>
              </a:rPr>
              <a:t></a:t>
            </a:r>
          </a:p>
          <a:p>
            <a:pPr marL="342900" lvl="0" indent="-342900">
              <a:spcBef>
                <a:spcPct val="20000"/>
              </a:spcBef>
            </a:pPr>
            <a:endParaRPr lang="en-US" sz="2000" i="1" dirty="0" smtClean="0">
              <a:sym typeface="Symbol" pitchFamily="18" charset="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sz="2000" b="0" dirty="0" smtClean="0">
                <a:latin typeface="+mj-lt"/>
                <a:sym typeface="Symbol" pitchFamily="18" charset="2"/>
              </a:rPr>
              <a:t>So if some inserts are followed by </a:t>
            </a:r>
            <a:r>
              <a:rPr lang="en-US" sz="2000" b="0" i="1" dirty="0" smtClean="0">
                <a:latin typeface="+mj-lt"/>
                <a:sym typeface="Symbol" pitchFamily="18" charset="2"/>
              </a:rPr>
              <a:t>random</a:t>
            </a:r>
            <a:r>
              <a:rPr lang="en-US" sz="2000" b="0" dirty="0" smtClean="0">
                <a:latin typeface="+mj-lt"/>
                <a:sym typeface="Symbol" pitchFamily="18" charset="2"/>
              </a:rPr>
              <a:t> finds, then on average: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0" dirty="0" smtClean="0">
                <a:latin typeface="+mj-lt"/>
                <a:sym typeface="Symbol" pitchFamily="18" charset="2"/>
              </a:rPr>
              <a:t>Each unsuccessful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find</a:t>
            </a:r>
            <a:r>
              <a:rPr lang="en-US" sz="2000" b="0" dirty="0" smtClean="0">
                <a:latin typeface="+mj-lt"/>
                <a:sym typeface="Symbol" pitchFamily="18" charset="2"/>
              </a:rPr>
              <a:t> compares against </a:t>
            </a:r>
            <a:r>
              <a:rPr lang="en-US" sz="2000" i="1" dirty="0" smtClean="0">
                <a:solidFill>
                  <a:schemeClr val="accent2"/>
                </a:solidFill>
                <a:sym typeface="Symbol" pitchFamily="18" charset="2"/>
              </a:rPr>
              <a:t></a:t>
            </a:r>
            <a:r>
              <a:rPr lang="en-US" sz="2000" b="0" dirty="0" smtClean="0">
                <a:latin typeface="+mj-lt"/>
                <a:sym typeface="Symbol" pitchFamily="18" charset="2"/>
              </a:rPr>
              <a:t> items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0" dirty="0" smtClean="0">
                <a:latin typeface="+mj-lt"/>
                <a:sym typeface="Symbol" pitchFamily="18" charset="2"/>
              </a:rPr>
              <a:t>Each successful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find</a:t>
            </a:r>
            <a:r>
              <a:rPr lang="en-US" sz="2000" b="0" dirty="0" smtClean="0">
                <a:latin typeface="+mj-lt"/>
                <a:sym typeface="Symbol" pitchFamily="18" charset="2"/>
              </a:rPr>
              <a:t> compares against </a:t>
            </a:r>
            <a:r>
              <a:rPr lang="en-US" sz="2000" i="1" dirty="0" smtClean="0">
                <a:solidFill>
                  <a:schemeClr val="accent2"/>
                </a:solidFill>
                <a:sym typeface="Symbol" pitchFamily="18" charset="2"/>
              </a:rPr>
              <a:t> / 2</a:t>
            </a:r>
            <a:r>
              <a:rPr lang="en-US" sz="2000" b="0" dirty="0" smtClean="0">
                <a:latin typeface="+mj-lt"/>
                <a:sym typeface="Symbol" pitchFamily="18" charset="2"/>
              </a:rPr>
              <a:t> items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2000" b="0" dirty="0">
              <a:latin typeface="+mj-lt"/>
              <a:sym typeface="Symbol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000" b="0" dirty="0" smtClean="0">
                <a:latin typeface="+mj-lt"/>
                <a:sym typeface="Symbol" pitchFamily="18" charset="2"/>
              </a:rPr>
              <a:t>So we like to keep </a:t>
            </a:r>
            <a:r>
              <a:rPr lang="en-US" sz="2000" i="1" dirty="0" smtClean="0">
                <a:sym typeface="Symbol" pitchFamily="18" charset="2"/>
              </a:rPr>
              <a:t>  </a:t>
            </a:r>
            <a:r>
              <a:rPr lang="en-US" sz="2000" b="0" dirty="0" smtClean="0">
                <a:latin typeface="+mj-lt"/>
                <a:sym typeface="Symbol" pitchFamily="18" charset="2"/>
              </a:rPr>
              <a:t>fairly low (e.g., 1 or 1.5 or 2) for chaining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0839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Alternative: Use empty space in the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Another simple idea: If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</a:t>
            </a:r>
            <a:r>
              <a:rPr lang="en-US" dirty="0" smtClean="0"/>
              <a:t> is already full, 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+ 1)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full,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+ 2)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full,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+ 3)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full…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Example: insert 38, 19, 8, 109, 10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182C-28C5-423F-B86F-2F351C646704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05600" y="1600200"/>
          <a:ext cx="1600200" cy="3962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2341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Alternative: Use empty space in the table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2EE20-F1AD-4F16-A27D-62ABC8F03D26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05600" y="1600200"/>
          <a:ext cx="1600200" cy="3962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Another simple idea: If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h(key)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already full,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try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(h(key) + 1)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.  If full,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try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(h(key) + 2)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.  If full,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try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(h(key) + 3) %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TableSize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.  If full…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insert 38, 19, 8, 109, 10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6755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Alternative: Use empty space in the table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043-A6D4-458F-A604-C368C2C85FCB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42</a:t>
            </a:fld>
            <a:endParaRPr lang="en-US"/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05600" y="1600200"/>
          <a:ext cx="1600200" cy="3962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r>
              <a:rPr lang="en-US" dirty="0" smtClean="0"/>
              <a:t>Another simple idea: If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</a:t>
            </a:r>
            <a:r>
              <a:rPr lang="en-US" dirty="0" smtClean="0"/>
              <a:t> is already full, 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+ 1)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full,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+ 2)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full,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+ 3)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full…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Example: insert 38, 19, 8, 109,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8421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Alternative: Use empty space in the table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8B688-B733-40CF-99C0-59C5C50D24A6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43</a:t>
            </a:fld>
            <a:endParaRPr lang="en-US"/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05600" y="1600200"/>
          <a:ext cx="1600200" cy="3962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r>
              <a:rPr lang="en-US" dirty="0" smtClean="0"/>
              <a:t>Another simple idea: If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</a:t>
            </a:r>
            <a:r>
              <a:rPr lang="en-US" dirty="0" smtClean="0"/>
              <a:t> is already full, 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+ 1)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full,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+ 2)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full,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+ 3)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full…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Example: insert 38, 19, 8, 109,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938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Alternative: Use empty space in the table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5F91-E6AF-472A-A310-6276FF87A945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44</a:t>
            </a:fld>
            <a:endParaRPr lang="en-US"/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05600" y="1600200"/>
          <a:ext cx="1600200" cy="3962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r>
              <a:rPr lang="en-US" dirty="0" smtClean="0"/>
              <a:t>Another simple idea: If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</a:t>
            </a:r>
            <a:r>
              <a:rPr lang="en-US" dirty="0" smtClean="0"/>
              <a:t> is already full, 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+ 1)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full,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+ 2)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full,</a:t>
            </a:r>
          </a:p>
          <a:p>
            <a:pPr lvl="1"/>
            <a:r>
              <a:rPr lang="en-US" dirty="0" smtClean="0"/>
              <a:t>try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+ 3)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/>
              <a:t>.  If full…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Example: insert 38, 19, 8, 109,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6786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Probing hash </a:t>
            </a:r>
            <a:r>
              <a:rPr lang="en-US" dirty="0"/>
              <a:t>t</a:t>
            </a:r>
            <a:r>
              <a:rPr lang="en-US" dirty="0" smtClean="0"/>
              <a:t>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724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Trying the next spot is called </a:t>
            </a:r>
            <a:r>
              <a:rPr lang="en-US" dirty="0" smtClean="0">
                <a:solidFill>
                  <a:schemeClr val="accent2"/>
                </a:solidFill>
              </a:rPr>
              <a:t>probing </a:t>
            </a:r>
            <a:r>
              <a:rPr lang="en-US" dirty="0" smtClean="0"/>
              <a:t>(also called </a:t>
            </a:r>
            <a:r>
              <a:rPr lang="en-US" dirty="0" smtClean="0">
                <a:solidFill>
                  <a:schemeClr val="accent2"/>
                </a:solidFill>
              </a:rPr>
              <a:t>open addressing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We just did </a:t>
            </a:r>
            <a:r>
              <a:rPr lang="en-US" dirty="0">
                <a:solidFill>
                  <a:schemeClr val="accent2"/>
                </a:solidFill>
              </a:rPr>
              <a:t>linear probing</a:t>
            </a:r>
          </a:p>
          <a:p>
            <a:pPr lvl="2"/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probe was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/>
              <a:t>In general have some </a:t>
            </a:r>
            <a:r>
              <a:rPr lang="en-US" dirty="0" smtClean="0">
                <a:solidFill>
                  <a:schemeClr val="accent2"/>
                </a:solidFill>
              </a:rPr>
              <a:t>probe function</a:t>
            </a:r>
            <a:r>
              <a:rPr lang="en-US" dirty="0" smtClean="0"/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dirty="0" smtClean="0"/>
              <a:t> and use            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 + f(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sz="1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+mj-lt"/>
                <a:cs typeface="Courier New" pitchFamily="49" charset="0"/>
              </a:rPr>
              <a:t>Open addressing does poorly with high load factor </a:t>
            </a:r>
            <a:r>
              <a:rPr lang="en-US" b="1" i="1" dirty="0" smtClean="0">
                <a:sym typeface="Symbol" pitchFamily="18" charset="2"/>
              </a:rPr>
              <a:t>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So want larger tables</a:t>
            </a: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Too many probes means no more </a:t>
            </a:r>
            <a:r>
              <a:rPr lang="en-US" i="1" dirty="0" smtClean="0">
                <a:latin typeface="+mj-lt"/>
                <a:cs typeface="Courier New" pitchFamily="49" charset="0"/>
              </a:rPr>
              <a:t>O</a:t>
            </a:r>
            <a:r>
              <a:rPr lang="en-US" dirty="0" smtClean="0">
                <a:latin typeface="+mj-lt"/>
                <a:cs typeface="Courier New" pitchFamily="49" charset="0"/>
              </a:rPr>
              <a:t>(1)</a:t>
            </a:r>
          </a:p>
          <a:p>
            <a:pPr lvl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6641-1A1D-4076-AC15-03FBB1BD9868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797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495800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insert</a:t>
            </a:r>
            <a:r>
              <a:rPr lang="en-US" dirty="0" smtClean="0"/>
              <a:t> finds an open table position using a probe function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What about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find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Must use same probe function to “retrace the trail” for the data</a:t>
            </a:r>
          </a:p>
          <a:p>
            <a:pPr lvl="1"/>
            <a:r>
              <a:rPr lang="en-US" dirty="0" smtClean="0"/>
              <a:t>Unsuccessful search when reach empty position</a:t>
            </a: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What about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delete</a:t>
            </a:r>
            <a:r>
              <a:rPr lang="en-US" dirty="0" smtClean="0"/>
              <a:t>?</a:t>
            </a:r>
          </a:p>
          <a:p>
            <a:pPr lvl="1"/>
            <a:r>
              <a:rPr lang="en-US" b="1" i="1" dirty="0" smtClean="0"/>
              <a:t>Must</a:t>
            </a:r>
            <a:r>
              <a:rPr lang="en-US" dirty="0" smtClean="0"/>
              <a:t> use “lazy” deletion.  Why?</a:t>
            </a:r>
          </a:p>
          <a:p>
            <a:pPr lvl="2"/>
            <a:r>
              <a:rPr lang="en-US" dirty="0" smtClean="0"/>
              <a:t>Marker indicates “no data here, but don’t stop probing”</a:t>
            </a:r>
          </a:p>
          <a:p>
            <a:pPr lvl="1"/>
            <a:r>
              <a:rPr lang="en-US" dirty="0" smtClean="0"/>
              <a:t>Note: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delete</a:t>
            </a:r>
            <a:r>
              <a:rPr lang="en-US" dirty="0" smtClean="0"/>
              <a:t> with chaining is plain-old list-remove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15651-9685-4187-AFE0-3430D99B681A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672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(Primary)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838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It turns out linear probing is a </a:t>
            </a:r>
            <a:r>
              <a:rPr lang="en-US" i="1" dirty="0" smtClean="0"/>
              <a:t>bad idea</a:t>
            </a:r>
            <a:r>
              <a:rPr lang="en-US" dirty="0" smtClean="0"/>
              <a:t>, even though the probe function is quick to compute (which is a good thing)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E11E-B4E7-4CEB-9E32-62CCE88FFBF1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7" name="Picture 3" descr="lpclust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58189" y="2438400"/>
            <a:ext cx="4619011" cy="3890904"/>
          </a:xfrm>
          <a:prstGeom prst="rect">
            <a:avLst/>
          </a:prstGeom>
          <a:noFill/>
        </p:spPr>
      </p:pic>
      <p:sp>
        <p:nvSpPr>
          <p:cNvPr id="8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10400" y="5943600"/>
            <a:ext cx="1422400" cy="366713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45717" rIns="0" bIns="45717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/>
              <a:t>[R. </a:t>
            </a:r>
            <a:r>
              <a:rPr lang="en-US" sz="1800" dirty="0" err="1"/>
              <a:t>Sedgewick</a:t>
            </a:r>
            <a:r>
              <a:rPr lang="en-US" sz="1800" dirty="0"/>
              <a:t>]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57199" y="2667000"/>
            <a:ext cx="3000989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Tends to produce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clusters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which lead to</a:t>
            </a:r>
            <a:endParaRPr lang="en-US" sz="2000" b="0" kern="0" dirty="0"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long probing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sequences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0" kern="0" noProof="0" dirty="0" smtClean="0">
                <a:latin typeface="+mn-lt"/>
              </a:rPr>
              <a:t>Called </a:t>
            </a:r>
            <a:r>
              <a:rPr lang="en-US" sz="2000" b="0" kern="0" noProof="0" dirty="0" smtClean="0">
                <a:solidFill>
                  <a:schemeClr val="accent2"/>
                </a:solidFill>
                <a:latin typeface="+mn-lt"/>
              </a:rPr>
              <a:t>primary clustering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2000" b="0" i="0" u="none" strike="noStrike" kern="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Saw</a:t>
            </a:r>
            <a:r>
              <a:rPr kumimoji="0" lang="en-US" sz="2000" b="0" i="0" u="none" strike="noStrike" kern="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this starting in our example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4372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of Linear Probing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800600"/>
          </a:xfrm>
        </p:spPr>
        <p:txBody>
          <a:bodyPr/>
          <a:lstStyle/>
          <a:p>
            <a:r>
              <a:rPr lang="en-US" dirty="0" smtClean="0"/>
              <a:t>Trivial fact: For any </a:t>
            </a:r>
            <a:r>
              <a:rPr lang="en-US" b="1" i="1" dirty="0" smtClean="0">
                <a:sym typeface="Symbol" pitchFamily="18" charset="2"/>
              </a:rPr>
              <a:t> </a:t>
            </a:r>
            <a:r>
              <a:rPr lang="en-US" i="1" dirty="0" smtClean="0">
                <a:sym typeface="Symbol" pitchFamily="18" charset="2"/>
              </a:rPr>
              <a:t>&lt; 1, </a:t>
            </a:r>
            <a:r>
              <a:rPr lang="en-US" dirty="0" smtClean="0">
                <a:sym typeface="Symbol" pitchFamily="18" charset="2"/>
              </a:rPr>
              <a:t>linear probing will find an empty slot</a:t>
            </a:r>
          </a:p>
          <a:p>
            <a:pPr lvl="1"/>
            <a:r>
              <a:rPr lang="en-US" dirty="0" smtClean="0">
                <a:sym typeface="Symbol" pitchFamily="18" charset="2"/>
              </a:rPr>
              <a:t>It is “safe” in this sense: no infinite loop unless table is full</a:t>
            </a:r>
          </a:p>
          <a:p>
            <a:pPr lvl="1"/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Non-trivial facts we won’t prove: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Average # of probes given </a:t>
            </a:r>
            <a:r>
              <a:rPr lang="en-US" b="1" i="1" dirty="0" smtClean="0">
                <a:sym typeface="Symbol" pitchFamily="18" charset="2"/>
              </a:rPr>
              <a:t> </a:t>
            </a:r>
            <a:r>
              <a:rPr lang="en-US" dirty="0" smtClean="0">
                <a:sym typeface="Symbol" pitchFamily="18" charset="2"/>
              </a:rPr>
              <a:t>(in the limit as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TableSize</a:t>
            </a:r>
            <a:r>
              <a:rPr lang="en-US" b="1" i="1" dirty="0" smtClean="0">
                <a:sym typeface="Symbol" pitchFamily="18" charset="2"/>
              </a:rPr>
              <a:t> →</a:t>
            </a:r>
            <a:r>
              <a:rPr lang="en-US" b="1" i="1" dirty="0" smtClean="0">
                <a:sym typeface="Symbol"/>
              </a:rPr>
              <a:t></a:t>
            </a:r>
            <a:r>
              <a:rPr lang="en-US" dirty="0" smtClean="0">
                <a:sym typeface="Symbol" pitchFamily="18" charset="2"/>
              </a:rPr>
              <a:t> )</a:t>
            </a:r>
            <a:endParaRPr lang="en-US" b="1" dirty="0" smtClean="0">
              <a:sym typeface="Symbol" pitchFamily="18" charset="2"/>
            </a:endParaRPr>
          </a:p>
          <a:p>
            <a:pPr lvl="1"/>
            <a:r>
              <a:rPr lang="en-US" dirty="0" smtClean="0">
                <a:sym typeface="Symbol" pitchFamily="18" charset="2"/>
              </a:rPr>
              <a:t>Unsuccessful search:</a:t>
            </a:r>
          </a:p>
          <a:p>
            <a:pPr lvl="1"/>
            <a:endParaRPr lang="en-US" dirty="0" smtClean="0">
              <a:sym typeface="Symbol" pitchFamily="18" charset="2"/>
            </a:endParaRPr>
          </a:p>
          <a:p>
            <a:pPr lvl="1"/>
            <a:endParaRPr lang="en-US" dirty="0" smtClean="0">
              <a:sym typeface="Symbol" pitchFamily="18" charset="2"/>
            </a:endParaRPr>
          </a:p>
          <a:p>
            <a:pPr lvl="1"/>
            <a:r>
              <a:rPr lang="en-US" dirty="0" smtClean="0">
                <a:sym typeface="Symbol" pitchFamily="18" charset="2"/>
              </a:rPr>
              <a:t>Successful search:  </a:t>
            </a:r>
          </a:p>
          <a:p>
            <a:pPr lvl="1"/>
            <a:endParaRPr lang="en-US" dirty="0" smtClean="0">
              <a:sym typeface="Symbol" pitchFamily="18" charset="2"/>
            </a:endParaRPr>
          </a:p>
          <a:p>
            <a:pPr lvl="1"/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This is pretty bad: need to leave sufficient empty space in the table to get decent performance (see chart)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0800-A17B-4347-9374-96E752142CE7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48</a:t>
            </a:fld>
            <a:endParaRPr lang="en-US"/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4038600" y="3505200"/>
          <a:ext cx="17526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Equation" r:id="rId6" imgW="965160" imgH="482400" progId="Equation.3">
                  <p:embed/>
                </p:oleObj>
              </mc:Choice>
              <mc:Fallback>
                <p:oleObj name="Equation" r:id="rId6" imgW="9651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505200"/>
                        <a:ext cx="1752600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038600" y="4521200"/>
          <a:ext cx="1752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8" imgW="901440" imgH="457200" progId="Equation.3">
                  <p:embed/>
                </p:oleObj>
              </mc:Choice>
              <mc:Fallback>
                <p:oleObj name="Equation" r:id="rId8" imgW="9014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521200"/>
                        <a:ext cx="17526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18129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a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648200"/>
          </a:xfrm>
        </p:spPr>
        <p:txBody>
          <a:bodyPr/>
          <a:lstStyle/>
          <a:p>
            <a:r>
              <a:rPr lang="en-US" dirty="0" smtClean="0"/>
              <a:t>Linear-probing performance degrades rapidly as table gets full</a:t>
            </a:r>
          </a:p>
          <a:p>
            <a:pPr lvl="1"/>
            <a:r>
              <a:rPr lang="en-US" dirty="0" smtClean="0"/>
              <a:t>(Formula assumes “large table” but point remains)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By comparison, chaining performance is linear in </a:t>
            </a:r>
            <a:r>
              <a:rPr lang="en-US" b="1" i="1" dirty="0" smtClean="0">
                <a:sym typeface="Symbol" pitchFamily="18" charset="2"/>
              </a:rPr>
              <a:t> </a:t>
            </a:r>
            <a:r>
              <a:rPr lang="en-US" dirty="0" smtClean="0">
                <a:sym typeface="Symbol" pitchFamily="18" charset="2"/>
              </a:rPr>
              <a:t>and has no trouble with </a:t>
            </a:r>
            <a:r>
              <a:rPr lang="en-US" b="1" i="1" dirty="0" smtClean="0">
                <a:sym typeface="Symbol" pitchFamily="18" charset="2"/>
              </a:rPr>
              <a:t>&gt;1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DAA6-8280-4C71-B7E2-1D558651371B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49</a:t>
            </a:fld>
            <a:endParaRPr lang="en-US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7526893"/>
              </p:ext>
            </p:extLst>
          </p:nvPr>
        </p:nvGraphicFramePr>
        <p:xfrm>
          <a:off x="4546272" y="2438400"/>
          <a:ext cx="4597728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7337825"/>
              </p:ext>
            </p:extLst>
          </p:nvPr>
        </p:nvGraphicFramePr>
        <p:xfrm>
          <a:off x="76200" y="2438400"/>
          <a:ext cx="487680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242791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Quadratic probing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648200"/>
          </a:xfrm>
        </p:spPr>
        <p:txBody>
          <a:bodyPr/>
          <a:lstStyle/>
          <a:p>
            <a:r>
              <a:rPr lang="en-US" dirty="0" smtClean="0"/>
              <a:t>We can avoid primary clustering by changing the probe function</a:t>
            </a:r>
          </a:p>
          <a:p>
            <a:pPr marL="0" indent="0">
              <a:buNone/>
            </a:pPr>
            <a:r>
              <a:rPr lang="en-US" dirty="0" smtClean="0"/>
              <a:t>	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+ f(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1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/>
              <a:t>A common technique is quadratic probing:</a:t>
            </a:r>
          </a:p>
          <a:p>
            <a:pPr marL="457200" lvl="1" indent="0"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f(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) = i</a:t>
            </a:r>
            <a:r>
              <a:rPr lang="en-US" b="1" baseline="30000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2</a:t>
            </a:r>
          </a:p>
          <a:p>
            <a:pPr lvl="1"/>
            <a:r>
              <a:rPr lang="en-US" dirty="0" smtClean="0"/>
              <a:t>So probe sequence is:</a:t>
            </a:r>
          </a:p>
          <a:p>
            <a:pPr lvl="2"/>
            <a:r>
              <a:rPr lang="en-US" dirty="0" smtClean="0"/>
              <a:t>0</a:t>
            </a:r>
            <a:r>
              <a:rPr lang="en-US" baseline="30000" dirty="0" smtClean="0"/>
              <a:t>th</a:t>
            </a:r>
            <a:r>
              <a:rPr lang="en-US" dirty="0" smtClean="0"/>
              <a:t> probe: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probe: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+ 1)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probe: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+ 4)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probe: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+ 9)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…</a:t>
            </a:r>
          </a:p>
          <a:p>
            <a:pPr lvl="2"/>
            <a:r>
              <a:rPr lang="en-US" dirty="0" err="1" smtClean="0">
                <a:solidFill>
                  <a:schemeClr val="accent2"/>
                </a:solidFill>
              </a:rPr>
              <a:t>i</a:t>
            </a:r>
            <a:r>
              <a:rPr lang="en-US" baseline="30000" dirty="0" err="1" smtClean="0">
                <a:solidFill>
                  <a:schemeClr val="accent2"/>
                </a:solidFill>
              </a:rPr>
              <a:t>th</a:t>
            </a:r>
            <a:r>
              <a:rPr lang="en-US" dirty="0" smtClean="0">
                <a:solidFill>
                  <a:schemeClr val="accent2"/>
                </a:solidFill>
              </a:rPr>
              <a:t> probe: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(h(key) + i</a:t>
            </a:r>
            <a:r>
              <a:rPr lang="en-US" b="1" baseline="30000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baseline="30000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% 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pPr lvl="2"/>
            <a:endParaRPr lang="en-US" sz="1000" dirty="0" smtClean="0"/>
          </a:p>
          <a:p>
            <a:r>
              <a:rPr lang="en-US" dirty="0" smtClean="0"/>
              <a:t>Intuition: Probes quickly “leave the neighborhood”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C4A3-B174-4376-B7FA-F509C4B1D88F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22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79452-DD37-4220-80AB-833783E6231D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51</a:t>
            </a:fld>
            <a:endParaRPr lang="en-US"/>
          </a:p>
        </p:txBody>
      </p:sp>
      <p:graphicFrame>
        <p:nvGraphicFramePr>
          <p:cNvPr id="8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20800" y="13716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Box 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62600" y="1447800"/>
            <a:ext cx="2209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TableSize</a:t>
            </a:r>
            <a:r>
              <a:rPr lang="en-US" dirty="0" smtClean="0"/>
              <a:t>=10</a:t>
            </a:r>
          </a:p>
          <a:p>
            <a:r>
              <a:rPr lang="en-US" dirty="0" smtClean="0"/>
              <a:t>Insert</a:t>
            </a:r>
            <a:r>
              <a:rPr lang="en-US" dirty="0"/>
              <a:t>: </a:t>
            </a:r>
          </a:p>
          <a:p>
            <a:r>
              <a:rPr lang="en-US" dirty="0"/>
              <a:t>89</a:t>
            </a:r>
          </a:p>
          <a:p>
            <a:r>
              <a:rPr lang="en-US" dirty="0"/>
              <a:t>18</a:t>
            </a:r>
          </a:p>
          <a:p>
            <a:r>
              <a:rPr lang="en-US" dirty="0"/>
              <a:t>49</a:t>
            </a:r>
          </a:p>
          <a:p>
            <a:r>
              <a:rPr lang="en-US" dirty="0"/>
              <a:t>58</a:t>
            </a:r>
          </a:p>
          <a:p>
            <a:r>
              <a:rPr lang="en-US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38280410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1C1B-4589-4161-94C9-20D8E6396B88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52</a:t>
            </a:fld>
            <a:endParaRPr lang="en-US"/>
          </a:p>
        </p:txBody>
      </p:sp>
      <p:graphicFrame>
        <p:nvGraphicFramePr>
          <p:cNvPr id="8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20800" y="13716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Box 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62600" y="1447800"/>
            <a:ext cx="2209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TableSize</a:t>
            </a:r>
            <a:r>
              <a:rPr lang="en-US" dirty="0" smtClean="0"/>
              <a:t>=10</a:t>
            </a:r>
          </a:p>
          <a:p>
            <a:r>
              <a:rPr lang="en-US" dirty="0" smtClean="0"/>
              <a:t>Insert</a:t>
            </a:r>
            <a:r>
              <a:rPr lang="en-US" dirty="0"/>
              <a:t>: </a:t>
            </a:r>
          </a:p>
          <a:p>
            <a:r>
              <a:rPr lang="en-US" dirty="0"/>
              <a:t>89</a:t>
            </a:r>
          </a:p>
          <a:p>
            <a:r>
              <a:rPr lang="en-US" dirty="0"/>
              <a:t>18</a:t>
            </a:r>
          </a:p>
          <a:p>
            <a:r>
              <a:rPr lang="en-US" dirty="0"/>
              <a:t>49</a:t>
            </a:r>
          </a:p>
          <a:p>
            <a:r>
              <a:rPr lang="en-US" dirty="0"/>
              <a:t>58</a:t>
            </a:r>
          </a:p>
          <a:p>
            <a:r>
              <a:rPr lang="en-US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21426680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321A-0EC7-48FD-A9C4-A2BB8C9CE8D8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53</a:t>
            </a:fld>
            <a:endParaRPr lang="en-US"/>
          </a:p>
        </p:txBody>
      </p:sp>
      <p:graphicFrame>
        <p:nvGraphicFramePr>
          <p:cNvPr id="8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20800" y="13716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Box 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62600" y="1447800"/>
            <a:ext cx="2209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TableSize</a:t>
            </a:r>
            <a:r>
              <a:rPr lang="en-US" dirty="0" smtClean="0"/>
              <a:t>=10</a:t>
            </a:r>
          </a:p>
          <a:p>
            <a:r>
              <a:rPr lang="en-US" dirty="0" smtClean="0"/>
              <a:t>Insert</a:t>
            </a:r>
            <a:r>
              <a:rPr lang="en-US" dirty="0"/>
              <a:t>: </a:t>
            </a:r>
          </a:p>
          <a:p>
            <a:r>
              <a:rPr lang="en-US" dirty="0"/>
              <a:t>89</a:t>
            </a:r>
          </a:p>
          <a:p>
            <a:r>
              <a:rPr lang="en-US" dirty="0"/>
              <a:t>18</a:t>
            </a:r>
          </a:p>
          <a:p>
            <a:r>
              <a:rPr lang="en-US" dirty="0"/>
              <a:t>49</a:t>
            </a:r>
          </a:p>
          <a:p>
            <a:r>
              <a:rPr lang="en-US" dirty="0"/>
              <a:t>58</a:t>
            </a:r>
          </a:p>
          <a:p>
            <a:r>
              <a:rPr lang="en-US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35376936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113C9-97A8-4DF6-AAD0-6E4162F5B40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54</a:t>
            </a:fld>
            <a:endParaRPr lang="en-US"/>
          </a:p>
        </p:txBody>
      </p:sp>
      <p:graphicFrame>
        <p:nvGraphicFramePr>
          <p:cNvPr id="8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20800" y="13716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Box 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62600" y="1447800"/>
            <a:ext cx="2209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TableSize</a:t>
            </a:r>
            <a:r>
              <a:rPr lang="en-US" dirty="0" smtClean="0"/>
              <a:t>=10</a:t>
            </a:r>
          </a:p>
          <a:p>
            <a:r>
              <a:rPr lang="en-US" dirty="0" smtClean="0"/>
              <a:t>Insert</a:t>
            </a:r>
            <a:r>
              <a:rPr lang="en-US" dirty="0"/>
              <a:t>: </a:t>
            </a:r>
          </a:p>
          <a:p>
            <a:r>
              <a:rPr lang="en-US" dirty="0"/>
              <a:t>89</a:t>
            </a:r>
          </a:p>
          <a:p>
            <a:r>
              <a:rPr lang="en-US" dirty="0"/>
              <a:t>18</a:t>
            </a:r>
          </a:p>
          <a:p>
            <a:r>
              <a:rPr lang="en-US" dirty="0"/>
              <a:t>49</a:t>
            </a:r>
          </a:p>
          <a:p>
            <a:r>
              <a:rPr lang="en-US" dirty="0"/>
              <a:t>58</a:t>
            </a:r>
          </a:p>
          <a:p>
            <a:r>
              <a:rPr lang="en-US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28055374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3368A-5E96-4B82-AABC-2A4E547B85C4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55</a:t>
            </a:fld>
            <a:endParaRPr lang="en-US"/>
          </a:p>
        </p:txBody>
      </p:sp>
      <p:graphicFrame>
        <p:nvGraphicFramePr>
          <p:cNvPr id="8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20800" y="13716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Box 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62600" y="1447800"/>
            <a:ext cx="2209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TableSize</a:t>
            </a:r>
            <a:r>
              <a:rPr lang="en-US" dirty="0" smtClean="0"/>
              <a:t>=10</a:t>
            </a:r>
          </a:p>
          <a:p>
            <a:r>
              <a:rPr lang="en-US" dirty="0" smtClean="0"/>
              <a:t>Insert</a:t>
            </a:r>
            <a:r>
              <a:rPr lang="en-US" dirty="0"/>
              <a:t>: </a:t>
            </a:r>
          </a:p>
          <a:p>
            <a:r>
              <a:rPr lang="en-US" dirty="0"/>
              <a:t>89</a:t>
            </a:r>
          </a:p>
          <a:p>
            <a:r>
              <a:rPr lang="en-US" dirty="0"/>
              <a:t>18</a:t>
            </a:r>
          </a:p>
          <a:p>
            <a:r>
              <a:rPr lang="en-US" dirty="0"/>
              <a:t>49</a:t>
            </a:r>
          </a:p>
          <a:p>
            <a:r>
              <a:rPr lang="en-US" dirty="0"/>
              <a:t>58</a:t>
            </a:r>
          </a:p>
          <a:p>
            <a:r>
              <a:rPr lang="en-US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33713673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C2B7-FA6D-47D8-961A-4248F3BB300A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56</a:t>
            </a:fld>
            <a:endParaRPr lang="en-US"/>
          </a:p>
        </p:txBody>
      </p:sp>
      <p:graphicFrame>
        <p:nvGraphicFramePr>
          <p:cNvPr id="8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20800" y="1371600"/>
          <a:ext cx="2133600" cy="396240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Box 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62600" y="1447800"/>
            <a:ext cx="2209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TableSize</a:t>
            </a:r>
            <a:r>
              <a:rPr lang="en-US" dirty="0" smtClean="0"/>
              <a:t>=10</a:t>
            </a:r>
          </a:p>
          <a:p>
            <a:r>
              <a:rPr lang="en-US" dirty="0" smtClean="0"/>
              <a:t>Insert</a:t>
            </a:r>
            <a:r>
              <a:rPr lang="en-US" dirty="0"/>
              <a:t>: </a:t>
            </a:r>
          </a:p>
          <a:p>
            <a:r>
              <a:rPr lang="en-US" dirty="0"/>
              <a:t>89</a:t>
            </a:r>
          </a:p>
          <a:p>
            <a:r>
              <a:rPr lang="en-US" dirty="0"/>
              <a:t>18</a:t>
            </a:r>
          </a:p>
          <a:p>
            <a:r>
              <a:rPr lang="en-US" dirty="0"/>
              <a:t>49</a:t>
            </a:r>
          </a:p>
          <a:p>
            <a:r>
              <a:rPr lang="en-US" dirty="0"/>
              <a:t>58</a:t>
            </a:r>
          </a:p>
          <a:p>
            <a:r>
              <a:rPr lang="en-US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3631666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F03E-1DE0-406D-AD93-EA91AA0B198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53000" y="1752600"/>
            <a:ext cx="31242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 err="1"/>
              <a:t>TableSize</a:t>
            </a:r>
            <a:r>
              <a:rPr lang="en-US" sz="2000" dirty="0"/>
              <a:t> = 7</a:t>
            </a:r>
          </a:p>
          <a:p>
            <a:pPr eaLnBrk="0" hangingPunct="0"/>
            <a:endParaRPr lang="en-US" sz="2000" dirty="0" smtClean="0"/>
          </a:p>
          <a:p>
            <a:pPr eaLnBrk="0" hangingPunct="0"/>
            <a:r>
              <a:rPr lang="en-US" sz="2000" dirty="0" smtClean="0"/>
              <a:t>Insert:</a:t>
            </a:r>
            <a:endParaRPr lang="en-US" sz="2000" dirty="0"/>
          </a:p>
          <a:p>
            <a:pPr marL="457200" indent="-457200" eaLnBrk="0" hangingPunct="0">
              <a:buAutoNum type="arabicPlain" startAt="76"/>
            </a:pPr>
            <a:r>
              <a:rPr lang="en-US" sz="2000" dirty="0" smtClean="0"/>
              <a:t>                (76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pPr marL="457200" indent="-457200">
              <a:buAutoNum type="arabicPlain" startAt="40"/>
            </a:pPr>
            <a:r>
              <a:rPr lang="en-US" sz="2000" dirty="0" smtClean="0"/>
              <a:t>                (40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pPr marL="457200" indent="-457200"/>
            <a:r>
              <a:rPr lang="en-US" sz="2000" dirty="0" smtClean="0"/>
              <a:t>48                   (48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5                     (  5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r>
              <a:rPr lang="en-US" sz="2000" dirty="0" smtClean="0"/>
              <a:t>55                   (55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47                   (47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endParaRPr lang="en-US" sz="2000" dirty="0"/>
          </a:p>
          <a:p>
            <a:pPr eaLnBrk="0" hangingPunct="0"/>
            <a:endParaRPr lang="en-US" sz="2000" dirty="0"/>
          </a:p>
        </p:txBody>
      </p:sp>
      <p:graphicFrame>
        <p:nvGraphicFramePr>
          <p:cNvPr id="11" name="Group 6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19200" y="1981200"/>
          <a:ext cx="1600200" cy="2773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0124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C5A9-ADFF-45BC-8496-13A427D4E6CC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53000" y="1752600"/>
            <a:ext cx="31242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 err="1"/>
              <a:t>TableSize</a:t>
            </a:r>
            <a:r>
              <a:rPr lang="en-US" sz="2000" dirty="0"/>
              <a:t> = 7</a:t>
            </a:r>
          </a:p>
          <a:p>
            <a:pPr eaLnBrk="0" hangingPunct="0"/>
            <a:endParaRPr lang="en-US" sz="2000" dirty="0" smtClean="0"/>
          </a:p>
          <a:p>
            <a:pPr eaLnBrk="0" hangingPunct="0"/>
            <a:r>
              <a:rPr lang="en-US" sz="2000" dirty="0" smtClean="0"/>
              <a:t>Insert:</a:t>
            </a:r>
            <a:endParaRPr lang="en-US" sz="2000" dirty="0"/>
          </a:p>
          <a:p>
            <a:pPr marL="457200" indent="-457200" eaLnBrk="0" hangingPunct="0">
              <a:buAutoNum type="arabicPlain" startAt="76"/>
            </a:pPr>
            <a:r>
              <a:rPr lang="en-US" sz="2000" dirty="0" smtClean="0"/>
              <a:t>                (76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pPr marL="457200" indent="-457200">
              <a:buAutoNum type="arabicPlain" startAt="40"/>
            </a:pPr>
            <a:r>
              <a:rPr lang="en-US" sz="2000" dirty="0" smtClean="0"/>
              <a:t>                (40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pPr marL="457200" indent="-457200"/>
            <a:r>
              <a:rPr lang="en-US" sz="2000" dirty="0" smtClean="0"/>
              <a:t>48                   (48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5                     (  5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r>
              <a:rPr lang="en-US" sz="2000" dirty="0" smtClean="0"/>
              <a:t>55                   (55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47                   (47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endParaRPr lang="en-US" sz="2000" dirty="0"/>
          </a:p>
          <a:p>
            <a:pPr eaLnBrk="0" hangingPunct="0"/>
            <a:endParaRPr lang="en-US" sz="2000" dirty="0"/>
          </a:p>
        </p:txBody>
      </p:sp>
      <p:graphicFrame>
        <p:nvGraphicFramePr>
          <p:cNvPr id="11" name="Group 6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19200" y="1981200"/>
          <a:ext cx="1600200" cy="2773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1786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C4BC9-C705-48EA-B8DD-4F6288A61EFB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53000" y="1752600"/>
            <a:ext cx="31242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 err="1"/>
              <a:t>TableSize</a:t>
            </a:r>
            <a:r>
              <a:rPr lang="en-US" sz="2000" dirty="0"/>
              <a:t> = 7</a:t>
            </a:r>
          </a:p>
          <a:p>
            <a:pPr eaLnBrk="0" hangingPunct="0"/>
            <a:endParaRPr lang="en-US" sz="2000" dirty="0" smtClean="0"/>
          </a:p>
          <a:p>
            <a:pPr eaLnBrk="0" hangingPunct="0"/>
            <a:r>
              <a:rPr lang="en-US" sz="2000" dirty="0" smtClean="0"/>
              <a:t>Insert:</a:t>
            </a:r>
            <a:endParaRPr lang="en-US" sz="2000" dirty="0"/>
          </a:p>
          <a:p>
            <a:pPr marL="457200" indent="-457200" eaLnBrk="0" hangingPunct="0">
              <a:buAutoNum type="arabicPlain" startAt="76"/>
            </a:pPr>
            <a:r>
              <a:rPr lang="en-US" sz="2000" dirty="0" smtClean="0"/>
              <a:t>                (76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pPr marL="457200" indent="-457200">
              <a:buAutoNum type="arabicPlain" startAt="40"/>
            </a:pPr>
            <a:r>
              <a:rPr lang="en-US" sz="2000" dirty="0" smtClean="0"/>
              <a:t>                (40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pPr marL="457200" indent="-457200"/>
            <a:r>
              <a:rPr lang="en-US" sz="2000" dirty="0" smtClean="0"/>
              <a:t>48                   (48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5                     (  5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r>
              <a:rPr lang="en-US" sz="2000" dirty="0" smtClean="0"/>
              <a:t>55                   (55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47                   (47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endParaRPr lang="en-US" sz="2000" dirty="0"/>
          </a:p>
          <a:p>
            <a:pPr eaLnBrk="0" hangingPunct="0"/>
            <a:endParaRPr lang="en-US" sz="2000" dirty="0"/>
          </a:p>
        </p:txBody>
      </p:sp>
      <p:graphicFrame>
        <p:nvGraphicFramePr>
          <p:cNvPr id="11" name="Group 6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19200" y="1981200"/>
          <a:ext cx="1600200" cy="2773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914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255F-2421-48DB-9657-020BAADA1D33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53000" y="1752600"/>
            <a:ext cx="31242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 err="1"/>
              <a:t>TableSize</a:t>
            </a:r>
            <a:r>
              <a:rPr lang="en-US" sz="2000" dirty="0"/>
              <a:t> = 7</a:t>
            </a:r>
          </a:p>
          <a:p>
            <a:pPr eaLnBrk="0" hangingPunct="0"/>
            <a:endParaRPr lang="en-US" sz="2000" dirty="0" smtClean="0"/>
          </a:p>
          <a:p>
            <a:pPr eaLnBrk="0" hangingPunct="0"/>
            <a:r>
              <a:rPr lang="en-US" sz="2000" dirty="0" smtClean="0"/>
              <a:t>Insert:</a:t>
            </a:r>
            <a:endParaRPr lang="en-US" sz="2000" dirty="0"/>
          </a:p>
          <a:p>
            <a:pPr marL="457200" indent="-457200" eaLnBrk="0" hangingPunct="0">
              <a:buAutoNum type="arabicPlain" startAt="76"/>
            </a:pPr>
            <a:r>
              <a:rPr lang="en-US" sz="2000" dirty="0" smtClean="0"/>
              <a:t>                (76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pPr marL="457200" indent="-457200">
              <a:buAutoNum type="arabicPlain" startAt="40"/>
            </a:pPr>
            <a:r>
              <a:rPr lang="en-US" sz="2000" dirty="0" smtClean="0"/>
              <a:t>                (40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pPr marL="457200" indent="-457200"/>
            <a:r>
              <a:rPr lang="en-US" sz="2000" dirty="0" smtClean="0"/>
              <a:t>48                   (48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5                     (  5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r>
              <a:rPr lang="en-US" sz="2000" dirty="0" smtClean="0"/>
              <a:t>55                   (55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47                   (47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endParaRPr lang="en-US" sz="2000" dirty="0"/>
          </a:p>
          <a:p>
            <a:pPr eaLnBrk="0" hangingPunct="0"/>
            <a:endParaRPr lang="en-US" sz="2000" dirty="0"/>
          </a:p>
        </p:txBody>
      </p:sp>
      <p:graphicFrame>
        <p:nvGraphicFramePr>
          <p:cNvPr id="11" name="Group 6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19200" y="1981200"/>
          <a:ext cx="1600200" cy="2773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944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196A-FEDB-40DA-90AD-89BF84AF95E4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53000" y="1752600"/>
            <a:ext cx="31242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 err="1"/>
              <a:t>TableSize</a:t>
            </a:r>
            <a:r>
              <a:rPr lang="en-US" sz="2000" dirty="0"/>
              <a:t> = 7</a:t>
            </a:r>
          </a:p>
          <a:p>
            <a:pPr eaLnBrk="0" hangingPunct="0"/>
            <a:endParaRPr lang="en-US" sz="2000" dirty="0" smtClean="0"/>
          </a:p>
          <a:p>
            <a:pPr eaLnBrk="0" hangingPunct="0"/>
            <a:r>
              <a:rPr lang="en-US" sz="2000" dirty="0" smtClean="0"/>
              <a:t>Insert:</a:t>
            </a:r>
            <a:endParaRPr lang="en-US" sz="2000" dirty="0"/>
          </a:p>
          <a:p>
            <a:pPr marL="457200" indent="-457200" eaLnBrk="0" hangingPunct="0">
              <a:buAutoNum type="arabicPlain" startAt="76"/>
            </a:pPr>
            <a:r>
              <a:rPr lang="en-US" sz="2000" dirty="0" smtClean="0"/>
              <a:t>                (76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pPr marL="457200" indent="-457200">
              <a:buAutoNum type="arabicPlain" startAt="40"/>
            </a:pPr>
            <a:r>
              <a:rPr lang="en-US" sz="2000" dirty="0" smtClean="0"/>
              <a:t>                (40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pPr marL="457200" indent="-457200"/>
            <a:r>
              <a:rPr lang="en-US" sz="2000" dirty="0" smtClean="0"/>
              <a:t>48                   (48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5                     (  5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r>
              <a:rPr lang="en-US" sz="2000" dirty="0" smtClean="0"/>
              <a:t>55                   (55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47                   (47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endParaRPr lang="en-US" sz="2000" dirty="0"/>
          </a:p>
          <a:p>
            <a:pPr eaLnBrk="0" hangingPunct="0"/>
            <a:endParaRPr lang="en-US" sz="2000" dirty="0"/>
          </a:p>
        </p:txBody>
      </p:sp>
      <p:graphicFrame>
        <p:nvGraphicFramePr>
          <p:cNvPr id="11" name="Group 6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19200" y="1981200"/>
          <a:ext cx="1600200" cy="2773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2389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9D15-C21C-4E81-AAD4-167032FAA2BF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53000" y="1752600"/>
            <a:ext cx="31242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 err="1"/>
              <a:t>TableSize</a:t>
            </a:r>
            <a:r>
              <a:rPr lang="en-US" sz="2000" dirty="0"/>
              <a:t> = 7</a:t>
            </a:r>
          </a:p>
          <a:p>
            <a:pPr eaLnBrk="0" hangingPunct="0"/>
            <a:endParaRPr lang="en-US" sz="2000" dirty="0" smtClean="0"/>
          </a:p>
          <a:p>
            <a:pPr eaLnBrk="0" hangingPunct="0"/>
            <a:r>
              <a:rPr lang="en-US" sz="2000" dirty="0" smtClean="0"/>
              <a:t>Insert:</a:t>
            </a:r>
            <a:endParaRPr lang="en-US" sz="2000" dirty="0"/>
          </a:p>
          <a:p>
            <a:pPr marL="457200" indent="-457200" eaLnBrk="0" hangingPunct="0">
              <a:buAutoNum type="arabicPlain" startAt="76"/>
            </a:pPr>
            <a:r>
              <a:rPr lang="en-US" sz="2000" dirty="0" smtClean="0"/>
              <a:t>                (76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pPr marL="457200" indent="-457200">
              <a:buAutoNum type="arabicPlain" startAt="40"/>
            </a:pPr>
            <a:r>
              <a:rPr lang="en-US" sz="2000" dirty="0" smtClean="0"/>
              <a:t>                (40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pPr marL="457200" indent="-457200"/>
            <a:r>
              <a:rPr lang="en-US" sz="2000" dirty="0" smtClean="0"/>
              <a:t>48                   (48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5                     (  5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r>
              <a:rPr lang="en-US" sz="2000" dirty="0" smtClean="0"/>
              <a:t>55                   (55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47                   (47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endParaRPr lang="en-US" sz="2000" dirty="0"/>
          </a:p>
          <a:p>
            <a:pPr eaLnBrk="0" hangingPunct="0"/>
            <a:endParaRPr lang="en-US" sz="2000" dirty="0"/>
          </a:p>
        </p:txBody>
      </p:sp>
      <p:graphicFrame>
        <p:nvGraphicFramePr>
          <p:cNvPr id="11" name="Group 6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19200" y="1981200"/>
          <a:ext cx="1600200" cy="2773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536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Quadratic Probing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64C5-178F-482E-A188-DD1FA4522D57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10" name="Text Box 1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53000" y="1752601"/>
            <a:ext cx="31242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 err="1"/>
              <a:t>TableSize</a:t>
            </a:r>
            <a:r>
              <a:rPr lang="en-US" sz="2000" dirty="0"/>
              <a:t> = 7</a:t>
            </a:r>
          </a:p>
          <a:p>
            <a:pPr eaLnBrk="0" hangingPunct="0"/>
            <a:endParaRPr lang="en-US" sz="2000" dirty="0" smtClean="0"/>
          </a:p>
          <a:p>
            <a:pPr eaLnBrk="0" hangingPunct="0"/>
            <a:r>
              <a:rPr lang="en-US" sz="2000" dirty="0" smtClean="0"/>
              <a:t>Insert:</a:t>
            </a:r>
            <a:endParaRPr lang="en-US" sz="2000" dirty="0"/>
          </a:p>
          <a:p>
            <a:pPr marL="457200" indent="-457200" eaLnBrk="0" hangingPunct="0">
              <a:buAutoNum type="arabicPlain" startAt="76"/>
            </a:pPr>
            <a:r>
              <a:rPr lang="en-US" sz="2000" dirty="0" smtClean="0"/>
              <a:t>                (76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pPr marL="457200" indent="-457200">
              <a:buAutoNum type="arabicPlain" startAt="40"/>
            </a:pPr>
            <a:r>
              <a:rPr lang="en-US" sz="2000" dirty="0" smtClean="0"/>
              <a:t>                (40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pPr marL="457200" indent="-457200"/>
            <a:r>
              <a:rPr lang="en-US" sz="2000" dirty="0" smtClean="0"/>
              <a:t>48                   (48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5                     (  5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r>
              <a:rPr lang="en-US" sz="2000" dirty="0" smtClean="0"/>
              <a:t>55                   (55 </a:t>
            </a:r>
            <a:r>
              <a:rPr lang="en-US" sz="2000" dirty="0"/>
              <a:t>% 7 </a:t>
            </a:r>
            <a:r>
              <a:rPr lang="en-US" sz="2000" dirty="0" smtClean="0"/>
              <a:t>= 6)</a:t>
            </a:r>
            <a:endParaRPr lang="en-US" sz="2000" dirty="0"/>
          </a:p>
          <a:p>
            <a:r>
              <a:rPr lang="en-US" sz="2000" dirty="0" smtClean="0"/>
              <a:t>47                   (47 </a:t>
            </a:r>
            <a:r>
              <a:rPr lang="en-US" sz="2000" dirty="0"/>
              <a:t>% 7 </a:t>
            </a:r>
            <a:r>
              <a:rPr lang="en-US" sz="2000" dirty="0" smtClean="0"/>
              <a:t>= 5)</a:t>
            </a:r>
            <a:endParaRPr lang="en-US" sz="2000" dirty="0"/>
          </a:p>
          <a:p>
            <a:endParaRPr lang="en-US" sz="2000" dirty="0"/>
          </a:p>
          <a:p>
            <a:pPr eaLnBrk="0" hangingPunct="0"/>
            <a:endParaRPr lang="en-US" sz="2000" dirty="0"/>
          </a:p>
        </p:txBody>
      </p:sp>
      <p:graphicFrame>
        <p:nvGraphicFramePr>
          <p:cNvPr id="11" name="Group 6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19200" y="1981200"/>
          <a:ext cx="1600200" cy="2773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19200" y="5029200"/>
            <a:ext cx="75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err="1" smtClean="0">
                <a:solidFill>
                  <a:srgbClr val="C00000"/>
                </a:solidFill>
                <a:latin typeface="+mn-lt"/>
              </a:rPr>
              <a:t>Doh</a:t>
            </a:r>
            <a:r>
              <a:rPr lang="en-US" sz="2000" b="0" dirty="0" smtClean="0">
                <a:solidFill>
                  <a:srgbClr val="C00000"/>
                </a:solidFill>
                <a:latin typeface="+mn-lt"/>
              </a:rPr>
              <a:t>!: For all </a:t>
            </a:r>
            <a:r>
              <a:rPr lang="en-US" sz="2000" b="0" i="1" dirty="0" smtClean="0">
                <a:solidFill>
                  <a:srgbClr val="C00000"/>
                </a:solidFill>
                <a:latin typeface="+mn-lt"/>
              </a:rPr>
              <a:t>n</a:t>
            </a:r>
            <a:r>
              <a:rPr lang="en-US" sz="2000" b="0" dirty="0" smtClean="0">
                <a:solidFill>
                  <a:srgbClr val="C00000"/>
                </a:solidFill>
                <a:latin typeface="+mn-lt"/>
              </a:rPr>
              <a:t>, 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((n*n) +5) % 7 is 0, 2, 5, or 6</a:t>
            </a:r>
          </a:p>
          <a:p>
            <a:pPr>
              <a:buFont typeface="Arial" pitchFamily="34" charset="0"/>
              <a:buChar char="•"/>
            </a:pPr>
            <a:r>
              <a:rPr lang="en-US" sz="2000" b="0" dirty="0" smtClean="0">
                <a:latin typeface="+mn-lt"/>
              </a:rPr>
              <a:t>  Excel shows takes “at least” 50 probes and a pattern</a:t>
            </a:r>
          </a:p>
          <a:p>
            <a:pPr>
              <a:buFont typeface="Arial" pitchFamily="34" charset="0"/>
              <a:buChar char="•"/>
            </a:pPr>
            <a:r>
              <a:rPr lang="en-US" sz="2000" b="0" dirty="0" smtClean="0">
                <a:latin typeface="+mn-lt"/>
              </a:rPr>
              <a:t>  Proof (like induction) using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(n</a:t>
            </a:r>
            <a:r>
              <a:rPr lang="en-US" sz="2000" baseline="30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+5) % 7 = ((n-7)</a:t>
            </a:r>
            <a:r>
              <a:rPr lang="en-US" sz="2000" baseline="30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+5) % 7</a:t>
            </a:r>
          </a:p>
          <a:p>
            <a:pPr lvl="1">
              <a:buFont typeface="Arial" pitchFamily="34" charset="0"/>
              <a:buChar char="•"/>
            </a:pPr>
            <a:r>
              <a:rPr lang="en-US" sz="2000" b="0" dirty="0" smtClean="0">
                <a:latin typeface="+mn-lt"/>
              </a:rPr>
              <a:t>  In fact, for all </a:t>
            </a:r>
            <a:r>
              <a:rPr lang="en-US" sz="2000" b="0" i="1" dirty="0" smtClean="0">
                <a:latin typeface="+mn-lt"/>
              </a:rPr>
              <a:t>c</a:t>
            </a:r>
            <a:r>
              <a:rPr lang="en-US" sz="2000" b="0" dirty="0" smtClean="0">
                <a:latin typeface="+mn-lt"/>
              </a:rPr>
              <a:t> and </a:t>
            </a:r>
            <a:r>
              <a:rPr lang="en-US" sz="2000" b="0" i="1" dirty="0" smtClean="0">
                <a:latin typeface="+mn-lt"/>
              </a:rPr>
              <a:t>k</a:t>
            </a:r>
            <a:r>
              <a:rPr lang="en-US" sz="2000" b="0" dirty="0" smtClean="0">
                <a:latin typeface="+mn-lt"/>
              </a:rPr>
              <a:t>,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(n</a:t>
            </a:r>
            <a:r>
              <a:rPr lang="en-US" sz="2000" baseline="30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+c) % k = ((n-k)</a:t>
            </a:r>
            <a:r>
              <a:rPr lang="en-US" sz="2000" baseline="30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+c) % k</a:t>
            </a:r>
          </a:p>
        </p:txBody>
      </p:sp>
    </p:spTree>
    <p:extLst>
      <p:ext uri="{BB962C8B-B14F-4D97-AF65-F5344CB8AC3E}">
        <p14:creationId xmlns:p14="http://schemas.microsoft.com/office/powerpoint/2010/main" val="3840612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Bad News to Good News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001000" cy="4724400"/>
          </a:xfrm>
        </p:spPr>
        <p:txBody>
          <a:bodyPr/>
          <a:lstStyle/>
          <a:p>
            <a:r>
              <a:rPr lang="en-US" dirty="0" smtClean="0"/>
              <a:t>Bad news: </a:t>
            </a:r>
          </a:p>
          <a:p>
            <a:pPr lvl="1"/>
            <a:r>
              <a:rPr lang="en-US" dirty="0" smtClean="0"/>
              <a:t>Quadratic probing can cycle through the same full indices, never terminating despite table not being full</a:t>
            </a:r>
          </a:p>
          <a:p>
            <a:pPr marL="0" indent="0">
              <a:buNone/>
            </a:pPr>
            <a:endParaRPr lang="en-US" sz="1000" dirty="0" smtClean="0"/>
          </a:p>
          <a:p>
            <a:r>
              <a:rPr lang="en-US" dirty="0" smtClean="0"/>
              <a:t>Good news: 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If 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 smtClean="0">
                <a:solidFill>
                  <a:schemeClr val="accent2"/>
                </a:solidFill>
              </a:rPr>
              <a:t> is </a:t>
            </a:r>
            <a:r>
              <a:rPr lang="en-US" i="1" dirty="0" smtClean="0">
                <a:solidFill>
                  <a:schemeClr val="accent2"/>
                </a:solidFill>
              </a:rPr>
              <a:t>prime</a:t>
            </a:r>
            <a:r>
              <a:rPr lang="en-US" dirty="0" smtClean="0">
                <a:solidFill>
                  <a:schemeClr val="accent2"/>
                </a:solidFill>
              </a:rPr>
              <a:t> and </a:t>
            </a:r>
            <a:r>
              <a:rPr lang="en-US" dirty="0" smtClean="0">
                <a:solidFill>
                  <a:schemeClr val="accent2"/>
                </a:solidFill>
                <a:sym typeface="Symbol" pitchFamily="18" charset="2"/>
              </a:rPr>
              <a:t> </a:t>
            </a:r>
            <a:r>
              <a:rPr lang="en-US" dirty="0" smtClean="0">
                <a:solidFill>
                  <a:schemeClr val="accent2"/>
                </a:solidFill>
              </a:rPr>
              <a:t>&lt; ½</a:t>
            </a:r>
            <a:r>
              <a:rPr lang="en-US" dirty="0" smtClean="0"/>
              <a:t>, then quadratic probing will find an empty slot in at most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/2 </a:t>
            </a:r>
            <a:r>
              <a:rPr lang="en-US" dirty="0" smtClean="0"/>
              <a:t>probes</a:t>
            </a:r>
          </a:p>
          <a:p>
            <a:pPr lvl="1"/>
            <a:r>
              <a:rPr lang="en-US" dirty="0" smtClean="0">
                <a:sym typeface="Symbol" pitchFamily="18" charset="2"/>
              </a:rPr>
              <a:t>So</a:t>
            </a:r>
            <a:r>
              <a:rPr lang="en-US" dirty="0">
                <a:sym typeface="Symbol" pitchFamily="18" charset="2"/>
              </a:rPr>
              <a:t>: If you keep  </a:t>
            </a:r>
            <a:r>
              <a:rPr lang="en-US" dirty="0"/>
              <a:t>&lt; </a:t>
            </a:r>
            <a:r>
              <a:rPr lang="en-US" dirty="0" smtClean="0"/>
              <a:t>½ and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TableSize</a:t>
            </a:r>
            <a:r>
              <a:rPr lang="en-US" dirty="0"/>
              <a:t> is </a:t>
            </a:r>
            <a:r>
              <a:rPr lang="en-US" i="1" dirty="0"/>
              <a:t>prime</a:t>
            </a:r>
            <a:r>
              <a:rPr lang="en-US" dirty="0" smtClean="0"/>
              <a:t>, </a:t>
            </a:r>
            <a:r>
              <a:rPr lang="en-US" dirty="0"/>
              <a:t>no need to detect cycles</a:t>
            </a:r>
            <a:endParaRPr lang="en-US" dirty="0">
              <a:sym typeface="Symbol" pitchFamily="18" charset="2"/>
            </a:endParaRPr>
          </a:p>
          <a:p>
            <a:pPr marL="457200" lvl="1" indent="0">
              <a:buNone/>
            </a:pPr>
            <a:endParaRPr lang="en-US" sz="1000" dirty="0" smtClean="0"/>
          </a:p>
          <a:p>
            <a:pPr lvl="1"/>
            <a:r>
              <a:rPr lang="en-US" dirty="0" smtClean="0"/>
              <a:t>Optional: Proof is posted in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lecture13.txt</a:t>
            </a:r>
          </a:p>
          <a:p>
            <a:pPr lvl="2"/>
            <a:r>
              <a:rPr lang="en-US" dirty="0" smtClean="0">
                <a:latin typeface="+mj-lt"/>
                <a:cs typeface="Courier New" pitchFamily="49" charset="0"/>
              </a:rPr>
              <a:t>Also, slightly less detailed proof in textbook</a:t>
            </a:r>
          </a:p>
          <a:p>
            <a:pPr lvl="2"/>
            <a:r>
              <a:rPr lang="en-US" dirty="0" smtClean="0"/>
              <a:t>Key fact: For prime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dirty="0" smtClean="0"/>
              <a:t> and </a:t>
            </a:r>
            <a:r>
              <a:rPr lang="en-US" b="1" dirty="0" smtClean="0">
                <a:latin typeface="Courier New" pitchFamily="49" charset="0"/>
                <a:sym typeface="Bookshelf Symbol 2" pitchFamily="2" charset="2"/>
              </a:rPr>
              <a:t>0 </a:t>
            </a:r>
            <a:r>
              <a:rPr lang="en-US" b="1" dirty="0" smtClean="0">
                <a:latin typeface="Courier New" pitchFamily="49" charset="0"/>
                <a:sym typeface="Symbol" pitchFamily="18" charset="2"/>
              </a:rPr>
              <a:t>&lt; </a:t>
            </a:r>
            <a:r>
              <a:rPr lang="en-US" b="1" dirty="0" err="1" smtClean="0">
                <a:latin typeface="Courier New" pitchFamily="49" charset="0"/>
                <a:sym typeface="Symbol" pitchFamily="18" charset="2"/>
              </a:rPr>
              <a:t>i,j</a:t>
            </a:r>
            <a:r>
              <a:rPr lang="en-US" b="1" dirty="0" smtClean="0">
                <a:latin typeface="Courier New" pitchFamily="49" charset="0"/>
                <a:sym typeface="Symbol" pitchFamily="18" charset="2"/>
              </a:rPr>
              <a:t> &lt; T/2</a:t>
            </a:r>
            <a:r>
              <a:rPr lang="en-US" dirty="0" smtClean="0">
                <a:sym typeface="Symbol" pitchFamily="18" charset="2"/>
              </a:rPr>
              <a:t> where </a:t>
            </a:r>
            <a:r>
              <a:rPr lang="en-US" b="1" dirty="0" err="1" smtClean="0">
                <a:latin typeface="Courier New" pitchFamily="49" charset="0"/>
                <a:sym typeface="Symbol" pitchFamily="18" charset="2"/>
              </a:rPr>
              <a:t>i</a:t>
            </a:r>
            <a:r>
              <a:rPr lang="en-US" b="1" dirty="0" smtClean="0">
                <a:latin typeface="Courier New" pitchFamily="49" charset="0"/>
                <a:sym typeface="Symbol" pitchFamily="18" charset="2"/>
              </a:rPr>
              <a:t>  j</a:t>
            </a:r>
            <a:r>
              <a:rPr lang="en-US" b="1" dirty="0" smtClean="0">
                <a:sym typeface="Symbol" pitchFamily="18" charset="2"/>
              </a:rPr>
              <a:t>,</a:t>
            </a:r>
            <a:endParaRPr lang="en-US" dirty="0" smtClean="0">
              <a:sym typeface="Bookshelf Symbol 2" pitchFamily="2" charset="2"/>
            </a:endParaRPr>
          </a:p>
          <a:p>
            <a:pPr lvl="1">
              <a:buNone/>
            </a:pPr>
            <a:r>
              <a:rPr lang="en-US" b="1" dirty="0" smtClean="0">
                <a:latin typeface="Courier New" pitchFamily="49" charset="0"/>
                <a:sym typeface="Symbol" pitchFamily="18" charset="2"/>
              </a:rPr>
              <a:t> 		</a:t>
            </a:r>
            <a:r>
              <a:rPr lang="en-US" b="1" dirty="0" smtClean="0">
                <a:latin typeface="Courier New" pitchFamily="49" charset="0"/>
                <a:sym typeface="Bookshelf Symbol 2" pitchFamily="2" charset="2"/>
              </a:rPr>
              <a:t> (k + i</a:t>
            </a:r>
            <a:r>
              <a:rPr lang="en-US" b="1" baseline="30000" dirty="0" smtClean="0">
                <a:latin typeface="Courier New" pitchFamily="49" charset="0"/>
                <a:sym typeface="Bookshelf Symbol 2" pitchFamily="2" charset="2"/>
              </a:rPr>
              <a:t>2</a:t>
            </a:r>
            <a:r>
              <a:rPr lang="en-US" b="1" dirty="0" smtClean="0">
                <a:latin typeface="Courier New" pitchFamily="49" charset="0"/>
                <a:sym typeface="Bookshelf Symbol 2" pitchFamily="2" charset="2"/>
              </a:rPr>
              <a:t>) % </a:t>
            </a:r>
            <a:r>
              <a:rPr lang="en-US" b="1" dirty="0" smtClean="0">
                <a:latin typeface="Courier New" pitchFamily="49" charset="0"/>
                <a:sym typeface="Symbol" pitchFamily="18" charset="2"/>
              </a:rPr>
              <a:t>T</a:t>
            </a:r>
            <a:r>
              <a:rPr lang="en-US" b="1" dirty="0" smtClean="0">
                <a:latin typeface="Courier New" pitchFamily="49" charset="0"/>
                <a:sym typeface="Bookshelf Symbol 2" pitchFamily="2" charset="2"/>
              </a:rPr>
              <a:t> </a:t>
            </a:r>
            <a:r>
              <a:rPr lang="en-US" b="1" dirty="0" smtClean="0">
                <a:latin typeface="Courier New" pitchFamily="49" charset="0"/>
                <a:sym typeface="Symbol" pitchFamily="18" charset="2"/>
              </a:rPr>
              <a:t> (k + j</a:t>
            </a:r>
            <a:r>
              <a:rPr lang="en-US" b="1" baseline="30000" dirty="0" smtClean="0">
                <a:latin typeface="Courier New" pitchFamily="49" charset="0"/>
                <a:sym typeface="Symbol" pitchFamily="18" charset="2"/>
              </a:rPr>
              <a:t>2</a:t>
            </a:r>
            <a:r>
              <a:rPr lang="en-US" b="1" dirty="0" smtClean="0">
                <a:latin typeface="Courier New" pitchFamily="49" charset="0"/>
                <a:sym typeface="Symbol" pitchFamily="18" charset="2"/>
              </a:rPr>
              <a:t>) % T </a:t>
            </a:r>
            <a:r>
              <a:rPr lang="en-US" dirty="0" smtClean="0">
                <a:latin typeface="+mj-lt"/>
                <a:sym typeface="Symbol" pitchFamily="18" charset="2"/>
              </a:rPr>
              <a:t>(i.e., no index repeat)</a:t>
            </a:r>
          </a:p>
          <a:p>
            <a:pPr marL="457200" lvl="1" indent="0">
              <a:buNone/>
            </a:pPr>
            <a:endParaRPr lang="en-US" sz="1000" dirty="0" smtClean="0">
              <a:latin typeface="+mj-lt"/>
              <a:sym typeface="Symbol" pitchFamily="18" charset="2"/>
            </a:endParaRPr>
          </a:p>
          <a:p>
            <a:pPr lvl="1"/>
            <a:endParaRPr lang="en-US" sz="1000" dirty="0" smtClean="0">
              <a:latin typeface="+mj-lt"/>
              <a:sym typeface="Symbol" pitchFamily="18" charset="2"/>
            </a:endParaRP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C106A-32CD-4664-8666-58B9407DBBEC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626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reconsidered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Quadratic probing does not suffer from primary clustering:       no problem with keys initially hashing to the same neighborhood</a:t>
            </a:r>
          </a:p>
          <a:p>
            <a:endParaRPr lang="en-US" dirty="0" smtClean="0"/>
          </a:p>
          <a:p>
            <a:r>
              <a:rPr lang="en-US" dirty="0" smtClean="0"/>
              <a:t>But it’s no help if keys initially hash to the same index</a:t>
            </a:r>
          </a:p>
          <a:p>
            <a:pPr lvl="1"/>
            <a:r>
              <a:rPr lang="en-US" dirty="0" smtClean="0"/>
              <a:t>Called </a:t>
            </a:r>
            <a:r>
              <a:rPr lang="en-US" dirty="0" smtClean="0">
                <a:solidFill>
                  <a:schemeClr val="accent2"/>
                </a:solidFill>
              </a:rPr>
              <a:t>secondary clustering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Can avoid secondary clustering with a probe function that depends on the key: </a:t>
            </a:r>
            <a:r>
              <a:rPr lang="en-US" dirty="0" smtClean="0">
                <a:solidFill>
                  <a:schemeClr val="accent2"/>
                </a:solidFill>
              </a:rPr>
              <a:t>double hashing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4222-60E7-460A-B5A0-BE5A693CBBDB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2259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 hashing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724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Idea: </a:t>
            </a:r>
          </a:p>
          <a:p>
            <a:pPr lvl="1"/>
            <a:r>
              <a:rPr lang="en-US" dirty="0" smtClean="0"/>
              <a:t>Given two good hash functions </a:t>
            </a:r>
            <a:r>
              <a:rPr lang="en-US" i="1" dirty="0" smtClean="0"/>
              <a:t>h</a:t>
            </a:r>
            <a:r>
              <a:rPr lang="en-US" dirty="0" smtClean="0"/>
              <a:t> and </a:t>
            </a:r>
            <a:r>
              <a:rPr lang="en-US" i="1" dirty="0" smtClean="0"/>
              <a:t>g</a:t>
            </a:r>
            <a:r>
              <a:rPr lang="en-US" dirty="0" smtClean="0"/>
              <a:t>, it is very unlikely that for some </a:t>
            </a:r>
            <a:r>
              <a:rPr lang="en-US" i="1" dirty="0" smtClean="0"/>
              <a:t>key</a:t>
            </a:r>
            <a:r>
              <a:rPr lang="en-US" dirty="0" smtClean="0"/>
              <a:t>,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 == g(key)</a:t>
            </a:r>
          </a:p>
          <a:p>
            <a:pPr lvl="1"/>
            <a:r>
              <a:rPr lang="en-US" dirty="0" smtClean="0"/>
              <a:t>So make the probe function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*g(key)</a:t>
            </a:r>
          </a:p>
          <a:p>
            <a:pPr lvl="1"/>
            <a:endParaRPr lang="en-US" sz="1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+mj-lt"/>
                <a:cs typeface="Courier New" pitchFamily="49" charset="0"/>
              </a:rPr>
              <a:t>Probe sequence:</a:t>
            </a:r>
          </a:p>
          <a:p>
            <a:pPr lvl="2"/>
            <a:r>
              <a:rPr lang="en-US" dirty="0" smtClean="0"/>
              <a:t>0</a:t>
            </a:r>
            <a:r>
              <a:rPr lang="en-US" baseline="30000" dirty="0" smtClean="0"/>
              <a:t>th</a:t>
            </a:r>
            <a:r>
              <a:rPr lang="en-US" dirty="0" smtClean="0"/>
              <a:t> probe: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probe: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g(key))  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probe: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+ 2*g(key))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probe: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(h(key) + 3*g(key)) %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…</a:t>
            </a:r>
          </a:p>
          <a:p>
            <a:pPr lvl="2"/>
            <a:r>
              <a:rPr lang="en-US" dirty="0" err="1" smtClean="0">
                <a:solidFill>
                  <a:schemeClr val="accent2"/>
                </a:solidFill>
              </a:rPr>
              <a:t>i</a:t>
            </a:r>
            <a:r>
              <a:rPr lang="en-US" baseline="30000" dirty="0" err="1" smtClean="0">
                <a:solidFill>
                  <a:schemeClr val="accent2"/>
                </a:solidFill>
              </a:rPr>
              <a:t>th</a:t>
            </a:r>
            <a:r>
              <a:rPr lang="en-US" dirty="0" smtClean="0">
                <a:solidFill>
                  <a:schemeClr val="accent2"/>
                </a:solidFill>
              </a:rPr>
              <a:t> probe: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(h(key) + 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*g(key))</a:t>
            </a:r>
            <a:r>
              <a:rPr lang="en-US" b="1" baseline="30000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% </a:t>
            </a:r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 smtClean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000" dirty="0" smtClean="0">
              <a:latin typeface="+mj-lt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+mj-lt"/>
                <a:cs typeface="Courier New" pitchFamily="49" charset="0"/>
              </a:rPr>
              <a:t>Detail: Make sure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g(key)</a:t>
            </a:r>
            <a:r>
              <a:rPr lang="en-US" dirty="0" smtClean="0">
                <a:latin typeface="+mj-lt"/>
                <a:cs typeface="Courier New" pitchFamily="49" charset="0"/>
              </a:rPr>
              <a:t> cannot be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0</a:t>
            </a:r>
          </a:p>
          <a:p>
            <a:pPr>
              <a:buNone/>
            </a:pPr>
            <a:endParaRPr lang="en-US" dirty="0" smtClean="0">
              <a:latin typeface="+mj-lt"/>
              <a:cs typeface="Courier New" pitchFamily="49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DBB-4E83-4DEA-8ED5-C8A48435CF8B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750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Double-hashing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Intuition: Because each probe is “jumping” by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g(key)</a:t>
            </a:r>
            <a:r>
              <a:rPr lang="en-US" dirty="0" smtClean="0"/>
              <a:t> each time, we “leave the neighborhood” </a:t>
            </a:r>
            <a:r>
              <a:rPr lang="en-US" i="1" dirty="0" smtClean="0"/>
              <a:t>and</a:t>
            </a:r>
            <a:r>
              <a:rPr lang="en-US" dirty="0" smtClean="0"/>
              <a:t> “go different places from other initial collisions”</a:t>
            </a:r>
          </a:p>
          <a:p>
            <a:endParaRPr lang="en-US" dirty="0" smtClean="0"/>
          </a:p>
          <a:p>
            <a:r>
              <a:rPr lang="en-US" dirty="0" smtClean="0"/>
              <a:t>But we could still have a problem like in quadratic probing where we are not “safe” (infinite loop despite room in table)</a:t>
            </a:r>
          </a:p>
          <a:p>
            <a:pPr lvl="1"/>
            <a:r>
              <a:rPr lang="en-US" dirty="0" smtClean="0"/>
              <a:t>It is known that this cannot happen in at least one case:</a:t>
            </a:r>
          </a:p>
          <a:p>
            <a:pPr lvl="2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h(key) = key % p</a:t>
            </a:r>
          </a:p>
          <a:p>
            <a:pPr lvl="2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g(key) = q – (key % q)</a:t>
            </a:r>
          </a:p>
          <a:p>
            <a:pPr lvl="2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2 &lt; q &lt; p</a:t>
            </a:r>
          </a:p>
          <a:p>
            <a:pPr lvl="2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dirty="0" smtClean="0"/>
              <a:t> and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q</a:t>
            </a:r>
            <a:r>
              <a:rPr lang="en-US" dirty="0" smtClean="0"/>
              <a:t> are prime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F609-206D-4681-92F1-22C28284C52E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878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double-hashing facts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724400"/>
          </a:xfrm>
        </p:spPr>
        <p:txBody>
          <a:bodyPr/>
          <a:lstStyle/>
          <a:p>
            <a:r>
              <a:rPr lang="en-US" dirty="0" smtClean="0"/>
              <a:t>Assume “uniform hashing” </a:t>
            </a:r>
          </a:p>
          <a:p>
            <a:pPr lvl="1"/>
            <a:r>
              <a:rPr lang="en-US" dirty="0" smtClean="0"/>
              <a:t>Means probability of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g(key1) % p == g(key2) % p </a:t>
            </a:r>
            <a:r>
              <a:rPr lang="en-US" dirty="0" smtClean="0"/>
              <a:t>is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1/p</a:t>
            </a:r>
          </a:p>
          <a:p>
            <a:pPr lvl="1"/>
            <a:endParaRPr lang="en-US" sz="1000" dirty="0" smtClean="0"/>
          </a:p>
          <a:p>
            <a:r>
              <a:rPr lang="en-US" dirty="0" smtClean="0">
                <a:sym typeface="Symbol" pitchFamily="18" charset="2"/>
              </a:rPr>
              <a:t>Non-trivial facts we won’t prove: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Average # of probes given </a:t>
            </a:r>
            <a:r>
              <a:rPr lang="en-US" b="1" i="1" dirty="0" smtClean="0">
                <a:sym typeface="Symbol" pitchFamily="18" charset="2"/>
              </a:rPr>
              <a:t> </a:t>
            </a:r>
            <a:r>
              <a:rPr lang="en-US" dirty="0" smtClean="0">
                <a:sym typeface="Symbol" pitchFamily="18" charset="2"/>
              </a:rPr>
              <a:t>(in the limit as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  <a:sym typeface="Symbol" pitchFamily="18" charset="2"/>
              </a:rPr>
              <a:t>TableSize</a:t>
            </a:r>
            <a:r>
              <a:rPr lang="en-US" b="1" i="1" dirty="0" smtClean="0">
                <a:sym typeface="Symbol" pitchFamily="18" charset="2"/>
              </a:rPr>
              <a:t> →</a:t>
            </a:r>
            <a:r>
              <a:rPr lang="en-US" b="1" i="1" dirty="0" smtClean="0">
                <a:sym typeface="Symbol"/>
              </a:rPr>
              <a:t></a:t>
            </a:r>
            <a:r>
              <a:rPr lang="en-US" dirty="0" smtClean="0">
                <a:sym typeface="Symbol" pitchFamily="18" charset="2"/>
              </a:rPr>
              <a:t> )</a:t>
            </a:r>
            <a:endParaRPr lang="en-US" b="1" dirty="0" smtClean="0">
              <a:sym typeface="Symbol" pitchFamily="18" charset="2"/>
            </a:endParaRPr>
          </a:p>
          <a:p>
            <a:pPr lvl="1"/>
            <a:r>
              <a:rPr lang="en-US" dirty="0" smtClean="0">
                <a:sym typeface="Symbol" pitchFamily="18" charset="2"/>
              </a:rPr>
              <a:t>Unsuccessful search (intuitive):</a:t>
            </a:r>
          </a:p>
          <a:p>
            <a:pPr lvl="1"/>
            <a:endParaRPr lang="en-US" dirty="0" smtClean="0">
              <a:sym typeface="Symbol" pitchFamily="18" charset="2"/>
            </a:endParaRPr>
          </a:p>
          <a:p>
            <a:pPr lvl="1"/>
            <a:endParaRPr lang="en-US" dirty="0" smtClean="0">
              <a:sym typeface="Symbol" pitchFamily="18" charset="2"/>
            </a:endParaRPr>
          </a:p>
          <a:p>
            <a:pPr lvl="1"/>
            <a:r>
              <a:rPr lang="en-US" dirty="0" smtClean="0">
                <a:sym typeface="Symbol" pitchFamily="18" charset="2"/>
              </a:rPr>
              <a:t>Successful search (less intuitive):</a:t>
            </a:r>
          </a:p>
          <a:p>
            <a:pPr lvl="1"/>
            <a:endParaRPr lang="en-US" dirty="0" smtClean="0">
              <a:sym typeface="Symbol" pitchFamily="18" charset="2"/>
            </a:endParaRPr>
          </a:p>
          <a:p>
            <a:pPr lvl="1"/>
            <a:endParaRPr lang="en-US" sz="10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Bottom line: unsuccessful bad (but not as bad as </a:t>
            </a:r>
            <a:r>
              <a:rPr lang="en-US" dirty="0" smtClean="0"/>
              <a:t>linear probing), but successful is not nearly as bad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986A-121F-4F4E-9919-4289711A2EC0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68</a:t>
            </a:fld>
            <a:endParaRPr lang="en-US"/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486400" y="3429000"/>
          <a:ext cx="7985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Equation" r:id="rId6" imgW="342720" imgH="393480" progId="">
                  <p:embed/>
                </p:oleObj>
              </mc:Choice>
              <mc:Fallback>
                <p:oleObj name="Equation" r:id="rId6" imgW="342720" imgH="393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429000"/>
                        <a:ext cx="79851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5486400" y="4572000"/>
          <a:ext cx="1865313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3" name="Equation" r:id="rId8" imgW="901440" imgH="431640" progId="">
                  <p:embed/>
                </p:oleObj>
              </mc:Choice>
              <mc:Fallback>
                <p:oleObj name="Equation" r:id="rId8" imgW="901440" imgH="4316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572000"/>
                        <a:ext cx="1865313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52916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EC9D6-2BD4-41A4-8EBE-2593749C39F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69</a:t>
            </a:fld>
            <a:endParaRPr lang="en-US"/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7108126"/>
              </p:ext>
            </p:extLst>
          </p:nvPr>
        </p:nvGraphicFramePr>
        <p:xfrm>
          <a:off x="4546272" y="3683000"/>
          <a:ext cx="4597728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3565728"/>
              </p:ext>
            </p:extLst>
          </p:nvPr>
        </p:nvGraphicFramePr>
        <p:xfrm>
          <a:off x="76200" y="3683000"/>
          <a:ext cx="487680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5238738"/>
              </p:ext>
            </p:extLst>
          </p:nvPr>
        </p:nvGraphicFramePr>
        <p:xfrm>
          <a:off x="4495800" y="1143000"/>
          <a:ext cx="4800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6438674"/>
              </p:ext>
            </p:extLst>
          </p:nvPr>
        </p:nvGraphicFramePr>
        <p:xfrm>
          <a:off x="76200" y="1143000"/>
          <a:ext cx="4495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297116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Rehashing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924800" cy="4953000"/>
          </a:xfrm>
        </p:spPr>
        <p:txBody>
          <a:bodyPr/>
          <a:lstStyle/>
          <a:p>
            <a:r>
              <a:rPr lang="en-US" dirty="0" smtClean="0"/>
              <a:t>As with array-based stacks/queues/lists, if table gets too full, create a bigger table and copy everything</a:t>
            </a:r>
          </a:p>
          <a:p>
            <a:endParaRPr lang="en-US" sz="1000" dirty="0" smtClean="0"/>
          </a:p>
          <a:p>
            <a:r>
              <a:rPr lang="en-US" dirty="0" smtClean="0"/>
              <a:t>With chaining, we get to decide what “too full” means</a:t>
            </a:r>
          </a:p>
          <a:p>
            <a:pPr lvl="1"/>
            <a:r>
              <a:rPr lang="en-US" dirty="0" smtClean="0"/>
              <a:t>Keep load factor reasonable (e.g., &lt; 1)?</a:t>
            </a:r>
          </a:p>
          <a:p>
            <a:pPr lvl="1"/>
            <a:r>
              <a:rPr lang="en-US" dirty="0" smtClean="0"/>
              <a:t>Consider average or max size of non-empty chains?</a:t>
            </a:r>
          </a:p>
          <a:p>
            <a:endParaRPr lang="en-US" dirty="0" smtClean="0"/>
          </a:p>
          <a:p>
            <a:r>
              <a:rPr lang="en-US" dirty="0" smtClean="0"/>
              <a:t>For probing, half-full is a good rule of thumb</a:t>
            </a:r>
          </a:p>
          <a:p>
            <a:pPr marL="457200" lvl="1" indent="0">
              <a:buNone/>
            </a:pPr>
            <a:endParaRPr lang="en-US" sz="1000" dirty="0" smtClean="0"/>
          </a:p>
          <a:p>
            <a:pPr marL="457200" lvl="1" indent="0">
              <a:buNone/>
            </a:pPr>
            <a:endParaRPr lang="en-US" sz="1000" dirty="0" smtClean="0"/>
          </a:p>
          <a:p>
            <a:r>
              <a:rPr lang="en-US" dirty="0" smtClean="0"/>
              <a:t>New table size</a:t>
            </a:r>
          </a:p>
          <a:p>
            <a:pPr lvl="1"/>
            <a:r>
              <a:rPr lang="en-US" dirty="0" smtClean="0"/>
              <a:t>Twice-as-big is a good idea, except that won’t be prime!</a:t>
            </a:r>
          </a:p>
          <a:p>
            <a:pPr lvl="1"/>
            <a:r>
              <a:rPr lang="en-US" dirty="0" smtClean="0"/>
              <a:t>So go </a:t>
            </a:r>
            <a:r>
              <a:rPr lang="en-US" i="1" dirty="0" smtClean="0"/>
              <a:t>about</a:t>
            </a:r>
            <a:r>
              <a:rPr lang="en-US" dirty="0" smtClean="0"/>
              <a:t> twice-as-big </a:t>
            </a:r>
          </a:p>
          <a:p>
            <a:pPr lvl="1"/>
            <a:r>
              <a:rPr lang="en-US" dirty="0" smtClean="0"/>
              <a:t>Can have a list of prime numbers in your code since you won’t grow more than 20-30 times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939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71</a:t>
            </a:fld>
            <a:endParaRPr lang="en-US"/>
          </a:p>
        </p:txBody>
      </p:sp>
      <p:pic>
        <p:nvPicPr>
          <p:cNvPr id="8194" name="Picture 2" descr="https://courses.cs.washington.edu/courses/cse326/00wi/handouts/lecture16/img003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3283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72</a:t>
            </a:fld>
            <a:endParaRPr lang="en-US"/>
          </a:p>
        </p:txBody>
      </p:sp>
      <p:pic>
        <p:nvPicPr>
          <p:cNvPr id="9218" name="Picture 2" descr="https://courses.cs.washington.edu/courses/cse326/00wi/handouts/lecture16/img00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0665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73</a:t>
            </a:fld>
            <a:endParaRPr lang="en-US"/>
          </a:p>
        </p:txBody>
      </p:sp>
      <p:pic>
        <p:nvPicPr>
          <p:cNvPr id="10242" name="Picture 2" descr="https://courses.cs.washington.edu/courses/cse326/00wi/handouts/lecture16/img00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49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74</a:t>
            </a:fld>
            <a:endParaRPr lang="en-US"/>
          </a:p>
        </p:txBody>
      </p:sp>
      <p:pic>
        <p:nvPicPr>
          <p:cNvPr id="11266" name="Picture 2" descr="https://courses.cs.washington.edu/courses/cse326/00wi/handouts/lecture16/img00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096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49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75</a:t>
            </a:fld>
            <a:endParaRPr lang="en-US"/>
          </a:p>
        </p:txBody>
      </p:sp>
      <p:pic>
        <p:nvPicPr>
          <p:cNvPr id="12290" name="Picture 2" descr="https://courses.cs.washington.edu/courses/cse326/00wi/handouts/lecture16/img009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024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76</a:t>
            </a:fld>
            <a:endParaRPr lang="en-US"/>
          </a:p>
        </p:txBody>
      </p:sp>
      <p:pic>
        <p:nvPicPr>
          <p:cNvPr id="13314" name="Picture 2" descr="https://courses.cs.washington.edu/courses/cse326/00wi/handouts/lecture16/img01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10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024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77</a:t>
            </a:fld>
            <a:endParaRPr lang="en-US"/>
          </a:p>
        </p:txBody>
      </p:sp>
      <p:pic>
        <p:nvPicPr>
          <p:cNvPr id="14338" name="Picture 2" descr="https://courses.cs.washington.edu/courses/cse326/00wi/handouts/lecture16/img01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024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78</a:t>
            </a:fld>
            <a:endParaRPr lang="en-US"/>
          </a:p>
        </p:txBody>
      </p:sp>
      <p:pic>
        <p:nvPicPr>
          <p:cNvPr id="15362" name="Picture 2" descr="https://courses.cs.washington.edu/courses/cse326/00wi/handouts/lecture16/img013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024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79</a:t>
            </a:fld>
            <a:endParaRPr lang="en-US"/>
          </a:p>
        </p:txBody>
      </p:sp>
      <p:pic>
        <p:nvPicPr>
          <p:cNvPr id="16386" name="Picture 2" descr="https://courses.cs.washington.edu/courses/cse326/00wi/handouts/lecture16/img01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91562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024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80</a:t>
            </a:fld>
            <a:endParaRPr lang="en-US"/>
          </a:p>
        </p:txBody>
      </p:sp>
      <p:pic>
        <p:nvPicPr>
          <p:cNvPr id="17410" name="Picture 2" descr="https://courses.cs.washington.edu/courses/cse326/00wi/handouts/lecture16/img01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024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81</a:t>
            </a:fld>
            <a:endParaRPr lang="en-US"/>
          </a:p>
        </p:txBody>
      </p:sp>
      <p:pic>
        <p:nvPicPr>
          <p:cNvPr id="18434" name="Picture 2" descr="https://courses.cs.washington.edu/courses/cse326/00wi/handouts/lecture16/img016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49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82</a:t>
            </a:fld>
            <a:endParaRPr lang="en-US"/>
          </a:p>
        </p:txBody>
      </p:sp>
      <p:pic>
        <p:nvPicPr>
          <p:cNvPr id="19458" name="Picture 2" descr="https://courses.cs.washington.edu/courses/cse326/00wi/handouts/lecture16/img017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49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83</a:t>
            </a:fld>
            <a:endParaRPr lang="en-US"/>
          </a:p>
        </p:txBody>
      </p:sp>
      <p:pic>
        <p:nvPicPr>
          <p:cNvPr id="20482" name="Picture 2" descr="https://courses.cs.washington.edu/courses/cse326/00wi/handouts/lecture16/img01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49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84</a:t>
            </a:fld>
            <a:endParaRPr lang="en-US"/>
          </a:p>
        </p:txBody>
      </p:sp>
      <p:pic>
        <p:nvPicPr>
          <p:cNvPr id="21506" name="Picture 2" descr="https://courses.cs.washington.edu/courses/cse326/00wi/handouts/lecture16/img019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096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49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85</a:t>
            </a:fld>
            <a:endParaRPr lang="en-US"/>
          </a:p>
        </p:txBody>
      </p:sp>
      <p:pic>
        <p:nvPicPr>
          <p:cNvPr id="22530" name="Picture 2" descr="https://courses.cs.washington.edu/courses/cse326/00wi/handouts/lecture16/img02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96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49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86</a:t>
            </a:fld>
            <a:endParaRPr lang="en-US"/>
          </a:p>
        </p:txBody>
      </p:sp>
      <p:pic>
        <p:nvPicPr>
          <p:cNvPr id="23554" name="Picture 2" descr="https://courses.cs.washington.edu/courses/cse326/00wi/handouts/lecture16/img02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49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87</a:t>
            </a:fld>
            <a:endParaRPr lang="en-US"/>
          </a:p>
        </p:txBody>
      </p:sp>
      <p:pic>
        <p:nvPicPr>
          <p:cNvPr id="24578" name="Picture 2" descr="https://courses.cs.washington.edu/courses/cse326/00wi/handouts/lecture16/img023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452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88</a:t>
            </a:fld>
            <a:endParaRPr lang="en-US"/>
          </a:p>
        </p:txBody>
      </p:sp>
      <p:pic>
        <p:nvPicPr>
          <p:cNvPr id="25602" name="Picture 2" descr="https://courses.cs.washington.edu/courses/cse326/00wi/handouts/lecture16/img02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55141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452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89</a:t>
            </a:fld>
            <a:endParaRPr lang="en-US"/>
          </a:p>
        </p:txBody>
      </p:sp>
      <p:pic>
        <p:nvPicPr>
          <p:cNvPr id="26626" name="Picture 2" descr="https://courses.cs.washington.edu/courses/cse326/00wi/handouts/lecture16/img02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452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90</a:t>
            </a:fld>
            <a:endParaRPr lang="en-US"/>
          </a:p>
        </p:txBody>
      </p:sp>
      <p:pic>
        <p:nvPicPr>
          <p:cNvPr id="27650" name="Picture 2" descr="https://courses.cs.washington.edu/courses/cse326/00wi/handouts/lecture16/img026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72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452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8320-9103-49E1-BE0F-2B5FFF67D212}" type="datetime1">
              <a:rPr lang="en-US" smtClean="0"/>
              <a:t>2/22/2017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91</a:t>
            </a:fld>
            <a:endParaRPr lang="en-US"/>
          </a:p>
        </p:txBody>
      </p:sp>
      <p:pic>
        <p:nvPicPr>
          <p:cNvPr id="28674" name="Picture 2" descr="https://courses.cs.washington.edu/courses/cse326/00wi/handouts/lecture16/img029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452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Hashed Files</a:t>
            </a:r>
          </a:p>
        </p:txBody>
      </p:sp>
      <p:sp>
        <p:nvSpPr>
          <p:cNvPr id="70451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Hashing for disk files is called </a:t>
            </a:r>
            <a:r>
              <a:rPr lang="en-US" altLang="en-US" sz="2000" b="1" dirty="0"/>
              <a:t>External Hashing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The file blocks are divided into M equal-sized </a:t>
            </a:r>
            <a:r>
              <a:rPr lang="en-US" altLang="en-US" sz="2000" b="1" dirty="0"/>
              <a:t>buckets</a:t>
            </a:r>
            <a:r>
              <a:rPr lang="en-US" altLang="en-US" sz="2000" dirty="0"/>
              <a:t>, numbered bucket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, bucket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..., bucket</a:t>
            </a:r>
            <a:r>
              <a:rPr lang="en-US" altLang="en-US" sz="2000" baseline="-25000" dirty="0"/>
              <a:t>M-1</a:t>
            </a:r>
            <a:r>
              <a:rPr lang="en-US" alt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Typically, a bucket corresponds to one (or a fixed number of) disk block.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One of the file fields is designated to be the </a:t>
            </a:r>
            <a:r>
              <a:rPr lang="en-US" altLang="en-US" sz="2000" b="1" dirty="0"/>
              <a:t>hash key</a:t>
            </a:r>
            <a:r>
              <a:rPr lang="en-US" altLang="en-US" sz="2000" dirty="0"/>
              <a:t> of the file.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The record with hash key value K is stored in bucket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, where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=h(K), and h is the </a:t>
            </a:r>
            <a:r>
              <a:rPr lang="en-US" altLang="en-US" sz="2000" b="1" dirty="0"/>
              <a:t>hashing function</a:t>
            </a:r>
            <a:r>
              <a:rPr lang="en-US" altLang="en-US" sz="2000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Search is very efficient on the hash key.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Collisions occur when a new record hashes to a bucket that is already full.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An overflow file is kept for storing such records.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Overflow records that hash to each bucket can be linked together. </a:t>
            </a:r>
          </a:p>
        </p:txBody>
      </p:sp>
    </p:spTree>
    <p:extLst>
      <p:ext uri="{BB962C8B-B14F-4D97-AF65-F5344CB8AC3E}">
        <p14:creationId xmlns:p14="http://schemas.microsoft.com/office/powerpoint/2010/main" val="34676475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Hashed Files (cont.)</a:t>
            </a:r>
          </a:p>
        </p:txBody>
      </p:sp>
      <p:sp>
        <p:nvSpPr>
          <p:cNvPr id="70656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/>
              <a:t>There are numerous methods for collision resolution, including the following:</a:t>
            </a:r>
          </a:p>
          <a:p>
            <a:pPr lvl="1">
              <a:lnSpc>
                <a:spcPct val="80000"/>
              </a:lnSpc>
            </a:pPr>
            <a:r>
              <a:rPr lang="en-US" altLang="en-US" sz="2000" b="1"/>
              <a:t>Open addressing</a:t>
            </a:r>
            <a:r>
              <a:rPr lang="en-US" altLang="en-US" sz="2000"/>
              <a:t>: Proceeding from the occupied position specified by the hash address, the program checks the subsequent positions in order until an unused (empty) position is found. </a:t>
            </a:r>
          </a:p>
          <a:p>
            <a:pPr lvl="1">
              <a:lnSpc>
                <a:spcPct val="80000"/>
              </a:lnSpc>
            </a:pPr>
            <a:r>
              <a:rPr lang="en-US" altLang="en-US" sz="2000" b="1"/>
              <a:t>Chaining</a:t>
            </a:r>
            <a:r>
              <a:rPr lang="en-US" altLang="en-US" sz="2000"/>
              <a:t>: For this method, various overflow locations are kept, usually by extending the array with a number of overflow positions. In addition, a pointer field is added to each record location. A collision is resolved by placing the new record in an unused overflow location and setting the pointer of the occupied hash address location to the address of that overflow location. </a:t>
            </a:r>
          </a:p>
          <a:p>
            <a:pPr lvl="1">
              <a:lnSpc>
                <a:spcPct val="80000"/>
              </a:lnSpc>
            </a:pPr>
            <a:r>
              <a:rPr lang="en-US" altLang="en-US" sz="2000" b="1"/>
              <a:t>Multiple hashing</a:t>
            </a:r>
            <a:r>
              <a:rPr lang="en-US" altLang="en-US" sz="2000"/>
              <a:t>: The program applies a second hash function if the first results in a collision. If another collision results, the program uses open addressing or applies a third hash function and then uses open addressing if necessary.</a:t>
            </a:r>
          </a:p>
        </p:txBody>
      </p:sp>
    </p:spTree>
    <p:extLst>
      <p:ext uri="{BB962C8B-B14F-4D97-AF65-F5344CB8AC3E}">
        <p14:creationId xmlns:p14="http://schemas.microsoft.com/office/powerpoint/2010/main" val="23844005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5" name="Rectangle 7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7796213" cy="687387"/>
          </a:xfrm>
        </p:spPr>
        <p:txBody>
          <a:bodyPr/>
          <a:lstStyle/>
          <a:p>
            <a:r>
              <a:rPr lang="en-US" altLang="en-US"/>
              <a:t>Hashed Files (cont.)</a:t>
            </a:r>
          </a:p>
        </p:txBody>
      </p:sp>
      <p:pic>
        <p:nvPicPr>
          <p:cNvPr id="708619" name="Picture 11" descr="Pink tissue pap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8839200" cy="402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00056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6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Hashed Files (cont.)</a:t>
            </a:r>
          </a:p>
        </p:txBody>
      </p:sp>
      <p:sp>
        <p:nvSpPr>
          <p:cNvPr id="71066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To reduce overflow records, a hash file is typically kept 70-80% full.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hash function h should distribute the records uniformly among the buckets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Otherwise, search time will be increased because many overflow records will exist.</a:t>
            </a:r>
          </a:p>
          <a:p>
            <a:pPr>
              <a:lnSpc>
                <a:spcPct val="90000"/>
              </a:lnSpc>
            </a:pPr>
            <a:r>
              <a:rPr lang="en-US" altLang="en-US"/>
              <a:t>Main disadvantages of static external hashing: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Fixed number of buckets M is a problem if the number of records in the file grows or shrinks.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Ordered access on the hash key is quite inefficient (requires  sorting the records).</a:t>
            </a:r>
          </a:p>
        </p:txBody>
      </p:sp>
    </p:spTree>
    <p:extLst>
      <p:ext uri="{BB962C8B-B14F-4D97-AF65-F5344CB8AC3E}">
        <p14:creationId xmlns:p14="http://schemas.microsoft.com/office/powerpoint/2010/main" val="27430355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11" name="Rectangle 7"/>
          <p:cNvSpPr>
            <a:spLocks noGrp="1" noChangeArrowheads="1"/>
          </p:cNvSpPr>
          <p:nvPr>
            <p:ph type="title"/>
          </p:nvPr>
        </p:nvSpPr>
        <p:spPr>
          <a:xfrm>
            <a:off x="128588" y="0"/>
            <a:ext cx="7796212" cy="685800"/>
          </a:xfrm>
        </p:spPr>
        <p:txBody>
          <a:bodyPr/>
          <a:lstStyle/>
          <a:p>
            <a:r>
              <a:rPr lang="en-US" altLang="en-US"/>
              <a:t>Hashed Files - Overflow Handling</a:t>
            </a:r>
          </a:p>
        </p:txBody>
      </p:sp>
      <p:pic>
        <p:nvPicPr>
          <p:cNvPr id="712714" name="Picture 10" descr="Pink tissue pap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74688"/>
            <a:ext cx="6858000" cy="585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22940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Dynamic And Extendible Hashed Files</a:t>
            </a:r>
          </a:p>
        </p:txBody>
      </p:sp>
      <p:sp>
        <p:nvSpPr>
          <p:cNvPr id="71475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Dynamic and Extendible Hashing Techniques</a:t>
            </a:r>
          </a:p>
          <a:p>
            <a:pPr lvl="1"/>
            <a:r>
              <a:rPr lang="en-US" altLang="en-US" sz="2200"/>
              <a:t>Hashing techniques are adapted to allow the dynamic growth and shrinking of the number of file records.</a:t>
            </a:r>
          </a:p>
          <a:p>
            <a:pPr lvl="1"/>
            <a:r>
              <a:rPr lang="en-US" altLang="en-US" sz="2200"/>
              <a:t>These techniques include the following:</a:t>
            </a:r>
            <a:r>
              <a:rPr lang="en-US" altLang="en-US" sz="2200" b="1"/>
              <a:t> dynamic hashing, extendible hashing</a:t>
            </a:r>
            <a:r>
              <a:rPr lang="en-US" altLang="en-US" sz="2200"/>
              <a:t>, and</a:t>
            </a:r>
            <a:r>
              <a:rPr lang="en-US" altLang="en-US" sz="2200" b="1"/>
              <a:t> linear hashing.</a:t>
            </a:r>
          </a:p>
          <a:p>
            <a:r>
              <a:rPr lang="en-US" altLang="en-US" sz="2400"/>
              <a:t>Both dynamic and extendible hashing use the </a:t>
            </a:r>
            <a:r>
              <a:rPr lang="en-US" altLang="en-US" sz="2400" b="1"/>
              <a:t>binary representation</a:t>
            </a:r>
            <a:r>
              <a:rPr lang="en-US" altLang="en-US" sz="2400"/>
              <a:t> of the hash value h(K) in order to access a </a:t>
            </a:r>
            <a:r>
              <a:rPr lang="en-US" altLang="en-US" sz="2400" b="1"/>
              <a:t>directory</a:t>
            </a:r>
            <a:r>
              <a:rPr lang="en-US" altLang="en-US" sz="2400"/>
              <a:t>.</a:t>
            </a:r>
          </a:p>
          <a:p>
            <a:pPr lvl="1"/>
            <a:r>
              <a:rPr lang="en-US" altLang="en-US" sz="2200"/>
              <a:t>In dynamic hashing the directory is a binary tree.</a:t>
            </a:r>
          </a:p>
          <a:p>
            <a:pPr lvl="1"/>
            <a:r>
              <a:rPr lang="en-US" altLang="en-US" sz="2200"/>
              <a:t>In extendible hashing the directory is an array of size 2</a:t>
            </a:r>
            <a:r>
              <a:rPr lang="en-US" altLang="en-US" sz="2200" baseline="30000"/>
              <a:t>d</a:t>
            </a:r>
            <a:r>
              <a:rPr lang="en-US" altLang="en-US" sz="2200"/>
              <a:t> where d is called the </a:t>
            </a:r>
            <a:r>
              <a:rPr lang="en-US" altLang="en-US" sz="2200" b="1"/>
              <a:t>global depth</a:t>
            </a:r>
            <a:r>
              <a:rPr lang="en-US" altLang="en-US" sz="220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361552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Dynamic And Extendible Hashing (cont.)</a:t>
            </a:r>
          </a:p>
        </p:txBody>
      </p:sp>
      <p:sp>
        <p:nvSpPr>
          <p:cNvPr id="71680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The directories can be stored on disk, and they expand or shrink dynamically.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Directory entries point to the disk blocks that contain the stored records.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An insertion in a disk block that is full causes the block to split into two blocks and the records are redistributed among the two blocks.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The directory is updated appropriately.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Dynamic and extendible hashing do not require an overflow area. 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Linear hashing does require an overflow area but does not use a directory.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Blocks are split in </a:t>
            </a:r>
            <a:r>
              <a:rPr lang="en-US" altLang="en-US" sz="2200" i="1"/>
              <a:t>linear order</a:t>
            </a:r>
            <a:r>
              <a:rPr lang="en-US" altLang="en-US" sz="2200"/>
              <a:t> as the file expands.</a:t>
            </a:r>
          </a:p>
        </p:txBody>
      </p:sp>
    </p:spTree>
    <p:extLst>
      <p:ext uri="{BB962C8B-B14F-4D97-AF65-F5344CB8AC3E}">
        <p14:creationId xmlns:p14="http://schemas.microsoft.com/office/powerpoint/2010/main" val="20232052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5" name="Rectangle 7"/>
          <p:cNvSpPr>
            <a:spLocks noGrp="1" noChangeArrowheads="1"/>
          </p:cNvSpPr>
          <p:nvPr>
            <p:ph type="title"/>
          </p:nvPr>
        </p:nvSpPr>
        <p:spPr>
          <a:xfrm>
            <a:off x="139700" y="152400"/>
            <a:ext cx="2146300" cy="1143000"/>
          </a:xfrm>
        </p:spPr>
        <p:txBody>
          <a:bodyPr/>
          <a:lstStyle/>
          <a:p>
            <a:r>
              <a:rPr lang="en-US" altLang="en-US" sz="3200"/>
              <a:t>Extendible Hashing</a:t>
            </a:r>
          </a:p>
        </p:txBody>
      </p:sp>
      <p:pic>
        <p:nvPicPr>
          <p:cNvPr id="718858" name="Picture 10" descr="Pink tissue pap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00" y="0"/>
            <a:ext cx="6486525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20780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dan_design_template">
  <a:themeElements>
    <a:clrScheme name="dan_design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n_design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000" b="0" dirty="0" err="1" smtClean="0">
            <a:latin typeface="+mn-lt"/>
          </a:defRPr>
        </a:defPPr>
      </a:lstStyle>
    </a:txDef>
  </a:objectDefaults>
  <a:extraClrSchemeLst>
    <a:extraClrScheme>
      <a:clrScheme name="dan_desig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_desig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32207</TotalTime>
  <Words>5044</Words>
  <Application>Microsoft Office PowerPoint</Application>
  <PresentationFormat>On-screen Show (4:3)</PresentationFormat>
  <Paragraphs>1613</Paragraphs>
  <Slides>99</Slides>
  <Notes>97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7" baseType="lpstr">
      <vt:lpstr>Arial</vt:lpstr>
      <vt:lpstr>Bookshelf Symbol 2</vt:lpstr>
      <vt:lpstr>Courier New</vt:lpstr>
      <vt:lpstr>Symbol</vt:lpstr>
      <vt:lpstr>Times New Roman</vt:lpstr>
      <vt:lpstr>Wingdings</vt:lpstr>
      <vt:lpstr>dan_design_template</vt:lpstr>
      <vt:lpstr>Equation</vt:lpstr>
      <vt:lpstr>Motivating Hash Tables</vt:lpstr>
      <vt:lpstr>Hash Tables</vt:lpstr>
      <vt:lpstr>Hash Tables vs. Balanced Trees</vt:lpstr>
      <vt:lpstr>Hash Tables</vt:lpstr>
      <vt:lpstr>Hash functions</vt:lpstr>
      <vt:lpstr>Who hashes what?</vt:lpstr>
      <vt:lpstr>More on roles</vt:lpstr>
      <vt:lpstr>What to hash?</vt:lpstr>
      <vt:lpstr>Hashing integers</vt:lpstr>
      <vt:lpstr>Hashing integers</vt:lpstr>
      <vt:lpstr>Hashing integers</vt:lpstr>
      <vt:lpstr>Hashing integers</vt:lpstr>
      <vt:lpstr>Hashing integers</vt:lpstr>
      <vt:lpstr>Hashing integers</vt:lpstr>
      <vt:lpstr>Collision-avoidance</vt:lpstr>
      <vt:lpstr>More on prime table size</vt:lpstr>
      <vt:lpstr>Okay, back to the client</vt:lpstr>
      <vt:lpstr>Specializing hash functions</vt:lpstr>
      <vt:lpstr>Combining hash functions</vt:lpstr>
      <vt:lpstr>One expert suggestion</vt:lpstr>
      <vt:lpstr>Hashing and comparing</vt:lpstr>
      <vt:lpstr>Equal Objects Must Hash the Same</vt:lpstr>
      <vt:lpstr>By the way: comparison has rules too</vt:lpstr>
      <vt:lpstr>Example</vt:lpstr>
      <vt:lpstr>Tougher example</vt:lpstr>
      <vt:lpstr>Conclusions and notes on hashing</vt:lpstr>
      <vt:lpstr>Collision resolution</vt:lpstr>
      <vt:lpstr>Separate Chaining</vt:lpstr>
      <vt:lpstr>Separate Chaining</vt:lpstr>
      <vt:lpstr>Separate Chaining</vt:lpstr>
      <vt:lpstr>Separate Chaining</vt:lpstr>
      <vt:lpstr>Separate Chaining</vt:lpstr>
      <vt:lpstr>Separate Chaining</vt:lpstr>
      <vt:lpstr>Thoughts on chaining</vt:lpstr>
      <vt:lpstr>Time vs. space (constant factors only here)</vt:lpstr>
      <vt:lpstr>More rigorous chaining analysis</vt:lpstr>
      <vt:lpstr>More rigorous chaining analysis</vt:lpstr>
      <vt:lpstr>More rigorous chaining analysis</vt:lpstr>
      <vt:lpstr>More rigorous chaining analysis</vt:lpstr>
      <vt:lpstr>Alternative: Use empty space in the table</vt:lpstr>
      <vt:lpstr>Alternative: Use empty space in the table</vt:lpstr>
      <vt:lpstr>Alternative: Use empty space in the table</vt:lpstr>
      <vt:lpstr>Alternative: Use empty space in the table</vt:lpstr>
      <vt:lpstr>Alternative: Use empty space in the table</vt:lpstr>
      <vt:lpstr>Probing hash tables</vt:lpstr>
      <vt:lpstr>Other operations</vt:lpstr>
      <vt:lpstr>(Primary) Clustering</vt:lpstr>
      <vt:lpstr>Analysis of Linear Probing</vt:lpstr>
      <vt:lpstr>In a chart</vt:lpstr>
      <vt:lpstr>Quadratic probing</vt:lpstr>
      <vt:lpstr>Quadratic Probing Example</vt:lpstr>
      <vt:lpstr>Quadratic Probing Example</vt:lpstr>
      <vt:lpstr>Quadratic Probing Example</vt:lpstr>
      <vt:lpstr>Quadratic Probing Example</vt:lpstr>
      <vt:lpstr>Quadratic Probing Example</vt:lpstr>
      <vt:lpstr>Quadratic Probing Example</vt:lpstr>
      <vt:lpstr>Another Quadratic Probing Example</vt:lpstr>
      <vt:lpstr>Another Quadratic Probing Example</vt:lpstr>
      <vt:lpstr>Another Quadratic Probing Example</vt:lpstr>
      <vt:lpstr>Another Quadratic Probing Example</vt:lpstr>
      <vt:lpstr>Another Quadratic Probing Example</vt:lpstr>
      <vt:lpstr>Another Quadratic Probing Example</vt:lpstr>
      <vt:lpstr>Another Quadratic Probing Example</vt:lpstr>
      <vt:lpstr>From Bad News to Good News</vt:lpstr>
      <vt:lpstr>Clustering reconsidered</vt:lpstr>
      <vt:lpstr>Double hashing</vt:lpstr>
      <vt:lpstr>Double-hashing analysis</vt:lpstr>
      <vt:lpstr>More double-hashing facts</vt:lpstr>
      <vt:lpstr>Charts</vt:lpstr>
      <vt:lpstr>Rehashing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Hashed Files</vt:lpstr>
      <vt:lpstr>Hashed Files (cont.)</vt:lpstr>
      <vt:lpstr>Hashed Files (cont.)</vt:lpstr>
      <vt:lpstr>Hashed Files (cont.)</vt:lpstr>
      <vt:lpstr>Hashed Files - Overflow Handling</vt:lpstr>
      <vt:lpstr>Dynamic And Extendible Hashed Files</vt:lpstr>
      <vt:lpstr>Dynamic And Extendible Hashing (cont.)</vt:lpstr>
      <vt:lpstr>Extendible Hashing</vt:lpstr>
    </vt:vector>
  </TitlesOfParts>
  <Company>UW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Languages &amp;  Software Engineering</dc:title>
  <dc:creator>Dan Grossman</dc:creator>
  <cp:lastModifiedBy>cslabtech</cp:lastModifiedBy>
  <cp:revision>1399</cp:revision>
  <dcterms:created xsi:type="dcterms:W3CDTF">2009-03-13T20:43:19Z</dcterms:created>
  <dcterms:modified xsi:type="dcterms:W3CDTF">2017-02-22T21:22:23Z</dcterms:modified>
</cp:coreProperties>
</file>